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Direct claim to open with: your compiler could be lying to you right now, and you would have no way to know from reading source code alone. That's Ken Thompson's 1984 'Trusting Trust' result. My project builds a real, working version of that attack in C++, builds the accepted defense against it, breaks that defense on purpose, fixes it, and adds an original detection method with a formal proof behind it. Everything I show today was actually run -- I can demo any part of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core idea, plainly stated. If source code looks clean, we assume the compiled program behaves the same way. Thompson showed that's not guaranteed -- a compiler can insert logic invisibly, and can even reinfect itself forever. Two gaps motivated this project: the attack is famous but rarely built end to end, and the standard defense is often cited but rarely tested against a real self-replicating backdoor built by the same person presenting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concrete goals. The first three build the attack: a real compiler, targeted injection, and a working C++ quine -- a program that prints its own source, surprisingly hard in C++ because of string literal escaping. The fourth combines those into genuine self-replication. The fifth builds the defense. The sixth, highlighted in red, is where the project becomes original -- I'll spend the most time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attack was first flagged in 1974 in a US Air Force security review, then made famous by Thompson's 1984 lecture -- one of the most cited papers in computer science. It's conceptual, no runnable code. Wheeler proposed the fix in 2005, formalized it with a full proof in his 2009 dissertation. The mechanism: build the compiler two independent ways, then use both results to compile the source again -- if honest, they must match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teacher asked for a broader literature review, so this slide surveys 24 real, citable papers spanning 1974 to 2026, not just four headline ones. Left column: the foundational attack lineage plus formal verification and metamorphic testing research, since that technique matters later in my own contribution. Right column: supply-chain security, reproducible builds, and very recent 2024 to 2026 extensions, including the real xz-utils incident and two papers from this year extending trusting-trust to AI coding agents. I'm not claiming equal depth on all 24 -- these are the sources I surveyed to confirm where the real gap is, stated precisely in the red bar at the bottom. Happy to go deeper on any one of them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Walking the kill chain left to right. Phase 1: a genuinely working compiler, verified byte-identical across three runs. Phase 2: a harmless, clearly labeled marker injected into one function only. Phase 3: the C++ quine. Phase 4, in red, is the centerpiece -- I combined injection and the quine so the compiler reinfects its own source. The terminal output at the bottom is real: I committed clean source to git, ran the infected compiler against it, and the marker came back even though the committed source had zero trace of it. Confirmed stable across three generations. Phase 5, in green: the defense, with a real alert on the infected build and a real pass on two clean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project goes beyond reproducing known ideas. Left side: the actual terminal output from a real two-round arms race. Round 1: I built a compiler that detects the standard test file and hides its infection only then -- and it genuinely fooled the original defense, shown by that SUCCESS line even though the compiler is infected. Round 2: randomizing the test input restores detection without ever needing to know how the evasion worked. The ensemble on the right combines seven checks. I found two real bugs while building it, by attacking it with my own strongest evasion, and fixed the actual structural cause, not just the symptom.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precise about where this score comes from -- a number means nothing without evidence. The base attack and defense are not novel, full credit to Thompson and Wheeler; alone this would score a 1 or 2. What earns the rest is this six-step chain: I confirmed the gap by searching, not assuming; combined metamorphic testing with trusting-trust detection, a combination I could not find published; fully implemented and verified it; proved it formally against my own real code; the proof's prediction matched when I reran the tool; and I state the limitations as precisely as the claims. Next slide shows the actual receipts.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actual substance behind the score. The synthesis: two metamorphic relations built from TinyLang's own grammar, needing no reference compiler at all. The proof: a real theorem, stated and proved by direct substitution, grounded in the actual lexer and codegen source, not hand-waving. The classification is the sharpest part: the proof splits backdoors into two provably distinct classes, and shows no single reference-free method can cover both -- that's the argument for why an ensemble is necessary, not just convenient. And the receipts on the right are real terminal output: the proof predicted exactly which compiler would trigger a violation and which wouldn't, and re-running the tool matched the prediction exactly, both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honest balance sheet, not a pitch. On advantages: every payload is deliberately harmless, and every claim has a corresponding test run behind it, including the two bugs I found and fixed. On disadvantages: the base ideas aren't mine, my detector has a proven blind spot, TinyLang is a toy language, and I only modeled two arms-race rounds. I'd rather surface these now than have them come up cold in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trusting a compiler is not automatic just because you've read the source it was built from. This project makes that concrete rather than theoretical -- built the lie, built the defense, broke it, fixed it, and proved a new detection method on top. All code, test logs, and the formal writeup are available, and I'm glad to run any part of this live.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0" y="6419088"/>
            <a:ext cx="12188952" cy="0"/>
          </a:xfrm>
          <a:prstGeom prst="line">
            <a:avLst/>
          </a:prstGeom>
          <a:noFill/>
          <a:ln w="12700">
            <a:solidFill>
              <a:srgbClr val="2A2A30"/>
            </a:solidFill>
            <a:prstDash val="solid"/>
          </a:ln>
        </p:spPr>
      </p:sp>
      <p:sp>
        <p:nvSpPr>
          <p:cNvPr id="3" name="Text 1"/>
          <p:cNvSpPr txBox="1"/>
          <p:nvPr/>
        </p:nvSpPr>
        <p:spPr>
          <a:xfrm>
            <a:off x="457200" y="6492240"/>
            <a:ext cx="3657600" cy="256032"/>
          </a:xfrm>
          <a:prstGeom prst="rect">
            <a:avLst/>
          </a:prstGeom>
          <a:noFill/>
          <a:ln/>
        </p:spPr>
        <p:txBody>
          <a:bodyPr wrap="square" lIns="0" tIns="0" rIns="0" bIns="0" rtlCol="0" anchor="ctr"/>
          <a:lstStyle/>
          <a:p>
            <a:pPr indent="0" marL="0">
              <a:buNone/>
            </a:pPr>
            <a:r>
              <a:rPr lang="en-US" sz="850" dirty="0">
                <a:solidFill>
                  <a:srgbClr val="5C6066"/>
                </a:solidFill>
                <a:latin typeface="Consolas" pitchFamily="34" charset="0"/>
                <a:ea typeface="Consolas" pitchFamily="34" charset="-122"/>
                <a:cs typeface="Consolas" pitchFamily="34" charset="-120"/>
              </a:rPr>
              <a:t>root@ttrevisited:~$</a:t>
            </a:r>
            <a:endParaRPr lang="en-US" sz="850" dirty="0"/>
          </a:p>
        </p:txBody>
      </p:sp>
      <p:sp>
        <p:nvSpPr>
          <p:cNvPr id="4" name="Text 2"/>
          <p:cNvSpPr txBox="1"/>
          <p:nvPr/>
        </p:nvSpPr>
        <p:spPr>
          <a:xfrm>
            <a:off x="10424160" y="6492240"/>
            <a:ext cx="1371600" cy="256032"/>
          </a:xfrm>
          <a:prstGeom prst="rect">
            <a:avLst/>
          </a:prstGeom>
          <a:noFill/>
          <a:ln/>
        </p:spPr>
        <p:txBody>
          <a:bodyPr wrap="square" lIns="0" tIns="0" rIns="0" bIns="0" rtlCol="0" anchor="ctr"/>
          <a:lstStyle/>
          <a:p>
            <a:pPr algn="r" indent="0" marL="0">
              <a:buNone/>
            </a:pPr>
            <a:r>
              <a:rPr lang="en-US" sz="900" b="1" dirty="0">
                <a:solidFill>
                  <a:srgbClr val="9AA0A6"/>
                </a:solidFill>
                <a:latin typeface="Consolas" pitchFamily="34" charset="0"/>
                <a:ea typeface="Consolas" pitchFamily="34" charset="-122"/>
                <a:cs typeface="Consolas" pitchFamily="34" charset="-120"/>
              </a:rPr>
              <a:t>[ 01 / 11 ]</a:t>
            </a:r>
            <a:endParaRPr lang="en-US" sz="900" dirty="0"/>
          </a:p>
        </p:txBody>
      </p:sp>
      <p:sp>
        <p:nvSpPr>
          <p:cNvPr id="5" name="Text 3"/>
          <p:cNvSpPr txBox="1"/>
          <p:nvPr/>
        </p:nvSpPr>
        <p:spPr>
          <a:xfrm>
            <a:off x="502920" y="502920"/>
            <a:ext cx="9144000" cy="320040"/>
          </a:xfrm>
          <a:prstGeom prst="rect">
            <a:avLst/>
          </a:prstGeom>
          <a:noFill/>
          <a:ln/>
        </p:spPr>
        <p:txBody>
          <a:bodyPr wrap="square" lIns="0" tIns="0" rIns="0" bIns="0" rtlCol="0" anchor="ctr"/>
          <a:lstStyle/>
          <a:p>
            <a:pPr indent="0" marL="0">
              <a:buNone/>
            </a:pPr>
            <a:r>
              <a:rPr lang="en-US" sz="1250" b="1" spc="100" kern="0" dirty="0">
                <a:solidFill>
                  <a:srgbClr val="FF3B30"/>
                </a:solidFill>
                <a:latin typeface="Consolas" pitchFamily="34" charset="0"/>
                <a:ea typeface="Consolas" pitchFamily="34" charset="-122"/>
                <a:cs typeface="Consolas" pitchFamily="34" charset="-120"/>
              </a:rPr>
              <a:t>RED TEAM: </a:t>
            </a:r>
            <a:pPr indent="0" marL="0">
              <a:buNone/>
            </a:pPr>
            <a:r>
              <a:rPr lang="en-US" sz="1250" b="1" spc="100" kern="0" dirty="0">
                <a:solidFill>
                  <a:srgbClr val="9AA0A6"/>
                </a:solidFill>
                <a:latin typeface="Consolas" pitchFamily="34" charset="0"/>
                <a:ea typeface="Consolas" pitchFamily="34" charset="-122"/>
                <a:cs typeface="Consolas" pitchFamily="34" charset="-120"/>
              </a:rPr>
              <a:t>COMPILER SUPPLY CHAIN</a:t>
            </a:r>
            <a:endParaRPr lang="en-US" sz="1250" dirty="0"/>
          </a:p>
        </p:txBody>
      </p:sp>
      <p:sp>
        <p:nvSpPr>
          <p:cNvPr id="6" name="Text 4"/>
          <p:cNvSpPr txBox="1"/>
          <p:nvPr/>
        </p:nvSpPr>
        <p:spPr>
          <a:xfrm>
            <a:off x="475488" y="1051560"/>
            <a:ext cx="10515600" cy="1828800"/>
          </a:xfrm>
          <a:prstGeom prst="rect">
            <a:avLst/>
          </a:prstGeom>
          <a:noFill/>
          <a:ln/>
        </p:spPr>
        <p:txBody>
          <a:bodyPr wrap="square" lIns="0" tIns="0" rIns="0" bIns="0" rtlCol="0" anchor="ctr"/>
          <a:lstStyle/>
          <a:p>
            <a:pPr indent="0" marL="0">
              <a:lnSpc>
                <a:spcPct val="98000"/>
              </a:lnSpc>
              <a:buNone/>
            </a:pPr>
            <a:r>
              <a:rPr lang="en-US" sz="5400" b="1" dirty="0">
                <a:solidFill>
                  <a:srgbClr val="F5F5F2"/>
                </a:solidFill>
                <a:latin typeface="Calibri" pitchFamily="34" charset="0"/>
                <a:ea typeface="Calibri" pitchFamily="34" charset="-122"/>
                <a:cs typeface="Calibri" pitchFamily="34" charset="-120"/>
              </a:rPr>
              <a:t>YOUR COMPILER IS</a:t>
            </a:r>
            <a:endParaRPr lang="en-US" sz="5400" dirty="0"/>
          </a:p>
          <a:p>
            <a:pPr indent="0" marL="0">
              <a:lnSpc>
                <a:spcPct val="98000"/>
              </a:lnSpc>
              <a:buNone/>
            </a:pPr>
            <a:r>
              <a:rPr lang="en-US" sz="5400" b="1" dirty="0">
                <a:solidFill>
                  <a:srgbClr val="F5F5F2"/>
                </a:solidFill>
                <a:latin typeface="Calibri" pitchFamily="34" charset="0"/>
                <a:ea typeface="Calibri" pitchFamily="34" charset="-122"/>
                <a:cs typeface="Calibri" pitchFamily="34" charset="-120"/>
              </a:rPr>
              <a:t>LYING TO YOU.</a:t>
            </a:r>
            <a:endParaRPr lang="en-US" sz="5400" dirty="0"/>
          </a:p>
        </p:txBody>
      </p:sp>
      <p:sp>
        <p:nvSpPr>
          <p:cNvPr id="7" name="Text 5"/>
          <p:cNvSpPr txBox="1"/>
          <p:nvPr/>
        </p:nvSpPr>
        <p:spPr>
          <a:xfrm>
            <a:off x="502920" y="3063240"/>
            <a:ext cx="9326880" cy="777240"/>
          </a:xfrm>
          <a:prstGeom prst="rect">
            <a:avLst/>
          </a:prstGeom>
          <a:noFill/>
          <a:ln/>
        </p:spPr>
        <p:txBody>
          <a:bodyPr wrap="square" lIns="0" tIns="0" rIns="0" bIns="0" rtlCol="0" anchor="ctr"/>
          <a:lstStyle/>
          <a:p>
            <a:pPr indent="0" marL="0">
              <a:lnSpc>
                <a:spcPct val="125000"/>
              </a:lnSpc>
              <a:buNone/>
            </a:pPr>
            <a:r>
              <a:rPr lang="en-US" sz="1450" b="1" dirty="0">
                <a:solidFill>
                  <a:srgbClr val="00D97E"/>
                </a:solidFill>
                <a:latin typeface="Calibri" pitchFamily="34" charset="0"/>
                <a:ea typeface="Calibri" pitchFamily="34" charset="-122"/>
                <a:cs typeface="Calibri" pitchFamily="34" charset="-120"/>
              </a:rPr>
              <a:t>Trusting Trust, Revisited</a:t>
            </a:r>
            <a:pPr indent="0" marL="0">
              <a:lnSpc>
                <a:spcPct val="125000"/>
              </a:lnSpc>
              <a:buNone/>
            </a:pPr>
            <a:r>
              <a:rPr lang="en-US" sz="1450" dirty="0">
                <a:solidFill>
                  <a:srgbClr val="9AA0A6"/>
                </a:solidFill>
                <a:latin typeface="Calibri" pitchFamily="34" charset="0"/>
                <a:ea typeface="Calibri" pitchFamily="34" charset="-122"/>
                <a:cs typeface="Calibri" pitchFamily="34" charset="-120"/>
              </a:rPr>
              <a:t>  —  a working self-replicating compiler backdoor, a working defense that catches it, and an original detection method with a formal proof.</a:t>
            </a:r>
            <a:endParaRPr lang="en-US" sz="1450" dirty="0"/>
          </a:p>
        </p:txBody>
      </p:sp>
      <p:sp>
        <p:nvSpPr>
          <p:cNvPr id="8" name="Shape 6"/>
          <p:cNvSpPr/>
          <p:nvPr/>
        </p:nvSpPr>
        <p:spPr>
          <a:xfrm>
            <a:off x="502920" y="4114800"/>
            <a:ext cx="7680960" cy="2011680"/>
          </a:xfrm>
          <a:prstGeom prst="rect">
            <a:avLst/>
          </a:prstGeom>
          <a:solidFill>
            <a:srgbClr val="000000"/>
          </a:solidFill>
          <a:ln w="12700">
            <a:solidFill>
              <a:srgbClr val="2A2A30"/>
            </a:solidFill>
            <a:prstDash val="solid"/>
          </a:ln>
        </p:spPr>
      </p:sp>
      <p:sp>
        <p:nvSpPr>
          <p:cNvPr id="9" name="Shape 7"/>
          <p:cNvSpPr/>
          <p:nvPr/>
        </p:nvSpPr>
        <p:spPr>
          <a:xfrm>
            <a:off x="502920" y="4114800"/>
            <a:ext cx="7680960" cy="292608"/>
          </a:xfrm>
          <a:prstGeom prst="rect">
            <a:avLst/>
          </a:prstGeom>
          <a:solidFill>
            <a:srgbClr val="17171B"/>
          </a:solidFill>
          <a:ln/>
        </p:spPr>
      </p:sp>
      <p:sp>
        <p:nvSpPr>
          <p:cNvPr id="10" name="Shape 8"/>
          <p:cNvSpPr/>
          <p:nvPr/>
        </p:nvSpPr>
        <p:spPr>
          <a:xfrm>
            <a:off x="630936" y="4215384"/>
            <a:ext cx="91440" cy="91440"/>
          </a:xfrm>
          <a:prstGeom prst="ellipse">
            <a:avLst/>
          </a:prstGeom>
          <a:solidFill>
            <a:srgbClr val="FF3B30"/>
          </a:solidFill>
          <a:ln/>
        </p:spPr>
      </p:sp>
      <p:sp>
        <p:nvSpPr>
          <p:cNvPr id="11" name="Shape 9"/>
          <p:cNvSpPr/>
          <p:nvPr/>
        </p:nvSpPr>
        <p:spPr>
          <a:xfrm>
            <a:off x="813816" y="4215384"/>
            <a:ext cx="91440" cy="91440"/>
          </a:xfrm>
          <a:prstGeom prst="ellipse">
            <a:avLst/>
          </a:prstGeom>
          <a:solidFill>
            <a:srgbClr val="FFB020"/>
          </a:solidFill>
          <a:ln/>
        </p:spPr>
      </p:sp>
      <p:sp>
        <p:nvSpPr>
          <p:cNvPr id="12" name="Shape 10"/>
          <p:cNvSpPr/>
          <p:nvPr/>
        </p:nvSpPr>
        <p:spPr>
          <a:xfrm>
            <a:off x="996696" y="4215384"/>
            <a:ext cx="91440" cy="91440"/>
          </a:xfrm>
          <a:prstGeom prst="ellipse">
            <a:avLst/>
          </a:prstGeom>
          <a:solidFill>
            <a:srgbClr val="00D97E"/>
          </a:solidFill>
          <a:ln/>
        </p:spPr>
      </p:sp>
      <p:sp>
        <p:nvSpPr>
          <p:cNvPr id="13" name="Text 11"/>
          <p:cNvSpPr txBox="1"/>
          <p:nvPr/>
        </p:nvSpPr>
        <p:spPr>
          <a:xfrm>
            <a:off x="1325880" y="4142232"/>
            <a:ext cx="6675120" cy="237744"/>
          </a:xfrm>
          <a:prstGeom prst="rect">
            <a:avLst/>
          </a:prstGeom>
          <a:noFill/>
          <a:ln/>
        </p:spPr>
        <p:txBody>
          <a:bodyPr wrap="square" lIns="0" tIns="0" rIns="0" bIns="0" rtlCol="0" anchor="ctr"/>
          <a:lstStyle/>
          <a:p>
            <a:pPr indent="0" marL="0">
              <a:buNone/>
            </a:pPr>
            <a:r>
              <a:rPr lang="en-US" sz="850" dirty="0">
                <a:solidFill>
                  <a:srgbClr val="5C6066"/>
                </a:solidFill>
                <a:latin typeface="Consolas" pitchFamily="34" charset="0"/>
                <a:ea typeface="Consolas" pitchFamily="34" charset="-122"/>
                <a:cs typeface="Consolas" pitchFamily="34" charset="-120"/>
              </a:rPr>
              <a:t>bash - 80x12</a:t>
            </a:r>
            <a:endParaRPr lang="en-US" sz="850" dirty="0"/>
          </a:p>
        </p:txBody>
      </p:sp>
      <p:sp>
        <p:nvSpPr>
          <p:cNvPr id="14" name="Text 12"/>
          <p:cNvSpPr txBox="1"/>
          <p:nvPr/>
        </p:nvSpPr>
        <p:spPr>
          <a:xfrm>
            <a:off x="722376" y="4517136"/>
            <a:ext cx="7242048" cy="1463040"/>
          </a:xfrm>
          <a:prstGeom prst="rect">
            <a:avLst/>
          </a:prstGeom>
          <a:noFill/>
          <a:ln/>
        </p:spPr>
        <p:txBody>
          <a:bodyPr wrap="square" lIns="0" tIns="0" rIns="0" bIns="0" rtlCol="0" anchor="t"/>
          <a:lstStyle/>
          <a:p>
            <a:pPr indent="0" marL="0">
              <a:lnSpc>
                <a:spcPct val="128000"/>
              </a:lnSpc>
              <a:buNone/>
            </a:pPr>
            <a:r>
              <a:rPr lang="en-US" sz="1030" dirty="0">
                <a:solidFill>
                  <a:srgbClr val="00D97E"/>
                </a:solidFill>
                <a:latin typeface="Consolas" pitchFamily="34" charset="0"/>
                <a:ea typeface="Consolas" pitchFamily="34" charset="-122"/>
                <a:cs typeface="Consolas" pitchFamily="34" charset="-120"/>
              </a:rPr>
              <a:t>$ whoami</a:t>
            </a:r>
            <a:endParaRPr lang="en-US" sz="1030" dirty="0"/>
          </a:p>
          <a:p>
            <a:pPr indent="0" marL="0">
              <a:lnSpc>
                <a:spcPct val="128000"/>
              </a:lnSpc>
              <a:buNone/>
            </a:pPr>
            <a:r>
              <a:rPr lang="en-US" sz="1030" dirty="0">
                <a:solidFill>
                  <a:srgbClr val="F5F5F2"/>
                </a:solidFill>
                <a:latin typeface="Consolas" pitchFamily="34" charset="0"/>
                <a:ea typeface="Consolas" pitchFamily="34" charset="-122"/>
                <a:cs typeface="Consolas" pitchFamily="34" charset="-120"/>
              </a:rPr>
              <a:t>compiler_security_project</a:t>
            </a:r>
            <a:endParaRPr lang="en-US" sz="1030" dirty="0"/>
          </a:p>
          <a:p>
            <a:pPr indent="0" marL="0">
              <a:lnSpc>
                <a:spcPct val="128000"/>
              </a:lnSpc>
              <a:buNone/>
            </a:pPr>
            <a:endParaRPr lang="en-US" sz="1030" dirty="0"/>
          </a:p>
          <a:p>
            <a:pPr indent="0" marL="0">
              <a:lnSpc>
                <a:spcPct val="128000"/>
              </a:lnSpc>
              <a:buNone/>
            </a:pPr>
            <a:r>
              <a:rPr lang="en-US" sz="1030" dirty="0">
                <a:solidFill>
                  <a:srgbClr val="00D97E"/>
                </a:solidFill>
                <a:latin typeface="Consolas" pitchFamily="34" charset="0"/>
                <a:ea typeface="Consolas" pitchFamily="34" charset="-122"/>
                <a:cs typeface="Consolas" pitchFamily="34" charset="-120"/>
              </a:rPr>
              <a:t>$ ./status --check-all</a:t>
            </a:r>
            <a:endParaRPr lang="en-US" sz="1030" dirty="0"/>
          </a:p>
          <a:p>
            <a:pPr indent="0" marL="0">
              <a:lnSpc>
                <a:spcPct val="128000"/>
              </a:lnSpc>
              <a:buNone/>
            </a:pPr>
            <a:r>
              <a:rPr lang="en-US" sz="1030" dirty="0">
                <a:solidFill>
                  <a:srgbClr val="FF3B30"/>
                </a:solidFill>
                <a:latin typeface="Consolas" pitchFamily="34" charset="0"/>
                <a:ea typeface="Consolas" pitchFamily="34" charset="-122"/>
                <a:cs typeface="Consolas" pitchFamily="34" charset="-120"/>
              </a:rPr>
              <a:t>[ATTACK: BUILT]   [DEFENSE: BUILT]   [PROOF: ATTACHED]</a:t>
            </a:r>
            <a:endParaRPr lang="en-US" sz="1030" dirty="0"/>
          </a:p>
        </p:txBody>
      </p:sp>
      <p:sp>
        <p:nvSpPr>
          <p:cNvPr id="15" name="Shape 13"/>
          <p:cNvSpPr/>
          <p:nvPr/>
        </p:nvSpPr>
        <p:spPr>
          <a:xfrm rot="-480000">
            <a:off x="8595360" y="4343400"/>
            <a:ext cx="2468880" cy="566928"/>
          </a:xfrm>
          <a:prstGeom prst="rect">
            <a:avLst/>
          </a:prstGeom>
          <a:ln w="28575">
            <a:solidFill>
              <a:srgbClr val="00D97E"/>
            </a:solidFill>
            <a:prstDash val="solid"/>
          </a:ln>
        </p:spPr>
      </p:sp>
      <p:sp>
        <p:nvSpPr>
          <p:cNvPr id="16" name="Text 14"/>
          <p:cNvSpPr txBox="1"/>
          <p:nvPr/>
        </p:nvSpPr>
        <p:spPr>
          <a:xfrm rot="-480000">
            <a:off x="8458200" y="4389120"/>
            <a:ext cx="2743200" cy="457200"/>
          </a:xfrm>
          <a:prstGeom prst="rect">
            <a:avLst/>
          </a:prstGeom>
          <a:noFill/>
          <a:ln/>
        </p:spPr>
        <p:txBody>
          <a:bodyPr wrap="square" lIns="0" tIns="0" rIns="0" bIns="0" rtlCol="0" anchor="ctr"/>
          <a:lstStyle/>
          <a:p>
            <a:pPr algn="ctr" indent="0" marL="0">
              <a:buNone/>
            </a:pPr>
            <a:r>
              <a:rPr lang="en-US" sz="1300" b="1" spc="100" kern="0" dirty="0">
                <a:solidFill>
                  <a:srgbClr val="00D97E"/>
                </a:solidFill>
                <a:latin typeface="Consolas" pitchFamily="34" charset="0"/>
                <a:ea typeface="Consolas" pitchFamily="34" charset="-122"/>
                <a:cs typeface="Consolas" pitchFamily="34" charset="-120"/>
              </a:rPr>
              <a:t>LIVE DEMO</a:t>
            </a:r>
            <a:endParaRPr lang="en-US" sz="1300" dirty="0"/>
          </a:p>
          <a:p>
            <a:pPr algn="ctr" indent="0" marL="0">
              <a:buNone/>
            </a:pPr>
            <a:r>
              <a:rPr lang="en-US" sz="1300" b="1" spc="100" kern="0" dirty="0">
                <a:solidFill>
                  <a:srgbClr val="00D97E"/>
                </a:solidFill>
                <a:latin typeface="Consolas" pitchFamily="34" charset="0"/>
                <a:ea typeface="Consolas" pitchFamily="34" charset="-122"/>
                <a:cs typeface="Consolas" pitchFamily="34" charset="-120"/>
              </a:rPr>
              <a:t>VERIFIED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0" y="896112"/>
            <a:ext cx="12188952" cy="0"/>
          </a:xfrm>
          <a:prstGeom prst="line">
            <a:avLst/>
          </a:prstGeom>
          <a:noFill/>
          <a:ln w="12700">
            <a:solidFill>
              <a:srgbClr val="2A2A30"/>
            </a:solidFill>
            <a:prstDash val="solid"/>
          </a:ln>
        </p:spPr>
      </p:sp>
      <p:sp>
        <p:nvSpPr>
          <p:cNvPr id="3" name="Text 1"/>
          <p:cNvSpPr txBox="1"/>
          <p:nvPr/>
        </p:nvSpPr>
        <p:spPr>
          <a:xfrm>
            <a:off x="8778240" y="256032"/>
            <a:ext cx="2834640" cy="274320"/>
          </a:xfrm>
          <a:prstGeom prst="rect">
            <a:avLst/>
          </a:prstGeom>
          <a:noFill/>
          <a:ln/>
        </p:spPr>
        <p:txBody>
          <a:bodyPr wrap="square" lIns="0" tIns="0" rIns="0" bIns="0" rtlCol="0" anchor="ctr"/>
          <a:lstStyle/>
          <a:p>
            <a:pPr algn="r" indent="0" marL="0">
              <a:buNone/>
            </a:pPr>
            <a:r>
              <a:rPr lang="en-US" sz="900" spc="100" kern="0" dirty="0">
                <a:solidFill>
                  <a:srgbClr val="5C6066"/>
                </a:solidFill>
                <a:latin typeface="Consolas" pitchFamily="34" charset="0"/>
                <a:ea typeface="Consolas" pitchFamily="34" charset="-122"/>
                <a:cs typeface="Consolas" pitchFamily="34" charset="-120"/>
              </a:rPr>
              <a:t>TRUSTING_TRUST.EXE</a:t>
            </a:r>
            <a:endParaRPr lang="en-US" sz="900" dirty="0"/>
          </a:p>
        </p:txBody>
      </p:sp>
      <p:sp>
        <p:nvSpPr>
          <p:cNvPr id="4" name="Shape 2"/>
          <p:cNvSpPr/>
          <p:nvPr/>
        </p:nvSpPr>
        <p:spPr>
          <a:xfrm>
            <a:off x="0" y="6419088"/>
            <a:ext cx="12188952" cy="0"/>
          </a:xfrm>
          <a:prstGeom prst="line">
            <a:avLst/>
          </a:prstGeom>
          <a:noFill/>
          <a:ln w="12700">
            <a:solidFill>
              <a:srgbClr val="2A2A30"/>
            </a:solidFill>
            <a:prstDash val="solid"/>
          </a:ln>
        </p:spPr>
      </p:sp>
      <p:sp>
        <p:nvSpPr>
          <p:cNvPr id="5" name="Text 3"/>
          <p:cNvSpPr txBox="1"/>
          <p:nvPr/>
        </p:nvSpPr>
        <p:spPr>
          <a:xfrm>
            <a:off x="457200" y="6492240"/>
            <a:ext cx="3657600" cy="256032"/>
          </a:xfrm>
          <a:prstGeom prst="rect">
            <a:avLst/>
          </a:prstGeom>
          <a:noFill/>
          <a:ln/>
        </p:spPr>
        <p:txBody>
          <a:bodyPr wrap="square" lIns="0" tIns="0" rIns="0" bIns="0" rtlCol="0" anchor="ctr"/>
          <a:lstStyle/>
          <a:p>
            <a:pPr indent="0" marL="0">
              <a:buNone/>
            </a:pPr>
            <a:r>
              <a:rPr lang="en-US" sz="850" dirty="0">
                <a:solidFill>
                  <a:srgbClr val="5C6066"/>
                </a:solidFill>
                <a:latin typeface="Consolas" pitchFamily="34" charset="0"/>
                <a:ea typeface="Consolas" pitchFamily="34" charset="-122"/>
                <a:cs typeface="Consolas" pitchFamily="34" charset="-120"/>
              </a:rPr>
              <a:t>root@ttrevisited:~$</a:t>
            </a:r>
            <a:endParaRPr lang="en-US" sz="850" dirty="0"/>
          </a:p>
        </p:txBody>
      </p:sp>
      <p:sp>
        <p:nvSpPr>
          <p:cNvPr id="6" name="Text 4"/>
          <p:cNvSpPr txBox="1"/>
          <p:nvPr/>
        </p:nvSpPr>
        <p:spPr>
          <a:xfrm>
            <a:off x="10424160" y="6492240"/>
            <a:ext cx="1371600" cy="256032"/>
          </a:xfrm>
          <a:prstGeom prst="rect">
            <a:avLst/>
          </a:prstGeom>
          <a:noFill/>
          <a:ln/>
        </p:spPr>
        <p:txBody>
          <a:bodyPr wrap="square" lIns="0" tIns="0" rIns="0" bIns="0" rtlCol="0" anchor="ctr"/>
          <a:lstStyle/>
          <a:p>
            <a:pPr algn="r" indent="0" marL="0">
              <a:buNone/>
            </a:pPr>
            <a:r>
              <a:rPr lang="en-US" sz="900" b="1" dirty="0">
                <a:solidFill>
                  <a:srgbClr val="9AA0A6"/>
                </a:solidFill>
                <a:latin typeface="Consolas" pitchFamily="34" charset="0"/>
                <a:ea typeface="Consolas" pitchFamily="34" charset="-122"/>
                <a:cs typeface="Consolas" pitchFamily="34" charset="-120"/>
              </a:rPr>
              <a:t>[ 02 / 11 ]</a:t>
            </a:r>
            <a:endParaRPr lang="en-US" sz="900" dirty="0"/>
          </a:p>
        </p:txBody>
      </p:sp>
      <p:sp>
        <p:nvSpPr>
          <p:cNvPr id="7" name="Text 5"/>
          <p:cNvSpPr txBox="1"/>
          <p:nvPr/>
        </p:nvSpPr>
        <p:spPr>
          <a:xfrm>
            <a:off x="502920" y="1060704"/>
            <a:ext cx="10058400" cy="292608"/>
          </a:xfrm>
          <a:prstGeom prst="rect">
            <a:avLst/>
          </a:prstGeom>
          <a:noFill/>
          <a:ln/>
        </p:spPr>
        <p:txBody>
          <a:bodyPr wrap="square" lIns="0" tIns="0" rIns="0" bIns="0" rtlCol="0" anchor="ctr"/>
          <a:lstStyle/>
          <a:p>
            <a:pPr indent="0" marL="0">
              <a:buNone/>
            </a:pPr>
            <a:r>
              <a:rPr lang="en-US" sz="1250" b="1" spc="50" kern="0" dirty="0">
                <a:solidFill>
                  <a:srgbClr val="00D97E"/>
                </a:solidFill>
                <a:latin typeface="Consolas" pitchFamily="34" charset="0"/>
                <a:ea typeface="Consolas" pitchFamily="34" charset="-122"/>
                <a:cs typeface="Consolas" pitchFamily="34" charset="-120"/>
              </a:rPr>
              <a:t>&gt;_ </a:t>
            </a:r>
            <a:pPr indent="0" marL="0">
              <a:buNone/>
            </a:pPr>
            <a:r>
              <a:rPr lang="en-US" sz="1250" b="1" spc="50" kern="0" dirty="0">
                <a:solidFill>
                  <a:srgbClr val="9AA0A6"/>
                </a:solidFill>
                <a:latin typeface="Consolas" pitchFamily="34" charset="0"/>
                <a:ea typeface="Consolas" pitchFamily="34" charset="-122"/>
                <a:cs typeface="Consolas" pitchFamily="34" charset="-120"/>
              </a:rPr>
              <a:t>02 // PROBLEM IDENTIFICATION</a:t>
            </a:r>
            <a:endParaRPr lang="en-US" sz="1250" dirty="0"/>
          </a:p>
        </p:txBody>
      </p:sp>
      <p:sp>
        <p:nvSpPr>
          <p:cNvPr id="8" name="Text 6"/>
          <p:cNvSpPr txBox="1"/>
          <p:nvPr/>
        </p:nvSpPr>
        <p:spPr>
          <a:xfrm>
            <a:off x="502920" y="1408176"/>
            <a:ext cx="11155680" cy="868680"/>
          </a:xfrm>
          <a:prstGeom prst="rect">
            <a:avLst/>
          </a:prstGeom>
          <a:noFill/>
          <a:ln/>
        </p:spPr>
        <p:txBody>
          <a:bodyPr wrap="square" lIns="0" tIns="0" rIns="0" bIns="0" rtlCol="0" anchor="t"/>
          <a:lstStyle/>
          <a:p>
            <a:pPr indent="0" marL="0">
              <a:lnSpc>
                <a:spcPct val="102000"/>
              </a:lnSpc>
              <a:buNone/>
            </a:pPr>
            <a:r>
              <a:rPr lang="en-US" sz="2800" b="1" dirty="0">
                <a:solidFill>
                  <a:srgbClr val="F5F5F2"/>
                </a:solidFill>
                <a:latin typeface="Calibri" pitchFamily="34" charset="0"/>
                <a:ea typeface="Calibri" pitchFamily="34" charset="-122"/>
                <a:cs typeface="Calibri" pitchFamily="34" charset="-120"/>
              </a:rPr>
              <a:t>A compiler can lie -</a:t>
            </a:r>
            <a:endParaRPr lang="en-US" sz="2800" dirty="0"/>
          </a:p>
          <a:p>
            <a:pPr indent="0" marL="0">
              <a:lnSpc>
                <a:spcPct val="102000"/>
              </a:lnSpc>
              <a:buNone/>
            </a:pPr>
            <a:r>
              <a:rPr lang="en-US" sz="2800" b="1" dirty="0">
                <a:solidFill>
                  <a:srgbClr val="F5F5F2"/>
                </a:solidFill>
                <a:latin typeface="Calibri" pitchFamily="34" charset="0"/>
                <a:ea typeface="Calibri" pitchFamily="34" charset="-122"/>
                <a:cs typeface="Calibri" pitchFamily="34" charset="-120"/>
              </a:rPr>
              <a:t>and nobody would know</a:t>
            </a:r>
            <a:endParaRPr lang="en-US" sz="2800" dirty="0"/>
          </a:p>
        </p:txBody>
      </p:sp>
      <p:sp>
        <p:nvSpPr>
          <p:cNvPr id="9" name="Text 7"/>
          <p:cNvSpPr txBox="1"/>
          <p:nvPr/>
        </p:nvSpPr>
        <p:spPr>
          <a:xfrm>
            <a:off x="502920" y="2395728"/>
            <a:ext cx="6035040" cy="2103120"/>
          </a:xfrm>
          <a:prstGeom prst="rect">
            <a:avLst/>
          </a:prstGeom>
          <a:noFill/>
          <a:ln/>
        </p:spPr>
        <p:txBody>
          <a:bodyPr wrap="square" lIns="0" tIns="0" rIns="0" bIns="0" rtlCol="0" anchor="ctr"/>
          <a:lstStyle/>
          <a:p>
            <a:pPr indent="0" marL="0">
              <a:lnSpc>
                <a:spcPct val="132000"/>
              </a:lnSpc>
              <a:buNone/>
            </a:pPr>
            <a:r>
              <a:rPr lang="en-US" sz="1250" dirty="0">
                <a:solidFill>
                  <a:srgbClr val="9AA0A6"/>
                </a:solidFill>
                <a:latin typeface="Calibri" pitchFamily="34" charset="0"/>
                <a:ea typeface="Calibri" pitchFamily="34" charset="-122"/>
                <a:cs typeface="Calibri" pitchFamily="34" charset="-120"/>
              </a:rPr>
              <a:t>Every code review rests on one unexamined assumption: the compiler translating that code is faithful. Thompson broke that assumption in 1984. A compiler can recognise a specific target program and silently append logic that exists nowhere in that program's source. Worse: it can recognise when it is compiling itself, and re-plant that logic into every future version of the compiler - surviving long after the original change is deleted from every file a human will ever read.</a:t>
            </a:r>
            <a:endParaRPr lang="en-US" sz="1250" dirty="0"/>
          </a:p>
        </p:txBody>
      </p:sp>
      <p:sp>
        <p:nvSpPr>
          <p:cNvPr id="10" name="Text 8"/>
          <p:cNvSpPr txBox="1"/>
          <p:nvPr/>
        </p:nvSpPr>
        <p:spPr>
          <a:xfrm>
            <a:off x="502920" y="4617720"/>
            <a:ext cx="594360" cy="320040"/>
          </a:xfrm>
          <a:prstGeom prst="rect">
            <a:avLst/>
          </a:prstGeom>
          <a:noFill/>
          <a:ln/>
        </p:spPr>
        <p:txBody>
          <a:bodyPr wrap="square" lIns="0" tIns="0" rIns="0" bIns="0" rtlCol="0" anchor="ctr"/>
          <a:lstStyle/>
          <a:p>
            <a:pPr indent="0" marL="0">
              <a:buNone/>
            </a:pPr>
            <a:r>
              <a:rPr lang="en-US" sz="1300" b="1" dirty="0">
                <a:solidFill>
                  <a:srgbClr val="FF3B30"/>
                </a:solidFill>
                <a:latin typeface="Consolas" pitchFamily="34" charset="0"/>
                <a:ea typeface="Consolas" pitchFamily="34" charset="-122"/>
                <a:cs typeface="Consolas" pitchFamily="34" charset="-120"/>
              </a:rPr>
              <a:t>01</a:t>
            </a:r>
            <a:endParaRPr lang="en-US" sz="1300" dirty="0"/>
          </a:p>
        </p:txBody>
      </p:sp>
      <p:sp>
        <p:nvSpPr>
          <p:cNvPr id="11" name="Text 9"/>
          <p:cNvSpPr txBox="1"/>
          <p:nvPr/>
        </p:nvSpPr>
        <p:spPr>
          <a:xfrm>
            <a:off x="1051560" y="4599432"/>
            <a:ext cx="5486400" cy="292608"/>
          </a:xfrm>
          <a:prstGeom prst="rect">
            <a:avLst/>
          </a:prstGeom>
          <a:noFill/>
          <a:ln/>
        </p:spPr>
        <p:txBody>
          <a:bodyPr wrap="square" lIns="0" tIns="0" rIns="0" bIns="0" rtlCol="0" anchor="ctr"/>
          <a:lstStyle/>
          <a:p>
            <a:pPr indent="0" marL="0">
              <a:buNone/>
            </a:pPr>
            <a:r>
              <a:rPr lang="en-US" sz="1200" b="1" dirty="0">
                <a:solidFill>
                  <a:srgbClr val="F5F5F2"/>
                </a:solidFill>
                <a:latin typeface="Calibri" pitchFamily="34" charset="0"/>
                <a:ea typeface="Calibri" pitchFamily="34" charset="-122"/>
                <a:cs typeface="Calibri" pitchFamily="34" charset="-120"/>
              </a:rPr>
              <a:t>Demonstrable, or just describable?</a:t>
            </a:r>
            <a:endParaRPr lang="en-US" sz="1200" dirty="0"/>
          </a:p>
        </p:txBody>
      </p:sp>
      <p:sp>
        <p:nvSpPr>
          <p:cNvPr id="12" name="Text 10"/>
          <p:cNvSpPr txBox="1"/>
          <p:nvPr/>
        </p:nvSpPr>
        <p:spPr>
          <a:xfrm>
            <a:off x="1051560" y="4892040"/>
            <a:ext cx="5486400" cy="502920"/>
          </a:xfrm>
          <a:prstGeom prst="rect">
            <a:avLst/>
          </a:prstGeom>
          <a:noFill/>
          <a:ln/>
        </p:spPr>
        <p:txBody>
          <a:bodyPr wrap="square" lIns="0" tIns="0" rIns="0" bIns="0" rtlCol="0" anchor="ctr"/>
          <a:lstStyle/>
          <a:p>
            <a:pPr indent="0" marL="0">
              <a:lnSpc>
                <a:spcPct val="120000"/>
              </a:lnSpc>
              <a:buNone/>
            </a:pPr>
            <a:r>
              <a:rPr lang="en-US" sz="980" dirty="0">
                <a:solidFill>
                  <a:srgbClr val="9AA0A6"/>
                </a:solidFill>
                <a:latin typeface="Calibri" pitchFamily="34" charset="0"/>
                <a:ea typeface="Calibri" pitchFamily="34" charset="-122"/>
                <a:cs typeface="Calibri" pitchFamily="34" charset="-120"/>
              </a:rPr>
              <a:t>Thompson's lecture is prose plus a short fragment - not a toolchain. The full mechanism needs a real compiler, a real self-reproducing program, and a way to fuse them.</a:t>
            </a:r>
            <a:endParaRPr lang="en-US" sz="980" dirty="0"/>
          </a:p>
        </p:txBody>
      </p:sp>
      <p:sp>
        <p:nvSpPr>
          <p:cNvPr id="13" name="Text 11"/>
          <p:cNvSpPr txBox="1"/>
          <p:nvPr/>
        </p:nvSpPr>
        <p:spPr>
          <a:xfrm>
            <a:off x="502920" y="5486400"/>
            <a:ext cx="594360" cy="320040"/>
          </a:xfrm>
          <a:prstGeom prst="rect">
            <a:avLst/>
          </a:prstGeom>
          <a:noFill/>
          <a:ln/>
        </p:spPr>
        <p:txBody>
          <a:bodyPr wrap="square" lIns="0" tIns="0" rIns="0" bIns="0" rtlCol="0" anchor="ctr"/>
          <a:lstStyle/>
          <a:p>
            <a:pPr indent="0" marL="0">
              <a:buNone/>
            </a:pPr>
            <a:r>
              <a:rPr lang="en-US" sz="1300" b="1" dirty="0">
                <a:solidFill>
                  <a:srgbClr val="FF3B30"/>
                </a:solidFill>
                <a:latin typeface="Consolas" pitchFamily="34" charset="0"/>
                <a:ea typeface="Consolas" pitchFamily="34" charset="-122"/>
                <a:cs typeface="Consolas" pitchFamily="34" charset="-120"/>
              </a:rPr>
              <a:t>02</a:t>
            </a:r>
            <a:endParaRPr lang="en-US" sz="1300" dirty="0"/>
          </a:p>
        </p:txBody>
      </p:sp>
      <p:sp>
        <p:nvSpPr>
          <p:cNvPr id="14" name="Text 12"/>
          <p:cNvSpPr txBox="1"/>
          <p:nvPr/>
        </p:nvSpPr>
        <p:spPr>
          <a:xfrm>
            <a:off x="1051560" y="5468112"/>
            <a:ext cx="5486400" cy="292608"/>
          </a:xfrm>
          <a:prstGeom prst="rect">
            <a:avLst/>
          </a:prstGeom>
          <a:noFill/>
          <a:ln/>
        </p:spPr>
        <p:txBody>
          <a:bodyPr wrap="square" lIns="0" tIns="0" rIns="0" bIns="0" rtlCol="0" anchor="ctr"/>
          <a:lstStyle/>
          <a:p>
            <a:pPr indent="0" marL="0">
              <a:buNone/>
            </a:pPr>
            <a:r>
              <a:rPr lang="en-US" sz="1200" b="1" dirty="0">
                <a:solidFill>
                  <a:srgbClr val="F5F5F2"/>
                </a:solidFill>
                <a:latin typeface="Calibri" pitchFamily="34" charset="0"/>
                <a:ea typeface="Calibri" pitchFamily="34" charset="-122"/>
                <a:cs typeface="Calibri" pitchFamily="34" charset="-120"/>
              </a:rPr>
              <a:t>Verified, or just cited?</a:t>
            </a:r>
            <a:endParaRPr lang="en-US" sz="1200" dirty="0"/>
          </a:p>
        </p:txBody>
      </p:sp>
      <p:sp>
        <p:nvSpPr>
          <p:cNvPr id="15" name="Text 13"/>
          <p:cNvSpPr txBox="1"/>
          <p:nvPr/>
        </p:nvSpPr>
        <p:spPr>
          <a:xfrm>
            <a:off x="1051560" y="5760720"/>
            <a:ext cx="5486400" cy="502920"/>
          </a:xfrm>
          <a:prstGeom prst="rect">
            <a:avLst/>
          </a:prstGeom>
          <a:noFill/>
          <a:ln/>
        </p:spPr>
        <p:txBody>
          <a:bodyPr wrap="square" lIns="0" tIns="0" rIns="0" bIns="0" rtlCol="0" anchor="ctr"/>
          <a:lstStyle/>
          <a:p>
            <a:pPr indent="0" marL="0">
              <a:lnSpc>
                <a:spcPct val="120000"/>
              </a:lnSpc>
              <a:buNone/>
            </a:pPr>
            <a:r>
              <a:rPr lang="en-US" sz="980" dirty="0">
                <a:solidFill>
                  <a:srgbClr val="9AA0A6"/>
                </a:solidFill>
                <a:latin typeface="Calibri" pitchFamily="34" charset="0"/>
                <a:ea typeface="Calibri" pitchFamily="34" charset="-122"/>
                <a:cs typeface="Calibri" pitchFamily="34" charset="-120"/>
              </a:rPr>
              <a:t>Diverse Double Compiling is the textbook fix - rarely tested by its presenter against a self-replicating backdoor that person actually built.</a:t>
            </a:r>
            <a:endParaRPr lang="en-US" sz="980" dirty="0"/>
          </a:p>
        </p:txBody>
      </p:sp>
      <p:sp>
        <p:nvSpPr>
          <p:cNvPr id="16" name="Shape 14"/>
          <p:cNvSpPr/>
          <p:nvPr/>
        </p:nvSpPr>
        <p:spPr>
          <a:xfrm>
            <a:off x="6903720" y="2395728"/>
            <a:ext cx="4754880" cy="3794760"/>
          </a:xfrm>
          <a:prstGeom prst="rect">
            <a:avLst/>
          </a:prstGeom>
          <a:solidFill>
            <a:srgbClr val="000000"/>
          </a:solidFill>
          <a:ln w="12700">
            <a:solidFill>
              <a:srgbClr val="2A2A30"/>
            </a:solidFill>
            <a:prstDash val="solid"/>
          </a:ln>
        </p:spPr>
      </p:sp>
      <p:sp>
        <p:nvSpPr>
          <p:cNvPr id="17" name="Shape 15"/>
          <p:cNvSpPr/>
          <p:nvPr/>
        </p:nvSpPr>
        <p:spPr>
          <a:xfrm>
            <a:off x="6903720" y="2395728"/>
            <a:ext cx="4754880" cy="292608"/>
          </a:xfrm>
          <a:prstGeom prst="rect">
            <a:avLst/>
          </a:prstGeom>
          <a:solidFill>
            <a:srgbClr val="17171B"/>
          </a:solidFill>
          <a:ln/>
        </p:spPr>
      </p:sp>
      <p:sp>
        <p:nvSpPr>
          <p:cNvPr id="18" name="Shape 16"/>
          <p:cNvSpPr/>
          <p:nvPr/>
        </p:nvSpPr>
        <p:spPr>
          <a:xfrm>
            <a:off x="7031736" y="2496312"/>
            <a:ext cx="91440" cy="91440"/>
          </a:xfrm>
          <a:prstGeom prst="ellipse">
            <a:avLst/>
          </a:prstGeom>
          <a:solidFill>
            <a:srgbClr val="FF3B30"/>
          </a:solidFill>
          <a:ln/>
        </p:spPr>
      </p:sp>
      <p:sp>
        <p:nvSpPr>
          <p:cNvPr id="19" name="Shape 17"/>
          <p:cNvSpPr/>
          <p:nvPr/>
        </p:nvSpPr>
        <p:spPr>
          <a:xfrm>
            <a:off x="7214616" y="2496312"/>
            <a:ext cx="91440" cy="91440"/>
          </a:xfrm>
          <a:prstGeom prst="ellipse">
            <a:avLst/>
          </a:prstGeom>
          <a:solidFill>
            <a:srgbClr val="FFB020"/>
          </a:solidFill>
          <a:ln/>
        </p:spPr>
      </p:sp>
      <p:sp>
        <p:nvSpPr>
          <p:cNvPr id="20" name="Shape 18"/>
          <p:cNvSpPr/>
          <p:nvPr/>
        </p:nvSpPr>
        <p:spPr>
          <a:xfrm>
            <a:off x="7397496" y="2496312"/>
            <a:ext cx="91440" cy="91440"/>
          </a:xfrm>
          <a:prstGeom prst="ellipse">
            <a:avLst/>
          </a:prstGeom>
          <a:solidFill>
            <a:srgbClr val="00D97E"/>
          </a:solidFill>
          <a:ln/>
        </p:spPr>
      </p:sp>
      <p:sp>
        <p:nvSpPr>
          <p:cNvPr id="21" name="Text 19"/>
          <p:cNvSpPr txBox="1"/>
          <p:nvPr/>
        </p:nvSpPr>
        <p:spPr>
          <a:xfrm>
            <a:off x="7726680" y="2423160"/>
            <a:ext cx="3749040" cy="237744"/>
          </a:xfrm>
          <a:prstGeom prst="rect">
            <a:avLst/>
          </a:prstGeom>
          <a:noFill/>
          <a:ln/>
        </p:spPr>
        <p:txBody>
          <a:bodyPr wrap="square" lIns="0" tIns="0" rIns="0" bIns="0" rtlCol="0" anchor="ctr"/>
          <a:lstStyle/>
          <a:p>
            <a:pPr indent="0" marL="0">
              <a:buNone/>
            </a:pPr>
            <a:r>
              <a:rPr lang="en-US" sz="850" dirty="0">
                <a:solidFill>
                  <a:srgbClr val="5C6066"/>
                </a:solidFill>
                <a:latin typeface="Consolas" pitchFamily="34" charset="0"/>
                <a:ea typeface="Consolas" pitchFamily="34" charset="-122"/>
                <a:cs typeface="Consolas" pitchFamily="34" charset="-120"/>
              </a:rPr>
              <a:t>trace - review vs runtime</a:t>
            </a:r>
            <a:endParaRPr lang="en-US" sz="850" dirty="0"/>
          </a:p>
        </p:txBody>
      </p:sp>
      <p:sp>
        <p:nvSpPr>
          <p:cNvPr id="22" name="Text 20"/>
          <p:cNvSpPr txBox="1"/>
          <p:nvPr/>
        </p:nvSpPr>
        <p:spPr>
          <a:xfrm>
            <a:off x="7123176" y="2798064"/>
            <a:ext cx="4315968" cy="3246120"/>
          </a:xfrm>
          <a:prstGeom prst="rect">
            <a:avLst/>
          </a:prstGeom>
          <a:noFill/>
          <a:ln/>
        </p:spPr>
        <p:txBody>
          <a:bodyPr wrap="square" lIns="0" tIns="0" rIns="0" bIns="0" rtlCol="0" anchor="t"/>
          <a:lstStyle/>
          <a:p>
            <a:pPr indent="0" marL="0">
              <a:lnSpc>
                <a:spcPct val="128000"/>
              </a:lnSpc>
              <a:buNone/>
            </a:pPr>
            <a:r>
              <a:rPr lang="en-US" sz="1030" dirty="0">
                <a:solidFill>
                  <a:srgbClr val="00D97E"/>
                </a:solidFill>
                <a:latin typeface="Consolas" pitchFamily="34" charset="0"/>
                <a:ea typeface="Consolas" pitchFamily="34" charset="-122"/>
                <a:cs typeface="Consolas" pitchFamily="34" charset="-120"/>
              </a:rPr>
              <a:t>$ audit source_code/</a:t>
            </a:r>
            <a:endParaRPr lang="en-US" sz="1030" dirty="0"/>
          </a:p>
          <a:p>
            <a:pPr indent="0" marL="0">
              <a:lnSpc>
                <a:spcPct val="128000"/>
              </a:lnSpc>
              <a:buNone/>
            </a:pPr>
            <a:r>
              <a:rPr lang="en-US" sz="1030" dirty="0">
                <a:solidFill>
                  <a:srgbClr val="F5F5F2"/>
                </a:solidFill>
                <a:latin typeface="Consolas" pitchFamily="34" charset="0"/>
                <a:ea typeface="Consolas" pitchFamily="34" charset="-122"/>
                <a:cs typeface="Consolas" pitchFamily="34" charset="-120"/>
              </a:rPr>
              <a:t>auth.tl ......... CLEAN</a:t>
            </a:r>
            <a:endParaRPr lang="en-US" sz="1030" dirty="0"/>
          </a:p>
          <a:p>
            <a:pPr indent="0" marL="0">
              <a:lnSpc>
                <a:spcPct val="128000"/>
              </a:lnSpc>
              <a:buNone/>
            </a:pPr>
            <a:r>
              <a:rPr lang="en-US" sz="1030" dirty="0">
                <a:solidFill>
                  <a:srgbClr val="F5F5F2"/>
                </a:solidFill>
                <a:latin typeface="Consolas" pitchFamily="34" charset="0"/>
                <a:ea typeface="Consolas" pitchFamily="34" charset="-122"/>
                <a:cs typeface="Consolas" pitchFamily="34" charset="-120"/>
              </a:rPr>
              <a:t>login.tl ........ CLEAN</a:t>
            </a:r>
            <a:endParaRPr lang="en-US" sz="1030" dirty="0"/>
          </a:p>
          <a:p>
            <a:pPr indent="0" marL="0">
              <a:lnSpc>
                <a:spcPct val="128000"/>
              </a:lnSpc>
              <a:buNone/>
            </a:pPr>
            <a:r>
              <a:rPr lang="en-US" sz="1030" dirty="0">
                <a:solidFill>
                  <a:srgbClr val="F5F5F2"/>
                </a:solidFill>
                <a:latin typeface="Consolas" pitchFamily="34" charset="0"/>
                <a:ea typeface="Consolas" pitchFamily="34" charset="-122"/>
                <a:cs typeface="Consolas" pitchFamily="34" charset="-120"/>
              </a:rPr>
              <a:t>0 issues found.</a:t>
            </a:r>
            <a:endParaRPr lang="en-US" sz="1030" dirty="0"/>
          </a:p>
          <a:p>
            <a:pPr indent="0" marL="0">
              <a:lnSpc>
                <a:spcPct val="128000"/>
              </a:lnSpc>
              <a:buNone/>
            </a:pPr>
            <a:endParaRPr lang="en-US" sz="1030" dirty="0"/>
          </a:p>
          <a:p>
            <a:pPr indent="0" marL="0">
              <a:lnSpc>
                <a:spcPct val="128000"/>
              </a:lnSpc>
              <a:buNone/>
            </a:pPr>
            <a:r>
              <a:rPr lang="en-US" sz="1030" dirty="0">
                <a:solidFill>
                  <a:srgbClr val="00D97E"/>
                </a:solidFill>
                <a:latin typeface="Consolas" pitchFamily="34" charset="0"/>
                <a:ea typeface="Consolas" pitchFamily="34" charset="-122"/>
                <a:cs typeface="Consolas" pitchFamily="34" charset="-120"/>
              </a:rPr>
              <a:t>$ ./compiler auth.tl -o auth.cpp</a:t>
            </a:r>
            <a:endParaRPr lang="en-US" sz="1030" dirty="0"/>
          </a:p>
          <a:p>
            <a:pPr indent="0" marL="0">
              <a:lnSpc>
                <a:spcPct val="128000"/>
              </a:lnSpc>
              <a:buNone/>
            </a:pPr>
            <a:r>
              <a:rPr lang="en-US" sz="1030" dirty="0">
                <a:solidFill>
                  <a:srgbClr val="00D97E"/>
                </a:solidFill>
                <a:latin typeface="Consolas" pitchFamily="34" charset="0"/>
                <a:ea typeface="Consolas" pitchFamily="34" charset="-122"/>
                <a:cs typeface="Consolas" pitchFamily="34" charset="-120"/>
              </a:rPr>
              <a:t>$ ./auth.cpp --login admin ****</a:t>
            </a:r>
            <a:endParaRPr lang="en-US" sz="1030" dirty="0"/>
          </a:p>
          <a:p>
            <a:pPr indent="0" marL="0">
              <a:lnSpc>
                <a:spcPct val="128000"/>
              </a:lnSpc>
              <a:buNone/>
            </a:pPr>
            <a:r>
              <a:rPr lang="en-US" sz="1030" dirty="0">
                <a:solidFill>
                  <a:srgbClr val="FF3B30"/>
                </a:solidFill>
                <a:latin typeface="Consolas" pitchFamily="34" charset="0"/>
                <a:ea typeface="Consolas" pitchFamily="34" charset="-122"/>
                <a:cs typeface="Consolas" pitchFamily="34" charset="-120"/>
              </a:rPr>
              <a:t>[MARKER_INSERTED] &lt;- not in any</a:t>
            </a:r>
            <a:endParaRPr lang="en-US" sz="1030" dirty="0"/>
          </a:p>
          <a:p>
            <a:pPr indent="0" marL="0">
              <a:lnSpc>
                <a:spcPct val="128000"/>
              </a:lnSpc>
              <a:buNone/>
            </a:pPr>
            <a:r>
              <a:rPr lang="en-US" sz="1030" dirty="0">
                <a:solidFill>
                  <a:srgbClr val="FF3B30"/>
                </a:solidFill>
                <a:latin typeface="Consolas" pitchFamily="34" charset="0"/>
                <a:ea typeface="Consolas" pitchFamily="34" charset="-122"/>
                <a:cs typeface="Consolas" pitchFamily="34" charset="-120"/>
              </a:rPr>
              <a:t>                     source file</a:t>
            </a:r>
            <a:endParaRPr lang="en-US" sz="1030" dirty="0"/>
          </a:p>
          <a:p>
            <a:pPr indent="0" marL="0">
              <a:lnSpc>
                <a:spcPct val="128000"/>
              </a:lnSpc>
              <a:buNone/>
            </a:pPr>
            <a:endParaRPr lang="en-US" sz="1030" dirty="0"/>
          </a:p>
          <a:p>
            <a:pPr indent="0" marL="0">
              <a:lnSpc>
                <a:spcPct val="128000"/>
              </a:lnSpc>
              <a:buNone/>
            </a:pPr>
            <a:r>
              <a:rPr lang="en-US" sz="1030" dirty="0">
                <a:solidFill>
                  <a:srgbClr val="5C6066"/>
                </a:solidFill>
                <a:latin typeface="Consolas" pitchFamily="34" charset="0"/>
                <a:ea typeface="Consolas" pitchFamily="34" charset="-122"/>
                <a:cs typeface="Consolas" pitchFamily="34" charset="-120"/>
              </a:rPr>
              <a:t># the review was correct.</a:t>
            </a:r>
            <a:endParaRPr lang="en-US" sz="1030" dirty="0"/>
          </a:p>
          <a:p>
            <a:pPr indent="0" marL="0">
              <a:lnSpc>
                <a:spcPct val="128000"/>
              </a:lnSpc>
              <a:buNone/>
            </a:pPr>
            <a:r>
              <a:rPr lang="en-US" sz="1030" dirty="0">
                <a:solidFill>
                  <a:srgbClr val="5C6066"/>
                </a:solidFill>
                <a:latin typeface="Consolas" pitchFamily="34" charset="0"/>
                <a:ea typeface="Consolas" pitchFamily="34" charset="-122"/>
                <a:cs typeface="Consolas" pitchFamily="34" charset="-120"/>
              </a:rPr>
              <a:t># the binary lied anyway.</a:t>
            </a:r>
            <a:endParaRPr lang="en-US" sz="10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0" y="896112"/>
            <a:ext cx="12188952" cy="0"/>
          </a:xfrm>
          <a:prstGeom prst="line">
            <a:avLst/>
          </a:prstGeom>
          <a:noFill/>
          <a:ln w="12700">
            <a:solidFill>
              <a:srgbClr val="2A2A30"/>
            </a:solidFill>
            <a:prstDash val="solid"/>
          </a:ln>
        </p:spPr>
      </p:sp>
      <p:sp>
        <p:nvSpPr>
          <p:cNvPr id="3" name="Text 1"/>
          <p:cNvSpPr txBox="1"/>
          <p:nvPr/>
        </p:nvSpPr>
        <p:spPr>
          <a:xfrm>
            <a:off x="8778240" y="256032"/>
            <a:ext cx="2834640" cy="274320"/>
          </a:xfrm>
          <a:prstGeom prst="rect">
            <a:avLst/>
          </a:prstGeom>
          <a:noFill/>
          <a:ln/>
        </p:spPr>
        <p:txBody>
          <a:bodyPr wrap="square" lIns="0" tIns="0" rIns="0" bIns="0" rtlCol="0" anchor="ctr"/>
          <a:lstStyle/>
          <a:p>
            <a:pPr algn="r" indent="0" marL="0">
              <a:buNone/>
            </a:pPr>
            <a:r>
              <a:rPr lang="en-US" sz="900" spc="100" kern="0" dirty="0">
                <a:solidFill>
                  <a:srgbClr val="5C6066"/>
                </a:solidFill>
                <a:latin typeface="Consolas" pitchFamily="34" charset="0"/>
                <a:ea typeface="Consolas" pitchFamily="34" charset="-122"/>
                <a:cs typeface="Consolas" pitchFamily="34" charset="-120"/>
              </a:rPr>
              <a:t>TRUSTING_TRUST.EXE</a:t>
            </a:r>
            <a:endParaRPr lang="en-US" sz="900" dirty="0"/>
          </a:p>
        </p:txBody>
      </p:sp>
      <p:sp>
        <p:nvSpPr>
          <p:cNvPr id="4" name="Shape 2"/>
          <p:cNvSpPr/>
          <p:nvPr/>
        </p:nvSpPr>
        <p:spPr>
          <a:xfrm>
            <a:off x="0" y="6419088"/>
            <a:ext cx="12188952" cy="0"/>
          </a:xfrm>
          <a:prstGeom prst="line">
            <a:avLst/>
          </a:prstGeom>
          <a:noFill/>
          <a:ln w="12700">
            <a:solidFill>
              <a:srgbClr val="2A2A30"/>
            </a:solidFill>
            <a:prstDash val="solid"/>
          </a:ln>
        </p:spPr>
      </p:sp>
      <p:sp>
        <p:nvSpPr>
          <p:cNvPr id="5" name="Text 3"/>
          <p:cNvSpPr txBox="1"/>
          <p:nvPr/>
        </p:nvSpPr>
        <p:spPr>
          <a:xfrm>
            <a:off x="457200" y="6492240"/>
            <a:ext cx="3657600" cy="256032"/>
          </a:xfrm>
          <a:prstGeom prst="rect">
            <a:avLst/>
          </a:prstGeom>
          <a:noFill/>
          <a:ln/>
        </p:spPr>
        <p:txBody>
          <a:bodyPr wrap="square" lIns="0" tIns="0" rIns="0" bIns="0" rtlCol="0" anchor="ctr"/>
          <a:lstStyle/>
          <a:p>
            <a:pPr indent="0" marL="0">
              <a:buNone/>
            </a:pPr>
            <a:r>
              <a:rPr lang="en-US" sz="850" dirty="0">
                <a:solidFill>
                  <a:srgbClr val="5C6066"/>
                </a:solidFill>
                <a:latin typeface="Consolas" pitchFamily="34" charset="0"/>
                <a:ea typeface="Consolas" pitchFamily="34" charset="-122"/>
                <a:cs typeface="Consolas" pitchFamily="34" charset="-120"/>
              </a:rPr>
              <a:t>root@ttrevisited:~$</a:t>
            </a:r>
            <a:endParaRPr lang="en-US" sz="850" dirty="0"/>
          </a:p>
        </p:txBody>
      </p:sp>
      <p:sp>
        <p:nvSpPr>
          <p:cNvPr id="6" name="Text 4"/>
          <p:cNvSpPr txBox="1"/>
          <p:nvPr/>
        </p:nvSpPr>
        <p:spPr>
          <a:xfrm>
            <a:off x="10424160" y="6492240"/>
            <a:ext cx="1371600" cy="256032"/>
          </a:xfrm>
          <a:prstGeom prst="rect">
            <a:avLst/>
          </a:prstGeom>
          <a:noFill/>
          <a:ln/>
        </p:spPr>
        <p:txBody>
          <a:bodyPr wrap="square" lIns="0" tIns="0" rIns="0" bIns="0" rtlCol="0" anchor="ctr"/>
          <a:lstStyle/>
          <a:p>
            <a:pPr algn="r" indent="0" marL="0">
              <a:buNone/>
            </a:pPr>
            <a:r>
              <a:rPr lang="en-US" sz="900" b="1" dirty="0">
                <a:solidFill>
                  <a:srgbClr val="9AA0A6"/>
                </a:solidFill>
                <a:latin typeface="Consolas" pitchFamily="34" charset="0"/>
                <a:ea typeface="Consolas" pitchFamily="34" charset="-122"/>
                <a:cs typeface="Consolas" pitchFamily="34" charset="-120"/>
              </a:rPr>
              <a:t>[ 03 / 11 ]</a:t>
            </a:r>
            <a:endParaRPr lang="en-US" sz="900" dirty="0"/>
          </a:p>
        </p:txBody>
      </p:sp>
      <p:sp>
        <p:nvSpPr>
          <p:cNvPr id="7" name="Text 5"/>
          <p:cNvSpPr txBox="1"/>
          <p:nvPr/>
        </p:nvSpPr>
        <p:spPr>
          <a:xfrm>
            <a:off x="502920" y="1060704"/>
            <a:ext cx="10058400" cy="292608"/>
          </a:xfrm>
          <a:prstGeom prst="rect">
            <a:avLst/>
          </a:prstGeom>
          <a:noFill/>
          <a:ln/>
        </p:spPr>
        <p:txBody>
          <a:bodyPr wrap="square" lIns="0" tIns="0" rIns="0" bIns="0" rtlCol="0" anchor="ctr"/>
          <a:lstStyle/>
          <a:p>
            <a:pPr indent="0" marL="0">
              <a:buNone/>
            </a:pPr>
            <a:r>
              <a:rPr lang="en-US" sz="1250" b="1" spc="50" kern="0" dirty="0">
                <a:solidFill>
                  <a:srgbClr val="00D97E"/>
                </a:solidFill>
                <a:latin typeface="Consolas" pitchFamily="34" charset="0"/>
                <a:ea typeface="Consolas" pitchFamily="34" charset="-122"/>
                <a:cs typeface="Consolas" pitchFamily="34" charset="-120"/>
              </a:rPr>
              <a:t>&gt;_ </a:t>
            </a:r>
            <a:pPr indent="0" marL="0">
              <a:buNone/>
            </a:pPr>
            <a:r>
              <a:rPr lang="en-US" sz="1250" b="1" spc="50" kern="0" dirty="0">
                <a:solidFill>
                  <a:srgbClr val="9AA0A6"/>
                </a:solidFill>
                <a:latin typeface="Consolas" pitchFamily="34" charset="0"/>
                <a:ea typeface="Consolas" pitchFamily="34" charset="-122"/>
                <a:cs typeface="Consolas" pitchFamily="34" charset="-120"/>
              </a:rPr>
              <a:t>03 // OBJECTIVES</a:t>
            </a:r>
            <a:endParaRPr lang="en-US" sz="1250" dirty="0"/>
          </a:p>
        </p:txBody>
      </p:sp>
      <p:sp>
        <p:nvSpPr>
          <p:cNvPr id="8" name="Text 6"/>
          <p:cNvSpPr txBox="1"/>
          <p:nvPr/>
        </p:nvSpPr>
        <p:spPr>
          <a:xfrm>
            <a:off x="502920" y="1408176"/>
            <a:ext cx="11155680" cy="868680"/>
          </a:xfrm>
          <a:prstGeom prst="rect">
            <a:avLst/>
          </a:prstGeom>
          <a:noFill/>
          <a:ln/>
        </p:spPr>
        <p:txBody>
          <a:bodyPr wrap="square" lIns="0" tIns="0" rIns="0" bIns="0" rtlCol="0" anchor="t"/>
          <a:lstStyle/>
          <a:p>
            <a:pPr indent="0" marL="0">
              <a:lnSpc>
                <a:spcPct val="102000"/>
              </a:lnSpc>
              <a:buNone/>
            </a:pPr>
            <a:r>
              <a:rPr lang="en-US" sz="2800" b="1" dirty="0">
                <a:solidFill>
                  <a:srgbClr val="F5F5F2"/>
                </a:solidFill>
                <a:latin typeface="Calibri" pitchFamily="34" charset="0"/>
                <a:ea typeface="Calibri" pitchFamily="34" charset="-122"/>
                <a:cs typeface="Calibri" pitchFamily="34" charset="-120"/>
              </a:rPr>
              <a:t>Six objectives. Zero assumptions.</a:t>
            </a:r>
            <a:endParaRPr lang="en-US" sz="2800" dirty="0"/>
          </a:p>
        </p:txBody>
      </p:sp>
      <p:sp>
        <p:nvSpPr>
          <p:cNvPr id="9" name="Shape 7"/>
          <p:cNvSpPr/>
          <p:nvPr/>
        </p:nvSpPr>
        <p:spPr>
          <a:xfrm>
            <a:off x="457200" y="2286000"/>
            <a:ext cx="3703320" cy="1874520"/>
          </a:xfrm>
          <a:prstGeom prst="rect">
            <a:avLst/>
          </a:prstGeom>
          <a:solidFill>
            <a:srgbClr val="141418"/>
          </a:solidFill>
          <a:ln w="12700">
            <a:solidFill>
              <a:srgbClr val="2A2A30"/>
            </a:solidFill>
            <a:prstDash val="solid"/>
          </a:ln>
        </p:spPr>
      </p:sp>
      <p:pic>
        <p:nvPicPr>
          <p:cNvPr id="10" name="Image 0" descr="icons/terminal_F5F5F2.png">    </p:cNvPr>
          <p:cNvPicPr>
            <a:picLocks noChangeAspect="1"/>
          </p:cNvPicPr>
          <p:nvPr/>
        </p:nvPicPr>
        <p:blipFill>
          <a:blip r:embed="rId1"/>
          <a:stretch>
            <a:fillRect/>
          </a:stretch>
        </p:blipFill>
        <p:spPr>
          <a:xfrm>
            <a:off x="658368" y="2450592"/>
            <a:ext cx="310896" cy="310896"/>
          </a:xfrm>
          <a:prstGeom prst="rect">
            <a:avLst/>
          </a:prstGeom>
        </p:spPr>
      </p:pic>
      <p:sp>
        <p:nvSpPr>
          <p:cNvPr id="11" name="Text 8"/>
          <p:cNvSpPr txBox="1"/>
          <p:nvPr/>
        </p:nvSpPr>
        <p:spPr>
          <a:xfrm>
            <a:off x="3474720" y="2423160"/>
            <a:ext cx="548640" cy="292608"/>
          </a:xfrm>
          <a:prstGeom prst="rect">
            <a:avLst/>
          </a:prstGeom>
          <a:noFill/>
          <a:ln/>
        </p:spPr>
        <p:txBody>
          <a:bodyPr wrap="square" lIns="0" tIns="0" rIns="0" bIns="0" rtlCol="0" anchor="ctr"/>
          <a:lstStyle/>
          <a:p>
            <a:pPr algn="r" indent="0" marL="0">
              <a:buNone/>
            </a:pPr>
            <a:r>
              <a:rPr lang="en-US" sz="1400" b="1" dirty="0">
                <a:solidFill>
                  <a:srgbClr val="5C6066"/>
                </a:solidFill>
                <a:latin typeface="Consolas" pitchFamily="34" charset="0"/>
                <a:ea typeface="Consolas" pitchFamily="34" charset="-122"/>
                <a:cs typeface="Consolas" pitchFamily="34" charset="-120"/>
              </a:rPr>
              <a:t>01</a:t>
            </a:r>
            <a:endParaRPr lang="en-US" sz="1400" dirty="0"/>
          </a:p>
        </p:txBody>
      </p:sp>
      <p:sp>
        <p:nvSpPr>
          <p:cNvPr id="12" name="Text 9"/>
          <p:cNvSpPr txBox="1"/>
          <p:nvPr/>
        </p:nvSpPr>
        <p:spPr>
          <a:xfrm>
            <a:off x="658368" y="2852928"/>
            <a:ext cx="3300984" cy="384048"/>
          </a:xfrm>
          <a:prstGeom prst="rect">
            <a:avLst/>
          </a:prstGeom>
          <a:noFill/>
          <a:ln/>
        </p:spPr>
        <p:txBody>
          <a:bodyPr wrap="square" lIns="0" tIns="0" rIns="0" bIns="0" rtlCol="0" anchor="ctr"/>
          <a:lstStyle/>
          <a:p>
            <a:pPr indent="0" marL="0">
              <a:lnSpc>
                <a:spcPct val="102000"/>
              </a:lnSpc>
              <a:buNone/>
            </a:pPr>
            <a:r>
              <a:rPr lang="en-US" sz="1200" b="1" dirty="0">
                <a:solidFill>
                  <a:srgbClr val="F5F5F2"/>
                </a:solidFill>
                <a:latin typeface="Calibri" pitchFamily="34" charset="0"/>
                <a:ea typeface="Calibri" pitchFamily="34" charset="-122"/>
                <a:cs typeface="Calibri" pitchFamily="34" charset="-120"/>
              </a:rPr>
              <a:t>Build a real compiler</a:t>
            </a:r>
            <a:endParaRPr lang="en-US" sz="1200" dirty="0"/>
          </a:p>
        </p:txBody>
      </p:sp>
      <p:sp>
        <p:nvSpPr>
          <p:cNvPr id="13" name="Text 10"/>
          <p:cNvSpPr txBox="1"/>
          <p:nvPr/>
        </p:nvSpPr>
        <p:spPr>
          <a:xfrm>
            <a:off x="658368" y="3246120"/>
            <a:ext cx="3300984" cy="777240"/>
          </a:xfrm>
          <a:prstGeom prst="rect">
            <a:avLst/>
          </a:prstGeom>
          <a:noFill/>
          <a:ln/>
        </p:spPr>
        <p:txBody>
          <a:bodyPr wrap="square" lIns="0" tIns="0" rIns="0" bIns="0" rtlCol="0" anchor="ctr"/>
          <a:lstStyle/>
          <a:p>
            <a:pPr indent="0" marL="0">
              <a:lnSpc>
                <a:spcPct val="118000"/>
              </a:lnSpc>
              <a:buNone/>
            </a:pPr>
            <a:r>
              <a:rPr lang="en-US" sz="920" dirty="0">
                <a:solidFill>
                  <a:srgbClr val="9AA0A6"/>
                </a:solidFill>
                <a:latin typeface="Calibri" pitchFamily="34" charset="0"/>
                <a:ea typeface="Calibri" pitchFamily="34" charset="-122"/>
                <a:cs typeface="Calibri" pitchFamily="34" charset="-120"/>
              </a:rPr>
              <a:t>Lexer, parser, deterministic codegen for a language built from scratch: TinyLang to C++.</a:t>
            </a:r>
            <a:endParaRPr lang="en-US" sz="920" dirty="0"/>
          </a:p>
        </p:txBody>
      </p:sp>
      <p:sp>
        <p:nvSpPr>
          <p:cNvPr id="14" name="Shape 11"/>
          <p:cNvSpPr/>
          <p:nvPr/>
        </p:nvSpPr>
        <p:spPr>
          <a:xfrm>
            <a:off x="4325112" y="2286000"/>
            <a:ext cx="3703320" cy="1874520"/>
          </a:xfrm>
          <a:prstGeom prst="rect">
            <a:avLst/>
          </a:prstGeom>
          <a:solidFill>
            <a:srgbClr val="141418"/>
          </a:solidFill>
          <a:ln w="12700">
            <a:solidFill>
              <a:srgbClr val="2A2A30"/>
            </a:solidFill>
            <a:prstDash val="solid"/>
          </a:ln>
        </p:spPr>
      </p:sp>
      <p:pic>
        <p:nvPicPr>
          <p:cNvPr id="15" name="Image 1" descr="icons/bug_F5F5F2.png">    </p:cNvPr>
          <p:cNvPicPr>
            <a:picLocks noChangeAspect="1"/>
          </p:cNvPicPr>
          <p:nvPr/>
        </p:nvPicPr>
        <p:blipFill>
          <a:blip r:embed="rId2"/>
          <a:stretch>
            <a:fillRect/>
          </a:stretch>
        </p:blipFill>
        <p:spPr>
          <a:xfrm>
            <a:off x="4526280" y="2450592"/>
            <a:ext cx="310896" cy="310896"/>
          </a:xfrm>
          <a:prstGeom prst="rect">
            <a:avLst/>
          </a:prstGeom>
        </p:spPr>
      </p:pic>
      <p:sp>
        <p:nvSpPr>
          <p:cNvPr id="16" name="Text 12"/>
          <p:cNvSpPr txBox="1"/>
          <p:nvPr/>
        </p:nvSpPr>
        <p:spPr>
          <a:xfrm>
            <a:off x="7342632" y="2423160"/>
            <a:ext cx="548640" cy="292608"/>
          </a:xfrm>
          <a:prstGeom prst="rect">
            <a:avLst/>
          </a:prstGeom>
          <a:noFill/>
          <a:ln/>
        </p:spPr>
        <p:txBody>
          <a:bodyPr wrap="square" lIns="0" tIns="0" rIns="0" bIns="0" rtlCol="0" anchor="ctr"/>
          <a:lstStyle/>
          <a:p>
            <a:pPr algn="r" indent="0" marL="0">
              <a:buNone/>
            </a:pPr>
            <a:r>
              <a:rPr lang="en-US" sz="1400" b="1" dirty="0">
                <a:solidFill>
                  <a:srgbClr val="5C6066"/>
                </a:solidFill>
                <a:latin typeface="Consolas" pitchFamily="34" charset="0"/>
                <a:ea typeface="Consolas" pitchFamily="34" charset="-122"/>
                <a:cs typeface="Consolas" pitchFamily="34" charset="-120"/>
              </a:rPr>
              <a:t>02</a:t>
            </a:r>
            <a:endParaRPr lang="en-US" sz="1400" dirty="0"/>
          </a:p>
        </p:txBody>
      </p:sp>
      <p:sp>
        <p:nvSpPr>
          <p:cNvPr id="17" name="Text 13"/>
          <p:cNvSpPr txBox="1"/>
          <p:nvPr/>
        </p:nvSpPr>
        <p:spPr>
          <a:xfrm>
            <a:off x="4526280" y="2852928"/>
            <a:ext cx="3300984" cy="384048"/>
          </a:xfrm>
          <a:prstGeom prst="rect">
            <a:avLst/>
          </a:prstGeom>
          <a:noFill/>
          <a:ln/>
        </p:spPr>
        <p:txBody>
          <a:bodyPr wrap="square" lIns="0" tIns="0" rIns="0" bIns="0" rtlCol="0" anchor="ctr"/>
          <a:lstStyle/>
          <a:p>
            <a:pPr indent="0" marL="0">
              <a:lnSpc>
                <a:spcPct val="102000"/>
              </a:lnSpc>
              <a:buNone/>
            </a:pPr>
            <a:r>
              <a:rPr lang="en-US" sz="1200" b="1" dirty="0">
                <a:solidFill>
                  <a:srgbClr val="F5F5F2"/>
                </a:solidFill>
                <a:latin typeface="Calibri" pitchFamily="34" charset="0"/>
                <a:ea typeface="Calibri" pitchFamily="34" charset="-122"/>
                <a:cs typeface="Calibri" pitchFamily="34" charset="-120"/>
              </a:rPr>
              <a:t>Prove targeted injection</a:t>
            </a:r>
            <a:endParaRPr lang="en-US" sz="1200" dirty="0"/>
          </a:p>
        </p:txBody>
      </p:sp>
      <p:sp>
        <p:nvSpPr>
          <p:cNvPr id="18" name="Text 14"/>
          <p:cNvSpPr txBox="1"/>
          <p:nvPr/>
        </p:nvSpPr>
        <p:spPr>
          <a:xfrm>
            <a:off x="4526280" y="3246120"/>
            <a:ext cx="3300984" cy="777240"/>
          </a:xfrm>
          <a:prstGeom prst="rect">
            <a:avLst/>
          </a:prstGeom>
          <a:noFill/>
          <a:ln/>
        </p:spPr>
        <p:txBody>
          <a:bodyPr wrap="square" lIns="0" tIns="0" rIns="0" bIns="0" rtlCol="0" anchor="ctr"/>
          <a:lstStyle/>
          <a:p>
            <a:pPr indent="0" marL="0">
              <a:lnSpc>
                <a:spcPct val="118000"/>
              </a:lnSpc>
              <a:buNone/>
            </a:pPr>
            <a:r>
              <a:rPr lang="en-US" sz="920" dirty="0">
                <a:solidFill>
                  <a:srgbClr val="9AA0A6"/>
                </a:solidFill>
                <a:latin typeface="Calibri" pitchFamily="34" charset="0"/>
                <a:ea typeface="Calibri" pitchFamily="34" charset="-122"/>
                <a:cs typeface="Calibri" pitchFamily="34" charset="-120"/>
              </a:rPr>
              <a:t>Insert unrequested logic into output, scoped only to its target - and prove the scoping.</a:t>
            </a:r>
            <a:endParaRPr lang="en-US" sz="920" dirty="0"/>
          </a:p>
        </p:txBody>
      </p:sp>
      <p:sp>
        <p:nvSpPr>
          <p:cNvPr id="19" name="Shape 15"/>
          <p:cNvSpPr/>
          <p:nvPr/>
        </p:nvSpPr>
        <p:spPr>
          <a:xfrm>
            <a:off x="8193024" y="2286000"/>
            <a:ext cx="3703320" cy="1874520"/>
          </a:xfrm>
          <a:prstGeom prst="rect">
            <a:avLst/>
          </a:prstGeom>
          <a:solidFill>
            <a:srgbClr val="141418"/>
          </a:solidFill>
          <a:ln w="12700">
            <a:solidFill>
              <a:srgbClr val="2A2A30"/>
            </a:solidFill>
            <a:prstDash val="solid"/>
          </a:ln>
        </p:spPr>
      </p:sp>
      <p:pic>
        <p:nvPicPr>
          <p:cNvPr id="20" name="Image 2" descr="icons/infinity_F5F5F2.png">    </p:cNvPr>
          <p:cNvPicPr>
            <a:picLocks noChangeAspect="1"/>
          </p:cNvPicPr>
          <p:nvPr/>
        </p:nvPicPr>
        <p:blipFill>
          <a:blip r:embed="rId3"/>
          <a:stretch>
            <a:fillRect/>
          </a:stretch>
        </p:blipFill>
        <p:spPr>
          <a:xfrm>
            <a:off x="8394192" y="2450592"/>
            <a:ext cx="310896" cy="310896"/>
          </a:xfrm>
          <a:prstGeom prst="rect">
            <a:avLst/>
          </a:prstGeom>
        </p:spPr>
      </p:pic>
      <p:sp>
        <p:nvSpPr>
          <p:cNvPr id="21" name="Text 16"/>
          <p:cNvSpPr txBox="1"/>
          <p:nvPr/>
        </p:nvSpPr>
        <p:spPr>
          <a:xfrm>
            <a:off x="11210544" y="2423160"/>
            <a:ext cx="548640" cy="292608"/>
          </a:xfrm>
          <a:prstGeom prst="rect">
            <a:avLst/>
          </a:prstGeom>
          <a:noFill/>
          <a:ln/>
        </p:spPr>
        <p:txBody>
          <a:bodyPr wrap="square" lIns="0" tIns="0" rIns="0" bIns="0" rtlCol="0" anchor="ctr"/>
          <a:lstStyle/>
          <a:p>
            <a:pPr algn="r" indent="0" marL="0">
              <a:buNone/>
            </a:pPr>
            <a:r>
              <a:rPr lang="en-US" sz="1400" b="1" dirty="0">
                <a:solidFill>
                  <a:srgbClr val="5C6066"/>
                </a:solidFill>
                <a:latin typeface="Consolas" pitchFamily="34" charset="0"/>
                <a:ea typeface="Consolas" pitchFamily="34" charset="-122"/>
                <a:cs typeface="Consolas" pitchFamily="34" charset="-120"/>
              </a:rPr>
              <a:t>03</a:t>
            </a:r>
            <a:endParaRPr lang="en-US" sz="1400" dirty="0"/>
          </a:p>
        </p:txBody>
      </p:sp>
      <p:sp>
        <p:nvSpPr>
          <p:cNvPr id="22" name="Text 17"/>
          <p:cNvSpPr txBox="1"/>
          <p:nvPr/>
        </p:nvSpPr>
        <p:spPr>
          <a:xfrm>
            <a:off x="8394192" y="2852928"/>
            <a:ext cx="3300984" cy="384048"/>
          </a:xfrm>
          <a:prstGeom prst="rect">
            <a:avLst/>
          </a:prstGeom>
          <a:noFill/>
          <a:ln/>
        </p:spPr>
        <p:txBody>
          <a:bodyPr wrap="square" lIns="0" tIns="0" rIns="0" bIns="0" rtlCol="0" anchor="ctr"/>
          <a:lstStyle/>
          <a:p>
            <a:pPr indent="0" marL="0">
              <a:lnSpc>
                <a:spcPct val="102000"/>
              </a:lnSpc>
              <a:buNone/>
            </a:pPr>
            <a:r>
              <a:rPr lang="en-US" sz="1200" b="1" dirty="0">
                <a:solidFill>
                  <a:srgbClr val="F5F5F2"/>
                </a:solidFill>
                <a:latin typeface="Calibri" pitchFamily="34" charset="0"/>
                <a:ea typeface="Calibri" pitchFamily="34" charset="-122"/>
                <a:cs typeface="Calibri" pitchFamily="34" charset="-120"/>
              </a:rPr>
              <a:t>Build a working quine</a:t>
            </a:r>
            <a:endParaRPr lang="en-US" sz="1200" dirty="0"/>
          </a:p>
        </p:txBody>
      </p:sp>
      <p:sp>
        <p:nvSpPr>
          <p:cNvPr id="23" name="Text 18"/>
          <p:cNvSpPr txBox="1"/>
          <p:nvPr/>
        </p:nvSpPr>
        <p:spPr>
          <a:xfrm>
            <a:off x="8394192" y="3246120"/>
            <a:ext cx="3300984" cy="777240"/>
          </a:xfrm>
          <a:prstGeom prst="rect">
            <a:avLst/>
          </a:prstGeom>
          <a:noFill/>
          <a:ln/>
        </p:spPr>
        <p:txBody>
          <a:bodyPr wrap="square" lIns="0" tIns="0" rIns="0" bIns="0" rtlCol="0" anchor="ctr"/>
          <a:lstStyle/>
          <a:p>
            <a:pPr indent="0" marL="0">
              <a:lnSpc>
                <a:spcPct val="118000"/>
              </a:lnSpc>
              <a:buNone/>
            </a:pPr>
            <a:r>
              <a:rPr lang="en-US" sz="920" dirty="0">
                <a:solidFill>
                  <a:srgbClr val="9AA0A6"/>
                </a:solidFill>
                <a:latin typeface="Calibri" pitchFamily="34" charset="0"/>
                <a:ea typeface="Calibri" pitchFamily="34" charset="-122"/>
                <a:cs typeface="Calibri" pitchFamily="34" charset="-120"/>
              </a:rPr>
              <a:t>Solve C++'s raw-string delimiter collision. A program that prints its exact self.</a:t>
            </a:r>
            <a:endParaRPr lang="en-US" sz="920" dirty="0"/>
          </a:p>
        </p:txBody>
      </p:sp>
      <p:sp>
        <p:nvSpPr>
          <p:cNvPr id="24" name="Shape 19"/>
          <p:cNvSpPr/>
          <p:nvPr/>
        </p:nvSpPr>
        <p:spPr>
          <a:xfrm>
            <a:off x="457200" y="4325112"/>
            <a:ext cx="3703320" cy="1874520"/>
          </a:xfrm>
          <a:prstGeom prst="rect">
            <a:avLst/>
          </a:prstGeom>
          <a:solidFill>
            <a:srgbClr val="141418"/>
          </a:solidFill>
          <a:ln w="12700">
            <a:solidFill>
              <a:srgbClr val="2A2A30"/>
            </a:solidFill>
            <a:prstDash val="solid"/>
          </a:ln>
        </p:spPr>
      </p:sp>
      <p:pic>
        <p:nvPicPr>
          <p:cNvPr id="25" name="Image 3" descr="icons/branch_F5F5F2.png">    </p:cNvPr>
          <p:cNvPicPr>
            <a:picLocks noChangeAspect="1"/>
          </p:cNvPicPr>
          <p:nvPr/>
        </p:nvPicPr>
        <p:blipFill>
          <a:blip r:embed="rId4"/>
          <a:stretch>
            <a:fillRect/>
          </a:stretch>
        </p:blipFill>
        <p:spPr>
          <a:xfrm>
            <a:off x="658368" y="4489704"/>
            <a:ext cx="310896" cy="310896"/>
          </a:xfrm>
          <a:prstGeom prst="rect">
            <a:avLst/>
          </a:prstGeom>
        </p:spPr>
      </p:pic>
      <p:sp>
        <p:nvSpPr>
          <p:cNvPr id="26" name="Text 20"/>
          <p:cNvSpPr txBox="1"/>
          <p:nvPr/>
        </p:nvSpPr>
        <p:spPr>
          <a:xfrm>
            <a:off x="3474720" y="4462272"/>
            <a:ext cx="548640" cy="292608"/>
          </a:xfrm>
          <a:prstGeom prst="rect">
            <a:avLst/>
          </a:prstGeom>
          <a:noFill/>
          <a:ln/>
        </p:spPr>
        <p:txBody>
          <a:bodyPr wrap="square" lIns="0" tIns="0" rIns="0" bIns="0" rtlCol="0" anchor="ctr"/>
          <a:lstStyle/>
          <a:p>
            <a:pPr algn="r" indent="0" marL="0">
              <a:buNone/>
            </a:pPr>
            <a:r>
              <a:rPr lang="en-US" sz="1400" b="1" dirty="0">
                <a:solidFill>
                  <a:srgbClr val="5C6066"/>
                </a:solidFill>
                <a:latin typeface="Consolas" pitchFamily="34" charset="0"/>
                <a:ea typeface="Consolas" pitchFamily="34" charset="-122"/>
                <a:cs typeface="Consolas" pitchFamily="34" charset="-120"/>
              </a:rPr>
              <a:t>04</a:t>
            </a:r>
            <a:endParaRPr lang="en-US" sz="1400" dirty="0"/>
          </a:p>
        </p:txBody>
      </p:sp>
      <p:sp>
        <p:nvSpPr>
          <p:cNvPr id="27" name="Text 21"/>
          <p:cNvSpPr txBox="1"/>
          <p:nvPr/>
        </p:nvSpPr>
        <p:spPr>
          <a:xfrm>
            <a:off x="658368" y="4892040"/>
            <a:ext cx="3300984" cy="384048"/>
          </a:xfrm>
          <a:prstGeom prst="rect">
            <a:avLst/>
          </a:prstGeom>
          <a:noFill/>
          <a:ln/>
        </p:spPr>
        <p:txBody>
          <a:bodyPr wrap="square" lIns="0" tIns="0" rIns="0" bIns="0" rtlCol="0" anchor="ctr"/>
          <a:lstStyle/>
          <a:p>
            <a:pPr indent="0" marL="0">
              <a:lnSpc>
                <a:spcPct val="102000"/>
              </a:lnSpc>
              <a:buNone/>
            </a:pPr>
            <a:r>
              <a:rPr lang="en-US" sz="1200" b="1" dirty="0">
                <a:solidFill>
                  <a:srgbClr val="F5F5F2"/>
                </a:solidFill>
                <a:latin typeface="Calibri" pitchFamily="34" charset="0"/>
                <a:ea typeface="Calibri" pitchFamily="34" charset="-122"/>
                <a:cs typeface="Calibri" pitchFamily="34" charset="-120"/>
              </a:rPr>
              <a:t>Achieve self-replication</a:t>
            </a:r>
            <a:endParaRPr lang="en-US" sz="1200" dirty="0"/>
          </a:p>
        </p:txBody>
      </p:sp>
      <p:sp>
        <p:nvSpPr>
          <p:cNvPr id="28" name="Text 22"/>
          <p:cNvSpPr txBox="1"/>
          <p:nvPr/>
        </p:nvSpPr>
        <p:spPr>
          <a:xfrm>
            <a:off x="658368" y="5285232"/>
            <a:ext cx="3300984" cy="777240"/>
          </a:xfrm>
          <a:prstGeom prst="rect">
            <a:avLst/>
          </a:prstGeom>
          <a:noFill/>
          <a:ln/>
        </p:spPr>
        <p:txBody>
          <a:bodyPr wrap="square" lIns="0" tIns="0" rIns="0" bIns="0" rtlCol="0" anchor="ctr"/>
          <a:lstStyle/>
          <a:p>
            <a:pPr indent="0" marL="0">
              <a:lnSpc>
                <a:spcPct val="118000"/>
              </a:lnSpc>
              <a:buNone/>
            </a:pPr>
            <a:r>
              <a:rPr lang="en-US" sz="920" dirty="0">
                <a:solidFill>
                  <a:srgbClr val="9AA0A6"/>
                </a:solidFill>
                <a:latin typeface="Calibri" pitchFamily="34" charset="0"/>
                <a:ea typeface="Calibri" pitchFamily="34" charset="-122"/>
                <a:cs typeface="Calibri" pitchFamily="34" charset="-120"/>
              </a:rPr>
              <a:t>Fuse injection and quine. The compiler reinfects every fresh copy of itself.</a:t>
            </a:r>
            <a:endParaRPr lang="en-US" sz="920" dirty="0"/>
          </a:p>
        </p:txBody>
      </p:sp>
      <p:sp>
        <p:nvSpPr>
          <p:cNvPr id="29" name="Shape 23"/>
          <p:cNvSpPr/>
          <p:nvPr/>
        </p:nvSpPr>
        <p:spPr>
          <a:xfrm>
            <a:off x="4325112" y="4325112"/>
            <a:ext cx="3703320" cy="1874520"/>
          </a:xfrm>
          <a:prstGeom prst="rect">
            <a:avLst/>
          </a:prstGeom>
          <a:solidFill>
            <a:srgbClr val="141418"/>
          </a:solidFill>
          <a:ln w="12700">
            <a:solidFill>
              <a:srgbClr val="2A2A30"/>
            </a:solidFill>
            <a:prstDash val="solid"/>
          </a:ln>
        </p:spPr>
      </p:sp>
      <p:pic>
        <p:nvPicPr>
          <p:cNvPr id="30" name="Image 4" descr="icons/search_F5F5F2.png">    </p:cNvPr>
          <p:cNvPicPr>
            <a:picLocks noChangeAspect="1"/>
          </p:cNvPicPr>
          <p:nvPr/>
        </p:nvPicPr>
        <p:blipFill>
          <a:blip r:embed="rId5"/>
          <a:stretch>
            <a:fillRect/>
          </a:stretch>
        </p:blipFill>
        <p:spPr>
          <a:xfrm>
            <a:off x="4526280" y="4489704"/>
            <a:ext cx="310896" cy="310896"/>
          </a:xfrm>
          <a:prstGeom prst="rect">
            <a:avLst/>
          </a:prstGeom>
        </p:spPr>
      </p:pic>
      <p:sp>
        <p:nvSpPr>
          <p:cNvPr id="31" name="Text 24"/>
          <p:cNvSpPr txBox="1"/>
          <p:nvPr/>
        </p:nvSpPr>
        <p:spPr>
          <a:xfrm>
            <a:off x="7342632" y="4462272"/>
            <a:ext cx="548640" cy="292608"/>
          </a:xfrm>
          <a:prstGeom prst="rect">
            <a:avLst/>
          </a:prstGeom>
          <a:noFill/>
          <a:ln/>
        </p:spPr>
        <p:txBody>
          <a:bodyPr wrap="square" lIns="0" tIns="0" rIns="0" bIns="0" rtlCol="0" anchor="ctr"/>
          <a:lstStyle/>
          <a:p>
            <a:pPr algn="r" indent="0" marL="0">
              <a:buNone/>
            </a:pPr>
            <a:r>
              <a:rPr lang="en-US" sz="1400" b="1" dirty="0">
                <a:solidFill>
                  <a:srgbClr val="5C6066"/>
                </a:solidFill>
                <a:latin typeface="Consolas" pitchFamily="34" charset="0"/>
                <a:ea typeface="Consolas" pitchFamily="34" charset="-122"/>
                <a:cs typeface="Consolas" pitchFamily="34" charset="-120"/>
              </a:rPr>
              <a:t>05</a:t>
            </a:r>
            <a:endParaRPr lang="en-US" sz="1400" dirty="0"/>
          </a:p>
        </p:txBody>
      </p:sp>
      <p:sp>
        <p:nvSpPr>
          <p:cNvPr id="32" name="Text 25"/>
          <p:cNvSpPr txBox="1"/>
          <p:nvPr/>
        </p:nvSpPr>
        <p:spPr>
          <a:xfrm>
            <a:off x="4526280" y="4892040"/>
            <a:ext cx="3300984" cy="384048"/>
          </a:xfrm>
          <a:prstGeom prst="rect">
            <a:avLst/>
          </a:prstGeom>
          <a:noFill/>
          <a:ln/>
        </p:spPr>
        <p:txBody>
          <a:bodyPr wrap="square" lIns="0" tIns="0" rIns="0" bIns="0" rtlCol="0" anchor="ctr"/>
          <a:lstStyle/>
          <a:p>
            <a:pPr indent="0" marL="0">
              <a:lnSpc>
                <a:spcPct val="102000"/>
              </a:lnSpc>
              <a:buNone/>
            </a:pPr>
            <a:r>
              <a:rPr lang="en-US" sz="1200" b="1" dirty="0">
                <a:solidFill>
                  <a:srgbClr val="F5F5F2"/>
                </a:solidFill>
                <a:latin typeface="Calibri" pitchFamily="34" charset="0"/>
                <a:ea typeface="Calibri" pitchFamily="34" charset="-122"/>
                <a:cs typeface="Calibri" pitchFamily="34" charset="-120"/>
              </a:rPr>
              <a:t>Verify the defense</a:t>
            </a:r>
            <a:endParaRPr lang="en-US" sz="1200" dirty="0"/>
          </a:p>
        </p:txBody>
      </p:sp>
      <p:sp>
        <p:nvSpPr>
          <p:cNvPr id="33" name="Text 26"/>
          <p:cNvSpPr txBox="1"/>
          <p:nvPr/>
        </p:nvSpPr>
        <p:spPr>
          <a:xfrm>
            <a:off x="4526280" y="5285232"/>
            <a:ext cx="3300984" cy="777240"/>
          </a:xfrm>
          <a:prstGeom prst="rect">
            <a:avLst/>
          </a:prstGeom>
          <a:noFill/>
          <a:ln/>
        </p:spPr>
        <p:txBody>
          <a:bodyPr wrap="square" lIns="0" tIns="0" rIns="0" bIns="0" rtlCol="0" anchor="ctr"/>
          <a:lstStyle/>
          <a:p>
            <a:pPr indent="0" marL="0">
              <a:lnSpc>
                <a:spcPct val="118000"/>
              </a:lnSpc>
              <a:buNone/>
            </a:pPr>
            <a:r>
              <a:rPr lang="en-US" sz="920" dirty="0">
                <a:solidFill>
                  <a:srgbClr val="9AA0A6"/>
                </a:solidFill>
                <a:latin typeface="Calibri" pitchFamily="34" charset="0"/>
                <a:ea typeface="Calibri" pitchFamily="34" charset="-122"/>
                <a:cs typeface="Calibri" pitchFamily="34" charset="-120"/>
              </a:rPr>
              <a:t>Diverse Double Compiling: a real alert on infected code, a real pass on clean code.</a:t>
            </a:r>
            <a:endParaRPr lang="en-US" sz="920" dirty="0"/>
          </a:p>
        </p:txBody>
      </p:sp>
      <p:sp>
        <p:nvSpPr>
          <p:cNvPr id="34" name="Shape 27"/>
          <p:cNvSpPr/>
          <p:nvPr/>
        </p:nvSpPr>
        <p:spPr>
          <a:xfrm>
            <a:off x="8193024" y="4325112"/>
            <a:ext cx="3703320" cy="1874520"/>
          </a:xfrm>
          <a:prstGeom prst="rect">
            <a:avLst/>
          </a:prstGeom>
          <a:solidFill>
            <a:srgbClr val="1A1013"/>
          </a:solidFill>
          <a:ln w="12700">
            <a:solidFill>
              <a:srgbClr val="FF3B30"/>
            </a:solidFill>
            <a:prstDash val="solid"/>
          </a:ln>
        </p:spPr>
      </p:sp>
      <p:sp>
        <p:nvSpPr>
          <p:cNvPr id="35" name="Shape 28"/>
          <p:cNvSpPr/>
          <p:nvPr/>
        </p:nvSpPr>
        <p:spPr>
          <a:xfrm>
            <a:off x="8193024" y="4325112"/>
            <a:ext cx="54864" cy="1874520"/>
          </a:xfrm>
          <a:prstGeom prst="rect">
            <a:avLst/>
          </a:prstGeom>
          <a:solidFill>
            <a:srgbClr val="FF3B30"/>
          </a:solidFill>
          <a:ln/>
        </p:spPr>
      </p:sp>
      <p:pic>
        <p:nvPicPr>
          <p:cNvPr id="36" name="Image 5" descr="icons/flask_FF3B30.png">    </p:cNvPr>
          <p:cNvPicPr>
            <a:picLocks noChangeAspect="1"/>
          </p:cNvPicPr>
          <p:nvPr/>
        </p:nvPicPr>
        <p:blipFill>
          <a:blip r:embed="rId6"/>
          <a:stretch>
            <a:fillRect/>
          </a:stretch>
        </p:blipFill>
        <p:spPr>
          <a:xfrm>
            <a:off x="8394192" y="4489704"/>
            <a:ext cx="310896" cy="310896"/>
          </a:xfrm>
          <a:prstGeom prst="rect">
            <a:avLst/>
          </a:prstGeom>
        </p:spPr>
      </p:pic>
      <p:sp>
        <p:nvSpPr>
          <p:cNvPr id="37" name="Text 29"/>
          <p:cNvSpPr txBox="1"/>
          <p:nvPr/>
        </p:nvSpPr>
        <p:spPr>
          <a:xfrm>
            <a:off x="11210544" y="4462272"/>
            <a:ext cx="548640" cy="292608"/>
          </a:xfrm>
          <a:prstGeom prst="rect">
            <a:avLst/>
          </a:prstGeom>
          <a:noFill/>
          <a:ln/>
        </p:spPr>
        <p:txBody>
          <a:bodyPr wrap="square" lIns="0" tIns="0" rIns="0" bIns="0" rtlCol="0" anchor="ctr"/>
          <a:lstStyle/>
          <a:p>
            <a:pPr algn="r" indent="0" marL="0">
              <a:buNone/>
            </a:pPr>
            <a:r>
              <a:rPr lang="en-US" sz="1400" b="1" dirty="0">
                <a:solidFill>
                  <a:srgbClr val="5C6066"/>
                </a:solidFill>
                <a:latin typeface="Consolas" pitchFamily="34" charset="0"/>
                <a:ea typeface="Consolas" pitchFamily="34" charset="-122"/>
                <a:cs typeface="Consolas" pitchFamily="34" charset="-120"/>
              </a:rPr>
              <a:t>06</a:t>
            </a:r>
            <a:endParaRPr lang="en-US" sz="1400" dirty="0"/>
          </a:p>
        </p:txBody>
      </p:sp>
      <p:sp>
        <p:nvSpPr>
          <p:cNvPr id="38" name="Text 30"/>
          <p:cNvSpPr txBox="1"/>
          <p:nvPr/>
        </p:nvSpPr>
        <p:spPr>
          <a:xfrm>
            <a:off x="8394192" y="4892040"/>
            <a:ext cx="3300984" cy="384048"/>
          </a:xfrm>
          <a:prstGeom prst="rect">
            <a:avLst/>
          </a:prstGeom>
          <a:noFill/>
          <a:ln/>
        </p:spPr>
        <p:txBody>
          <a:bodyPr wrap="square" lIns="0" tIns="0" rIns="0" bIns="0" rtlCol="0" anchor="ctr"/>
          <a:lstStyle/>
          <a:p>
            <a:pPr indent="0" marL="0">
              <a:lnSpc>
                <a:spcPct val="102000"/>
              </a:lnSpc>
              <a:buNone/>
            </a:pPr>
            <a:r>
              <a:rPr lang="en-US" sz="1200" b="1" dirty="0">
                <a:solidFill>
                  <a:srgbClr val="F5F5F2"/>
                </a:solidFill>
                <a:latin typeface="Calibri" pitchFamily="34" charset="0"/>
                <a:ea typeface="Calibri" pitchFamily="34" charset="-122"/>
                <a:cs typeface="Calibri" pitchFamily="34" charset="-120"/>
              </a:rPr>
              <a:t>Formalise new detection</a:t>
            </a:r>
            <a:endParaRPr lang="en-US" sz="1200" dirty="0"/>
          </a:p>
        </p:txBody>
      </p:sp>
      <p:sp>
        <p:nvSpPr>
          <p:cNvPr id="39" name="Text 31"/>
          <p:cNvSpPr txBox="1"/>
          <p:nvPr/>
        </p:nvSpPr>
        <p:spPr>
          <a:xfrm>
            <a:off x="8394192" y="5285232"/>
            <a:ext cx="3300984" cy="777240"/>
          </a:xfrm>
          <a:prstGeom prst="rect">
            <a:avLst/>
          </a:prstGeom>
          <a:noFill/>
          <a:ln/>
        </p:spPr>
        <p:txBody>
          <a:bodyPr wrap="square" lIns="0" tIns="0" rIns="0" bIns="0" rtlCol="0" anchor="ctr"/>
          <a:lstStyle/>
          <a:p>
            <a:pPr indent="0" marL="0">
              <a:lnSpc>
                <a:spcPct val="118000"/>
              </a:lnSpc>
              <a:buNone/>
            </a:pPr>
            <a:r>
              <a:rPr lang="en-US" sz="920" dirty="0">
                <a:solidFill>
                  <a:srgbClr val="9AA0A6"/>
                </a:solidFill>
                <a:latin typeface="Calibri" pitchFamily="34" charset="0"/>
                <a:ea typeface="Calibri" pitchFamily="34" charset="-122"/>
                <a:cs typeface="Calibri" pitchFamily="34" charset="-120"/>
              </a:rPr>
              <a:t>Independent detectors, a live evasion contest, an original method with a proof.</a:t>
            </a:r>
            <a:endParaRPr lang="en-US" sz="9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0" y="896112"/>
            <a:ext cx="12188952" cy="0"/>
          </a:xfrm>
          <a:prstGeom prst="line">
            <a:avLst/>
          </a:prstGeom>
          <a:noFill/>
          <a:ln w="12700">
            <a:solidFill>
              <a:srgbClr val="2A2A30"/>
            </a:solidFill>
            <a:prstDash val="solid"/>
          </a:ln>
        </p:spPr>
      </p:sp>
      <p:sp>
        <p:nvSpPr>
          <p:cNvPr id="3" name="Text 1"/>
          <p:cNvSpPr txBox="1"/>
          <p:nvPr/>
        </p:nvSpPr>
        <p:spPr>
          <a:xfrm>
            <a:off x="8778240" y="256032"/>
            <a:ext cx="2834640" cy="274320"/>
          </a:xfrm>
          <a:prstGeom prst="rect">
            <a:avLst/>
          </a:prstGeom>
          <a:noFill/>
          <a:ln/>
        </p:spPr>
        <p:txBody>
          <a:bodyPr wrap="square" lIns="0" tIns="0" rIns="0" bIns="0" rtlCol="0" anchor="ctr"/>
          <a:lstStyle/>
          <a:p>
            <a:pPr algn="r" indent="0" marL="0">
              <a:buNone/>
            </a:pPr>
            <a:r>
              <a:rPr lang="en-US" sz="900" spc="100" kern="0" dirty="0">
                <a:solidFill>
                  <a:srgbClr val="5C6066"/>
                </a:solidFill>
                <a:latin typeface="Consolas" pitchFamily="34" charset="0"/>
                <a:ea typeface="Consolas" pitchFamily="34" charset="-122"/>
                <a:cs typeface="Consolas" pitchFamily="34" charset="-120"/>
              </a:rPr>
              <a:t>TRUSTING_TRUST.EXE</a:t>
            </a:r>
            <a:endParaRPr lang="en-US" sz="900" dirty="0"/>
          </a:p>
        </p:txBody>
      </p:sp>
      <p:sp>
        <p:nvSpPr>
          <p:cNvPr id="4" name="Shape 2"/>
          <p:cNvSpPr/>
          <p:nvPr/>
        </p:nvSpPr>
        <p:spPr>
          <a:xfrm>
            <a:off x="0" y="6419088"/>
            <a:ext cx="12188952" cy="0"/>
          </a:xfrm>
          <a:prstGeom prst="line">
            <a:avLst/>
          </a:prstGeom>
          <a:noFill/>
          <a:ln w="12700">
            <a:solidFill>
              <a:srgbClr val="2A2A30"/>
            </a:solidFill>
            <a:prstDash val="solid"/>
          </a:ln>
        </p:spPr>
      </p:sp>
      <p:sp>
        <p:nvSpPr>
          <p:cNvPr id="5" name="Text 3"/>
          <p:cNvSpPr txBox="1"/>
          <p:nvPr/>
        </p:nvSpPr>
        <p:spPr>
          <a:xfrm>
            <a:off x="457200" y="6492240"/>
            <a:ext cx="3657600" cy="256032"/>
          </a:xfrm>
          <a:prstGeom prst="rect">
            <a:avLst/>
          </a:prstGeom>
          <a:noFill/>
          <a:ln/>
        </p:spPr>
        <p:txBody>
          <a:bodyPr wrap="square" lIns="0" tIns="0" rIns="0" bIns="0" rtlCol="0" anchor="ctr"/>
          <a:lstStyle/>
          <a:p>
            <a:pPr indent="0" marL="0">
              <a:buNone/>
            </a:pPr>
            <a:r>
              <a:rPr lang="en-US" sz="850" dirty="0">
                <a:solidFill>
                  <a:srgbClr val="5C6066"/>
                </a:solidFill>
                <a:latin typeface="Consolas" pitchFamily="34" charset="0"/>
                <a:ea typeface="Consolas" pitchFamily="34" charset="-122"/>
                <a:cs typeface="Consolas" pitchFamily="34" charset="-120"/>
              </a:rPr>
              <a:t>root@ttrevisited:~$</a:t>
            </a:r>
            <a:endParaRPr lang="en-US" sz="850" dirty="0"/>
          </a:p>
        </p:txBody>
      </p:sp>
      <p:sp>
        <p:nvSpPr>
          <p:cNvPr id="6" name="Text 4"/>
          <p:cNvSpPr txBox="1"/>
          <p:nvPr/>
        </p:nvSpPr>
        <p:spPr>
          <a:xfrm>
            <a:off x="10424160" y="6492240"/>
            <a:ext cx="1371600" cy="256032"/>
          </a:xfrm>
          <a:prstGeom prst="rect">
            <a:avLst/>
          </a:prstGeom>
          <a:noFill/>
          <a:ln/>
        </p:spPr>
        <p:txBody>
          <a:bodyPr wrap="square" lIns="0" tIns="0" rIns="0" bIns="0" rtlCol="0" anchor="ctr"/>
          <a:lstStyle/>
          <a:p>
            <a:pPr algn="r" indent="0" marL="0">
              <a:buNone/>
            </a:pPr>
            <a:r>
              <a:rPr lang="en-US" sz="900" b="1" dirty="0">
                <a:solidFill>
                  <a:srgbClr val="9AA0A6"/>
                </a:solidFill>
                <a:latin typeface="Consolas" pitchFamily="34" charset="0"/>
                <a:ea typeface="Consolas" pitchFamily="34" charset="-122"/>
                <a:cs typeface="Consolas" pitchFamily="34" charset="-120"/>
              </a:rPr>
              <a:t>[ 04 / 11 ]</a:t>
            </a:r>
            <a:endParaRPr lang="en-US" sz="900" dirty="0"/>
          </a:p>
        </p:txBody>
      </p:sp>
      <p:sp>
        <p:nvSpPr>
          <p:cNvPr id="7" name="Text 5"/>
          <p:cNvSpPr txBox="1"/>
          <p:nvPr/>
        </p:nvSpPr>
        <p:spPr>
          <a:xfrm>
            <a:off x="502920" y="1060704"/>
            <a:ext cx="10058400" cy="292608"/>
          </a:xfrm>
          <a:prstGeom prst="rect">
            <a:avLst/>
          </a:prstGeom>
          <a:noFill/>
          <a:ln/>
        </p:spPr>
        <p:txBody>
          <a:bodyPr wrap="square" lIns="0" tIns="0" rIns="0" bIns="0" rtlCol="0" anchor="ctr"/>
          <a:lstStyle/>
          <a:p>
            <a:pPr indent="0" marL="0">
              <a:buNone/>
            </a:pPr>
            <a:r>
              <a:rPr lang="en-US" sz="1250" b="1" spc="50" kern="0" dirty="0">
                <a:solidFill>
                  <a:srgbClr val="00D97E"/>
                </a:solidFill>
                <a:latin typeface="Consolas" pitchFamily="34" charset="0"/>
                <a:ea typeface="Consolas" pitchFamily="34" charset="-122"/>
                <a:cs typeface="Consolas" pitchFamily="34" charset="-120"/>
              </a:rPr>
              <a:t>&gt;_ </a:t>
            </a:r>
            <a:pPr indent="0" marL="0">
              <a:buNone/>
            </a:pPr>
            <a:r>
              <a:rPr lang="en-US" sz="1250" b="1" spc="50" kern="0" dirty="0">
                <a:solidFill>
                  <a:srgbClr val="9AA0A6"/>
                </a:solidFill>
                <a:latin typeface="Consolas" pitchFamily="34" charset="0"/>
                <a:ea typeface="Consolas" pitchFamily="34" charset="-122"/>
                <a:cs typeface="Consolas" pitchFamily="34" charset="-120"/>
              </a:rPr>
              <a:t>04 // LITERATURE REVIEW // I OF II</a:t>
            </a:r>
            <a:endParaRPr lang="en-US" sz="1250" dirty="0"/>
          </a:p>
        </p:txBody>
      </p:sp>
      <p:sp>
        <p:nvSpPr>
          <p:cNvPr id="8" name="Text 6"/>
          <p:cNvSpPr txBox="1"/>
          <p:nvPr/>
        </p:nvSpPr>
        <p:spPr>
          <a:xfrm>
            <a:off x="502920" y="1408176"/>
            <a:ext cx="11155680" cy="868680"/>
          </a:xfrm>
          <a:prstGeom prst="rect">
            <a:avLst/>
          </a:prstGeom>
          <a:noFill/>
          <a:ln/>
        </p:spPr>
        <p:txBody>
          <a:bodyPr wrap="square" lIns="0" tIns="0" rIns="0" bIns="0" rtlCol="0" anchor="t"/>
          <a:lstStyle/>
          <a:p>
            <a:pPr indent="0" marL="0">
              <a:lnSpc>
                <a:spcPct val="102000"/>
              </a:lnSpc>
              <a:buNone/>
            </a:pPr>
            <a:r>
              <a:rPr lang="en-US" sz="2700" b="1" dirty="0">
                <a:solidFill>
                  <a:srgbClr val="F5F5F2"/>
                </a:solidFill>
                <a:latin typeface="Calibri" pitchFamily="34" charset="0"/>
                <a:ea typeface="Calibri" pitchFamily="34" charset="-122"/>
                <a:cs typeface="Calibri" pitchFamily="34" charset="-120"/>
              </a:rPr>
              <a:t>Fifty years of warnings,</a:t>
            </a:r>
            <a:endParaRPr lang="en-US" sz="2700" dirty="0"/>
          </a:p>
          <a:p>
            <a:pPr indent="0" marL="0">
              <a:lnSpc>
                <a:spcPct val="102000"/>
              </a:lnSpc>
              <a:buNone/>
            </a:pPr>
            <a:r>
              <a:rPr lang="en-US" sz="2700" b="1" dirty="0">
                <a:solidFill>
                  <a:srgbClr val="F5F5F2"/>
                </a:solidFill>
                <a:latin typeface="Calibri" pitchFamily="34" charset="0"/>
                <a:ea typeface="Calibri" pitchFamily="34" charset="-122"/>
                <a:cs typeface="Calibri" pitchFamily="34" charset="-120"/>
              </a:rPr>
              <a:t>one formal proof</a:t>
            </a:r>
            <a:endParaRPr lang="en-US" sz="2700" dirty="0"/>
          </a:p>
        </p:txBody>
      </p:sp>
      <p:sp>
        <p:nvSpPr>
          <p:cNvPr id="9" name="Shape 7"/>
          <p:cNvSpPr/>
          <p:nvPr/>
        </p:nvSpPr>
        <p:spPr>
          <a:xfrm>
            <a:off x="502920" y="2880360"/>
            <a:ext cx="11155680" cy="0"/>
          </a:xfrm>
          <a:prstGeom prst="line">
            <a:avLst/>
          </a:prstGeom>
          <a:noFill/>
          <a:ln w="25400">
            <a:solidFill>
              <a:srgbClr val="2A2A30"/>
            </a:solidFill>
            <a:prstDash val="solid"/>
          </a:ln>
        </p:spPr>
      </p:sp>
      <p:sp>
        <p:nvSpPr>
          <p:cNvPr id="10" name="Shape 8"/>
          <p:cNvSpPr/>
          <p:nvPr/>
        </p:nvSpPr>
        <p:spPr>
          <a:xfrm>
            <a:off x="502920" y="2839212"/>
            <a:ext cx="82296" cy="82296"/>
          </a:xfrm>
          <a:prstGeom prst="rect">
            <a:avLst/>
          </a:prstGeom>
          <a:solidFill>
            <a:srgbClr val="FF3B30"/>
          </a:solidFill>
          <a:ln/>
        </p:spPr>
      </p:sp>
      <p:sp>
        <p:nvSpPr>
          <p:cNvPr id="11" name="Text 9"/>
          <p:cNvSpPr txBox="1"/>
          <p:nvPr/>
        </p:nvSpPr>
        <p:spPr>
          <a:xfrm>
            <a:off x="502920" y="2331720"/>
            <a:ext cx="1828800" cy="365760"/>
          </a:xfrm>
          <a:prstGeom prst="rect">
            <a:avLst/>
          </a:prstGeom>
          <a:noFill/>
          <a:ln/>
        </p:spPr>
        <p:txBody>
          <a:bodyPr wrap="square" lIns="0" tIns="0" rIns="0" bIns="0" rtlCol="0" anchor="ctr"/>
          <a:lstStyle/>
          <a:p>
            <a:pPr indent="0" marL="0">
              <a:buNone/>
            </a:pPr>
            <a:r>
              <a:rPr lang="en-US" sz="1800" b="1" dirty="0">
                <a:solidFill>
                  <a:srgbClr val="F5F5F2"/>
                </a:solidFill>
                <a:latin typeface="Calibri" pitchFamily="34" charset="0"/>
                <a:ea typeface="Calibri" pitchFamily="34" charset="-122"/>
                <a:cs typeface="Calibri" pitchFamily="34" charset="-120"/>
              </a:rPr>
              <a:t>1974</a:t>
            </a:r>
            <a:endParaRPr lang="en-US" sz="1800" dirty="0"/>
          </a:p>
        </p:txBody>
      </p:sp>
      <p:sp>
        <p:nvSpPr>
          <p:cNvPr id="12" name="Text 10"/>
          <p:cNvSpPr txBox="1"/>
          <p:nvPr/>
        </p:nvSpPr>
        <p:spPr>
          <a:xfrm>
            <a:off x="502920" y="3063240"/>
            <a:ext cx="2514600" cy="320040"/>
          </a:xfrm>
          <a:prstGeom prst="rect">
            <a:avLst/>
          </a:prstGeom>
          <a:noFill/>
          <a:ln/>
        </p:spPr>
        <p:txBody>
          <a:bodyPr wrap="square" lIns="0" tIns="0" rIns="0" bIns="0" rtlCol="0" anchor="ctr"/>
          <a:lstStyle/>
          <a:p>
            <a:pPr indent="0" marL="0">
              <a:buNone/>
            </a:pPr>
            <a:r>
              <a:rPr lang="en-US" sz="1200" b="1" dirty="0">
                <a:solidFill>
                  <a:srgbClr val="00D97E"/>
                </a:solidFill>
                <a:latin typeface="Calibri" pitchFamily="34" charset="0"/>
                <a:ea typeface="Calibri" pitchFamily="34" charset="-122"/>
                <a:cs typeface="Calibri" pitchFamily="34" charset="-120"/>
              </a:rPr>
              <a:t>Karger &amp; Schell</a:t>
            </a:r>
            <a:endParaRPr lang="en-US" sz="1200" dirty="0"/>
          </a:p>
        </p:txBody>
      </p:sp>
      <p:sp>
        <p:nvSpPr>
          <p:cNvPr id="13" name="Text 11"/>
          <p:cNvSpPr txBox="1"/>
          <p:nvPr/>
        </p:nvSpPr>
        <p:spPr>
          <a:xfrm>
            <a:off x="502920" y="3410712"/>
            <a:ext cx="2514600" cy="1371600"/>
          </a:xfrm>
          <a:prstGeom prst="rect">
            <a:avLst/>
          </a:prstGeom>
          <a:noFill/>
          <a:ln/>
        </p:spPr>
        <p:txBody>
          <a:bodyPr wrap="square" lIns="0" tIns="0" rIns="0" bIns="0" rtlCol="0" anchor="ctr"/>
          <a:lstStyle/>
          <a:p>
            <a:pPr indent="0" marL="0">
              <a:lnSpc>
                <a:spcPct val="125000"/>
              </a:lnSpc>
              <a:buNone/>
            </a:pPr>
            <a:r>
              <a:rPr lang="en-US" sz="940" dirty="0">
                <a:solidFill>
                  <a:srgbClr val="9AA0A6"/>
                </a:solidFill>
                <a:latin typeface="Calibri" pitchFamily="34" charset="0"/>
                <a:ea typeface="Calibri" pitchFamily="34" charset="-122"/>
                <a:cs typeface="Calibri" pitchFamily="34" charset="-120"/>
              </a:rPr>
              <a:t>A US Air Force review of Multics quietly records that a compiler could plant an invisible trapdoor.</a:t>
            </a:r>
            <a:endParaRPr lang="en-US" sz="940" dirty="0"/>
          </a:p>
        </p:txBody>
      </p:sp>
      <p:sp>
        <p:nvSpPr>
          <p:cNvPr id="14" name="Shape 12"/>
          <p:cNvSpPr/>
          <p:nvPr/>
        </p:nvSpPr>
        <p:spPr>
          <a:xfrm>
            <a:off x="3291840" y="2839212"/>
            <a:ext cx="82296" cy="82296"/>
          </a:xfrm>
          <a:prstGeom prst="rect">
            <a:avLst/>
          </a:prstGeom>
          <a:solidFill>
            <a:srgbClr val="FF3B30"/>
          </a:solidFill>
          <a:ln/>
        </p:spPr>
      </p:sp>
      <p:sp>
        <p:nvSpPr>
          <p:cNvPr id="15" name="Text 13"/>
          <p:cNvSpPr txBox="1"/>
          <p:nvPr/>
        </p:nvSpPr>
        <p:spPr>
          <a:xfrm>
            <a:off x="3291840" y="2331720"/>
            <a:ext cx="1828800" cy="365760"/>
          </a:xfrm>
          <a:prstGeom prst="rect">
            <a:avLst/>
          </a:prstGeom>
          <a:noFill/>
          <a:ln/>
        </p:spPr>
        <p:txBody>
          <a:bodyPr wrap="square" lIns="0" tIns="0" rIns="0" bIns="0" rtlCol="0" anchor="ctr"/>
          <a:lstStyle/>
          <a:p>
            <a:pPr indent="0" marL="0">
              <a:buNone/>
            </a:pPr>
            <a:r>
              <a:rPr lang="en-US" sz="1800" b="1" dirty="0">
                <a:solidFill>
                  <a:srgbClr val="F5F5F2"/>
                </a:solidFill>
                <a:latin typeface="Calibri" pitchFamily="34" charset="0"/>
                <a:ea typeface="Calibri" pitchFamily="34" charset="-122"/>
                <a:cs typeface="Calibri" pitchFamily="34" charset="-120"/>
              </a:rPr>
              <a:t>1984</a:t>
            </a:r>
            <a:endParaRPr lang="en-US" sz="1800" dirty="0"/>
          </a:p>
        </p:txBody>
      </p:sp>
      <p:sp>
        <p:nvSpPr>
          <p:cNvPr id="16" name="Text 14"/>
          <p:cNvSpPr txBox="1"/>
          <p:nvPr/>
        </p:nvSpPr>
        <p:spPr>
          <a:xfrm>
            <a:off x="3291840" y="3063240"/>
            <a:ext cx="2514600" cy="320040"/>
          </a:xfrm>
          <a:prstGeom prst="rect">
            <a:avLst/>
          </a:prstGeom>
          <a:noFill/>
          <a:ln/>
        </p:spPr>
        <p:txBody>
          <a:bodyPr wrap="square" lIns="0" tIns="0" rIns="0" bIns="0" rtlCol="0" anchor="ctr"/>
          <a:lstStyle/>
          <a:p>
            <a:pPr indent="0" marL="0">
              <a:buNone/>
            </a:pPr>
            <a:r>
              <a:rPr lang="en-US" sz="1200" b="1" dirty="0">
                <a:solidFill>
                  <a:srgbClr val="00D97E"/>
                </a:solidFill>
                <a:latin typeface="Calibri" pitchFamily="34" charset="0"/>
                <a:ea typeface="Calibri" pitchFamily="34" charset="-122"/>
                <a:cs typeface="Calibri" pitchFamily="34" charset="-120"/>
              </a:rPr>
              <a:t>Ken Thompson</a:t>
            </a:r>
            <a:endParaRPr lang="en-US" sz="1200" dirty="0"/>
          </a:p>
        </p:txBody>
      </p:sp>
      <p:sp>
        <p:nvSpPr>
          <p:cNvPr id="17" name="Text 15"/>
          <p:cNvSpPr txBox="1"/>
          <p:nvPr/>
        </p:nvSpPr>
        <p:spPr>
          <a:xfrm>
            <a:off x="3291840" y="3410712"/>
            <a:ext cx="2514600" cy="1371600"/>
          </a:xfrm>
          <a:prstGeom prst="rect">
            <a:avLst/>
          </a:prstGeom>
          <a:noFill/>
          <a:ln/>
        </p:spPr>
        <p:txBody>
          <a:bodyPr wrap="square" lIns="0" tIns="0" rIns="0" bIns="0" rtlCol="0" anchor="ctr"/>
          <a:lstStyle/>
          <a:p>
            <a:pPr indent="0" marL="0">
              <a:lnSpc>
                <a:spcPct val="125000"/>
              </a:lnSpc>
              <a:buNone/>
            </a:pPr>
            <a:r>
              <a:rPr lang="en-US" sz="940" dirty="0">
                <a:solidFill>
                  <a:srgbClr val="9AA0A6"/>
                </a:solidFill>
                <a:latin typeface="Calibri" pitchFamily="34" charset="0"/>
                <a:ea typeface="Calibri" pitchFamily="34" charset="-122"/>
                <a:cs typeface="Calibri" pitchFamily="34" charset="-120"/>
              </a:rPr>
              <a:t>“Reflections on Trusting Trust” - the Turing lecture that made it famous. Conceptual only; no implementation.</a:t>
            </a:r>
            <a:endParaRPr lang="en-US" sz="940" dirty="0"/>
          </a:p>
        </p:txBody>
      </p:sp>
      <p:sp>
        <p:nvSpPr>
          <p:cNvPr id="18" name="Shape 16"/>
          <p:cNvSpPr/>
          <p:nvPr/>
        </p:nvSpPr>
        <p:spPr>
          <a:xfrm>
            <a:off x="6080760" y="2839212"/>
            <a:ext cx="82296" cy="82296"/>
          </a:xfrm>
          <a:prstGeom prst="rect">
            <a:avLst/>
          </a:prstGeom>
          <a:solidFill>
            <a:srgbClr val="FF3B30"/>
          </a:solidFill>
          <a:ln/>
        </p:spPr>
      </p:sp>
      <p:sp>
        <p:nvSpPr>
          <p:cNvPr id="19" name="Text 17"/>
          <p:cNvSpPr txBox="1"/>
          <p:nvPr/>
        </p:nvSpPr>
        <p:spPr>
          <a:xfrm>
            <a:off x="6080760" y="2331720"/>
            <a:ext cx="1828800" cy="365760"/>
          </a:xfrm>
          <a:prstGeom prst="rect">
            <a:avLst/>
          </a:prstGeom>
          <a:noFill/>
          <a:ln/>
        </p:spPr>
        <p:txBody>
          <a:bodyPr wrap="square" lIns="0" tIns="0" rIns="0" bIns="0" rtlCol="0" anchor="ctr"/>
          <a:lstStyle/>
          <a:p>
            <a:pPr indent="0" marL="0">
              <a:buNone/>
            </a:pPr>
            <a:r>
              <a:rPr lang="en-US" sz="1800" b="1" dirty="0">
                <a:solidFill>
                  <a:srgbClr val="F5F5F2"/>
                </a:solidFill>
                <a:latin typeface="Calibri" pitchFamily="34" charset="0"/>
                <a:ea typeface="Calibri" pitchFamily="34" charset="-122"/>
                <a:cs typeface="Calibri" pitchFamily="34" charset="-120"/>
              </a:rPr>
              <a:t>2005</a:t>
            </a:r>
            <a:endParaRPr lang="en-US" sz="1800" dirty="0"/>
          </a:p>
        </p:txBody>
      </p:sp>
      <p:sp>
        <p:nvSpPr>
          <p:cNvPr id="20" name="Text 18"/>
          <p:cNvSpPr txBox="1"/>
          <p:nvPr/>
        </p:nvSpPr>
        <p:spPr>
          <a:xfrm>
            <a:off x="6080760" y="3063240"/>
            <a:ext cx="2514600" cy="320040"/>
          </a:xfrm>
          <a:prstGeom prst="rect">
            <a:avLst/>
          </a:prstGeom>
          <a:noFill/>
          <a:ln/>
        </p:spPr>
        <p:txBody>
          <a:bodyPr wrap="square" lIns="0" tIns="0" rIns="0" bIns="0" rtlCol="0" anchor="ctr"/>
          <a:lstStyle/>
          <a:p>
            <a:pPr indent="0" marL="0">
              <a:buNone/>
            </a:pPr>
            <a:r>
              <a:rPr lang="en-US" sz="1200" b="1" dirty="0">
                <a:solidFill>
                  <a:srgbClr val="00D97E"/>
                </a:solidFill>
                <a:latin typeface="Calibri" pitchFamily="34" charset="0"/>
                <a:ea typeface="Calibri" pitchFamily="34" charset="-122"/>
                <a:cs typeface="Calibri" pitchFamily="34" charset="-120"/>
              </a:rPr>
              <a:t>David A. Wheeler</a:t>
            </a:r>
            <a:endParaRPr lang="en-US" sz="1200" dirty="0"/>
          </a:p>
        </p:txBody>
      </p:sp>
      <p:sp>
        <p:nvSpPr>
          <p:cNvPr id="21" name="Text 19"/>
          <p:cNvSpPr txBox="1"/>
          <p:nvPr/>
        </p:nvSpPr>
        <p:spPr>
          <a:xfrm>
            <a:off x="6080760" y="3410712"/>
            <a:ext cx="2514600" cy="1371600"/>
          </a:xfrm>
          <a:prstGeom prst="rect">
            <a:avLst/>
          </a:prstGeom>
          <a:noFill/>
          <a:ln/>
        </p:spPr>
        <p:txBody>
          <a:bodyPr wrap="square" lIns="0" tIns="0" rIns="0" bIns="0" rtlCol="0" anchor="ctr"/>
          <a:lstStyle/>
          <a:p>
            <a:pPr indent="0" marL="0">
              <a:lnSpc>
                <a:spcPct val="125000"/>
              </a:lnSpc>
              <a:buNone/>
            </a:pPr>
            <a:r>
              <a:rPr lang="en-US" sz="940" dirty="0">
                <a:solidFill>
                  <a:srgbClr val="9AA0A6"/>
                </a:solidFill>
                <a:latin typeface="Calibri" pitchFamily="34" charset="0"/>
                <a:ea typeface="Calibri" pitchFamily="34" charset="-122"/>
                <a:cs typeface="Calibri" pitchFamily="34" charset="-120"/>
              </a:rPr>
              <a:t>Diverse Double Compiling: cross-build with a trusted tool, compare outputs. No need to trust the suspect's source.</a:t>
            </a:r>
            <a:endParaRPr lang="en-US" sz="940" dirty="0"/>
          </a:p>
        </p:txBody>
      </p:sp>
      <p:sp>
        <p:nvSpPr>
          <p:cNvPr id="22" name="Shape 20"/>
          <p:cNvSpPr/>
          <p:nvPr/>
        </p:nvSpPr>
        <p:spPr>
          <a:xfrm>
            <a:off x="8869680" y="2839212"/>
            <a:ext cx="82296" cy="82296"/>
          </a:xfrm>
          <a:prstGeom prst="rect">
            <a:avLst/>
          </a:prstGeom>
          <a:solidFill>
            <a:srgbClr val="FF3B30"/>
          </a:solidFill>
          <a:ln/>
        </p:spPr>
      </p:sp>
      <p:sp>
        <p:nvSpPr>
          <p:cNvPr id="23" name="Text 21"/>
          <p:cNvSpPr txBox="1"/>
          <p:nvPr/>
        </p:nvSpPr>
        <p:spPr>
          <a:xfrm>
            <a:off x="8869680" y="2331720"/>
            <a:ext cx="1828800" cy="365760"/>
          </a:xfrm>
          <a:prstGeom prst="rect">
            <a:avLst/>
          </a:prstGeom>
          <a:noFill/>
          <a:ln/>
        </p:spPr>
        <p:txBody>
          <a:bodyPr wrap="square" lIns="0" tIns="0" rIns="0" bIns="0" rtlCol="0" anchor="ctr"/>
          <a:lstStyle/>
          <a:p>
            <a:pPr indent="0" marL="0">
              <a:buNone/>
            </a:pPr>
            <a:r>
              <a:rPr lang="en-US" sz="1800" b="1" dirty="0">
                <a:solidFill>
                  <a:srgbClr val="F5F5F2"/>
                </a:solidFill>
                <a:latin typeface="Calibri" pitchFamily="34" charset="0"/>
                <a:ea typeface="Calibri" pitchFamily="34" charset="-122"/>
                <a:cs typeface="Calibri" pitchFamily="34" charset="-120"/>
              </a:rPr>
              <a:t>2009</a:t>
            </a:r>
            <a:endParaRPr lang="en-US" sz="1800" dirty="0"/>
          </a:p>
        </p:txBody>
      </p:sp>
      <p:sp>
        <p:nvSpPr>
          <p:cNvPr id="24" name="Text 22"/>
          <p:cNvSpPr txBox="1"/>
          <p:nvPr/>
        </p:nvSpPr>
        <p:spPr>
          <a:xfrm>
            <a:off x="8869680" y="3063240"/>
            <a:ext cx="2514600" cy="320040"/>
          </a:xfrm>
          <a:prstGeom prst="rect">
            <a:avLst/>
          </a:prstGeom>
          <a:noFill/>
          <a:ln/>
        </p:spPr>
        <p:txBody>
          <a:bodyPr wrap="square" lIns="0" tIns="0" rIns="0" bIns="0" rtlCol="0" anchor="ctr"/>
          <a:lstStyle/>
          <a:p>
            <a:pPr indent="0" marL="0">
              <a:buNone/>
            </a:pPr>
            <a:r>
              <a:rPr lang="en-US" sz="1200" b="1" dirty="0">
                <a:solidFill>
                  <a:srgbClr val="00D97E"/>
                </a:solidFill>
                <a:latin typeface="Calibri" pitchFamily="34" charset="0"/>
                <a:ea typeface="Calibri" pitchFamily="34" charset="-122"/>
                <a:cs typeface="Calibri" pitchFamily="34" charset="-120"/>
              </a:rPr>
              <a:t>Wheeler's dissertation</a:t>
            </a:r>
            <a:endParaRPr lang="en-US" sz="1200" dirty="0"/>
          </a:p>
        </p:txBody>
      </p:sp>
      <p:sp>
        <p:nvSpPr>
          <p:cNvPr id="25" name="Text 23"/>
          <p:cNvSpPr txBox="1"/>
          <p:nvPr/>
        </p:nvSpPr>
        <p:spPr>
          <a:xfrm>
            <a:off x="8869680" y="3410712"/>
            <a:ext cx="2514600" cy="1371600"/>
          </a:xfrm>
          <a:prstGeom prst="rect">
            <a:avLst/>
          </a:prstGeom>
          <a:noFill/>
          <a:ln/>
        </p:spPr>
        <p:txBody>
          <a:bodyPr wrap="square" lIns="0" tIns="0" rIns="0" bIns="0" rtlCol="0" anchor="ctr"/>
          <a:lstStyle/>
          <a:p>
            <a:pPr indent="0" marL="0">
              <a:lnSpc>
                <a:spcPct val="125000"/>
              </a:lnSpc>
              <a:buNone/>
            </a:pPr>
            <a:r>
              <a:rPr lang="en-US" sz="940" dirty="0">
                <a:solidFill>
                  <a:srgbClr val="9AA0A6"/>
                </a:solidFill>
                <a:latin typeface="Calibri" pitchFamily="34" charset="0"/>
                <a:ea typeface="Calibri" pitchFamily="34" charset="-122"/>
                <a:cs typeface="Calibri" pitchFamily="34" charset="-120"/>
              </a:rPr>
              <a:t>Formal correctness proof. Demonstrated against a C compiler, a Lisp compiler, and GCC itself.</a:t>
            </a:r>
            <a:endParaRPr lang="en-US" sz="940" dirty="0"/>
          </a:p>
        </p:txBody>
      </p:sp>
      <p:sp>
        <p:nvSpPr>
          <p:cNvPr id="26" name="Shape 24"/>
          <p:cNvSpPr/>
          <p:nvPr/>
        </p:nvSpPr>
        <p:spPr>
          <a:xfrm>
            <a:off x="502920" y="4892040"/>
            <a:ext cx="11155680" cy="1325880"/>
          </a:xfrm>
          <a:prstGeom prst="rect">
            <a:avLst/>
          </a:prstGeom>
          <a:solidFill>
            <a:srgbClr val="000000"/>
          </a:solidFill>
          <a:ln w="12700">
            <a:solidFill>
              <a:srgbClr val="2A2A30"/>
            </a:solidFill>
            <a:prstDash val="solid"/>
          </a:ln>
        </p:spPr>
      </p:sp>
      <p:sp>
        <p:nvSpPr>
          <p:cNvPr id="27" name="Shape 25"/>
          <p:cNvSpPr/>
          <p:nvPr/>
        </p:nvSpPr>
        <p:spPr>
          <a:xfrm>
            <a:off x="502920" y="4892040"/>
            <a:ext cx="11155680" cy="292608"/>
          </a:xfrm>
          <a:prstGeom prst="rect">
            <a:avLst/>
          </a:prstGeom>
          <a:solidFill>
            <a:srgbClr val="17171B"/>
          </a:solidFill>
          <a:ln/>
        </p:spPr>
      </p:sp>
      <p:sp>
        <p:nvSpPr>
          <p:cNvPr id="28" name="Shape 26"/>
          <p:cNvSpPr/>
          <p:nvPr/>
        </p:nvSpPr>
        <p:spPr>
          <a:xfrm>
            <a:off x="630936" y="4992624"/>
            <a:ext cx="91440" cy="91440"/>
          </a:xfrm>
          <a:prstGeom prst="ellipse">
            <a:avLst/>
          </a:prstGeom>
          <a:solidFill>
            <a:srgbClr val="FF3B30"/>
          </a:solidFill>
          <a:ln/>
        </p:spPr>
      </p:sp>
      <p:sp>
        <p:nvSpPr>
          <p:cNvPr id="29" name="Shape 27"/>
          <p:cNvSpPr/>
          <p:nvPr/>
        </p:nvSpPr>
        <p:spPr>
          <a:xfrm>
            <a:off x="813816" y="4992624"/>
            <a:ext cx="91440" cy="91440"/>
          </a:xfrm>
          <a:prstGeom prst="ellipse">
            <a:avLst/>
          </a:prstGeom>
          <a:solidFill>
            <a:srgbClr val="FFB020"/>
          </a:solidFill>
          <a:ln/>
        </p:spPr>
      </p:sp>
      <p:sp>
        <p:nvSpPr>
          <p:cNvPr id="30" name="Shape 28"/>
          <p:cNvSpPr/>
          <p:nvPr/>
        </p:nvSpPr>
        <p:spPr>
          <a:xfrm>
            <a:off x="996696" y="4992624"/>
            <a:ext cx="91440" cy="91440"/>
          </a:xfrm>
          <a:prstGeom prst="ellipse">
            <a:avLst/>
          </a:prstGeom>
          <a:solidFill>
            <a:srgbClr val="00D97E"/>
          </a:solidFill>
          <a:ln/>
        </p:spPr>
      </p:sp>
      <p:sp>
        <p:nvSpPr>
          <p:cNvPr id="31" name="Text 29"/>
          <p:cNvSpPr txBox="1"/>
          <p:nvPr/>
        </p:nvSpPr>
        <p:spPr>
          <a:xfrm>
            <a:off x="1325880" y="4919472"/>
            <a:ext cx="10149840" cy="237744"/>
          </a:xfrm>
          <a:prstGeom prst="rect">
            <a:avLst/>
          </a:prstGeom>
          <a:noFill/>
          <a:ln/>
        </p:spPr>
        <p:txBody>
          <a:bodyPr wrap="square" lIns="0" tIns="0" rIns="0" bIns="0" rtlCol="0" anchor="ctr"/>
          <a:lstStyle/>
          <a:p>
            <a:pPr indent="0" marL="0">
              <a:buNone/>
            </a:pPr>
            <a:r>
              <a:rPr lang="en-US" sz="850" dirty="0">
                <a:solidFill>
                  <a:srgbClr val="5C6066"/>
                </a:solidFill>
                <a:latin typeface="Consolas" pitchFamily="34" charset="0"/>
                <a:ea typeface="Consolas" pitchFamily="34" charset="-122"/>
                <a:cs typeface="Consolas" pitchFamily="34" charset="-120"/>
              </a:rPr>
              <a:t>concept - diverse_double_compiling.md</a:t>
            </a:r>
            <a:endParaRPr lang="en-US" sz="850" dirty="0"/>
          </a:p>
        </p:txBody>
      </p:sp>
      <p:sp>
        <p:nvSpPr>
          <p:cNvPr id="32" name="Text 30"/>
          <p:cNvSpPr txBox="1"/>
          <p:nvPr/>
        </p:nvSpPr>
        <p:spPr>
          <a:xfrm>
            <a:off x="722376" y="5294376"/>
            <a:ext cx="10716768" cy="777240"/>
          </a:xfrm>
          <a:prstGeom prst="rect">
            <a:avLst/>
          </a:prstGeom>
          <a:noFill/>
          <a:ln/>
        </p:spPr>
        <p:txBody>
          <a:bodyPr wrap="square" lIns="0" tIns="0" rIns="0" bIns="0" rtlCol="0" anchor="t"/>
          <a:lstStyle/>
          <a:p>
            <a:pPr indent="0" marL="0">
              <a:lnSpc>
                <a:spcPct val="128000"/>
              </a:lnSpc>
              <a:buNone/>
            </a:pPr>
            <a:r>
              <a:rPr lang="en-US" sz="1030" dirty="0">
                <a:solidFill>
                  <a:srgbClr val="00D97E"/>
                </a:solidFill>
                <a:latin typeface="Consolas" pitchFamily="34" charset="0"/>
                <a:ea typeface="Consolas" pitchFamily="34" charset="-122"/>
                <a:cs typeface="Consolas" pitchFamily="34" charset="-120"/>
              </a:rPr>
              <a:t>$ cat ddc_mechanism.md</a:t>
            </a:r>
            <a:endParaRPr lang="en-US" sz="1030" dirty="0"/>
          </a:p>
          <a:p>
            <a:pPr indent="0" marL="0">
              <a:lnSpc>
                <a:spcPct val="128000"/>
              </a:lnSpc>
              <a:buNone/>
            </a:pPr>
            <a:r>
              <a:rPr lang="en-US" sz="1030" dirty="0">
                <a:solidFill>
                  <a:srgbClr val="F5F5F2"/>
                </a:solidFill>
                <a:latin typeface="Consolas" pitchFamily="34" charset="0"/>
                <a:ea typeface="Consolas" pitchFamily="34" charset="-122"/>
                <a:cs typeface="Consolas" pitchFamily="34" charset="-120"/>
              </a:rPr>
              <a:t>Compile the compiler's own source with trusted tool T and suspect tool C.</a:t>
            </a:r>
            <a:endParaRPr lang="en-US" sz="1030" dirty="0"/>
          </a:p>
          <a:p>
            <a:pPr indent="0" marL="0">
              <a:lnSpc>
                <a:spcPct val="128000"/>
              </a:lnSpc>
              <a:buNone/>
            </a:pPr>
            <a:r>
              <a:rPr lang="en-US" sz="1030" dirty="0">
                <a:solidFill>
                  <a:srgbClr val="F5F5F2"/>
                </a:solidFill>
                <a:latin typeface="Consolas" pitchFamily="34" charset="0"/>
                <a:ea typeface="Consolas" pitchFamily="34" charset="-122"/>
                <a:cs typeface="Consolas" pitchFamily="34" charset="-120"/>
              </a:rPr>
              <a:t>Use BOTH outputs to compile the source again. If T and C are honest,</a:t>
            </a:r>
            <a:endParaRPr lang="en-US" sz="1030" dirty="0"/>
          </a:p>
          <a:p>
            <a:pPr indent="0" marL="0">
              <a:lnSpc>
                <a:spcPct val="128000"/>
              </a:lnSpc>
              <a:buNone/>
            </a:pPr>
            <a:r>
              <a:rPr lang="en-US" sz="1030" dirty="0">
                <a:solidFill>
                  <a:srgbClr val="00D97E"/>
                </a:solidFill>
                <a:latin typeface="Consolas" pitchFamily="34" charset="0"/>
                <a:ea typeface="Consolas" pitchFamily="34" charset="-122"/>
                <a:cs typeface="Consolas" pitchFamily="34" charset="-120"/>
              </a:rPr>
              <a:t>the two final results are bit-for-bit identical. Trust nothing; compare everything.</a:t>
            </a:r>
            <a:endParaRPr lang="en-US" sz="10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0" y="896112"/>
            <a:ext cx="12188952" cy="0"/>
          </a:xfrm>
          <a:prstGeom prst="line">
            <a:avLst/>
          </a:prstGeom>
          <a:noFill/>
          <a:ln w="12700">
            <a:solidFill>
              <a:srgbClr val="2A2A30"/>
            </a:solidFill>
            <a:prstDash val="solid"/>
          </a:ln>
        </p:spPr>
      </p:sp>
      <p:sp>
        <p:nvSpPr>
          <p:cNvPr id="3" name="Text 1"/>
          <p:cNvSpPr txBox="1"/>
          <p:nvPr/>
        </p:nvSpPr>
        <p:spPr>
          <a:xfrm>
            <a:off x="8778240" y="256032"/>
            <a:ext cx="2834640" cy="274320"/>
          </a:xfrm>
          <a:prstGeom prst="rect">
            <a:avLst/>
          </a:prstGeom>
          <a:noFill/>
          <a:ln/>
        </p:spPr>
        <p:txBody>
          <a:bodyPr wrap="square" lIns="0" tIns="0" rIns="0" bIns="0" rtlCol="0" anchor="ctr"/>
          <a:lstStyle/>
          <a:p>
            <a:pPr algn="r" indent="0" marL="0">
              <a:buNone/>
            </a:pPr>
            <a:r>
              <a:rPr lang="en-US" sz="900" spc="100" kern="0" dirty="0">
                <a:solidFill>
                  <a:srgbClr val="5C6066"/>
                </a:solidFill>
                <a:latin typeface="Consolas" pitchFamily="34" charset="0"/>
                <a:ea typeface="Consolas" pitchFamily="34" charset="-122"/>
                <a:cs typeface="Consolas" pitchFamily="34" charset="-120"/>
              </a:rPr>
              <a:t>TRUSTING_TRUST.EXE</a:t>
            </a:r>
            <a:endParaRPr lang="en-US" sz="900" dirty="0"/>
          </a:p>
        </p:txBody>
      </p:sp>
      <p:sp>
        <p:nvSpPr>
          <p:cNvPr id="4" name="Shape 2"/>
          <p:cNvSpPr/>
          <p:nvPr/>
        </p:nvSpPr>
        <p:spPr>
          <a:xfrm>
            <a:off x="0" y="6419088"/>
            <a:ext cx="12188952" cy="0"/>
          </a:xfrm>
          <a:prstGeom prst="line">
            <a:avLst/>
          </a:prstGeom>
          <a:noFill/>
          <a:ln w="12700">
            <a:solidFill>
              <a:srgbClr val="2A2A30"/>
            </a:solidFill>
            <a:prstDash val="solid"/>
          </a:ln>
        </p:spPr>
      </p:sp>
      <p:sp>
        <p:nvSpPr>
          <p:cNvPr id="5" name="Text 3"/>
          <p:cNvSpPr txBox="1"/>
          <p:nvPr/>
        </p:nvSpPr>
        <p:spPr>
          <a:xfrm>
            <a:off x="457200" y="6492240"/>
            <a:ext cx="3657600" cy="256032"/>
          </a:xfrm>
          <a:prstGeom prst="rect">
            <a:avLst/>
          </a:prstGeom>
          <a:noFill/>
          <a:ln/>
        </p:spPr>
        <p:txBody>
          <a:bodyPr wrap="square" lIns="0" tIns="0" rIns="0" bIns="0" rtlCol="0" anchor="ctr"/>
          <a:lstStyle/>
          <a:p>
            <a:pPr indent="0" marL="0">
              <a:buNone/>
            </a:pPr>
            <a:r>
              <a:rPr lang="en-US" sz="850" dirty="0">
                <a:solidFill>
                  <a:srgbClr val="5C6066"/>
                </a:solidFill>
                <a:latin typeface="Consolas" pitchFamily="34" charset="0"/>
                <a:ea typeface="Consolas" pitchFamily="34" charset="-122"/>
                <a:cs typeface="Consolas" pitchFamily="34" charset="-120"/>
              </a:rPr>
              <a:t>root@ttrevisited:~$</a:t>
            </a:r>
            <a:endParaRPr lang="en-US" sz="850" dirty="0"/>
          </a:p>
        </p:txBody>
      </p:sp>
      <p:sp>
        <p:nvSpPr>
          <p:cNvPr id="6" name="Text 4"/>
          <p:cNvSpPr txBox="1"/>
          <p:nvPr/>
        </p:nvSpPr>
        <p:spPr>
          <a:xfrm>
            <a:off x="10424160" y="6492240"/>
            <a:ext cx="1371600" cy="256032"/>
          </a:xfrm>
          <a:prstGeom prst="rect">
            <a:avLst/>
          </a:prstGeom>
          <a:noFill/>
          <a:ln/>
        </p:spPr>
        <p:txBody>
          <a:bodyPr wrap="square" lIns="0" tIns="0" rIns="0" bIns="0" rtlCol="0" anchor="ctr"/>
          <a:lstStyle/>
          <a:p>
            <a:pPr algn="r" indent="0" marL="0">
              <a:buNone/>
            </a:pPr>
            <a:r>
              <a:rPr lang="en-US" sz="900" b="1" dirty="0">
                <a:solidFill>
                  <a:srgbClr val="9AA0A6"/>
                </a:solidFill>
                <a:latin typeface="Consolas" pitchFamily="34" charset="0"/>
                <a:ea typeface="Consolas" pitchFamily="34" charset="-122"/>
                <a:cs typeface="Consolas" pitchFamily="34" charset="-120"/>
              </a:rPr>
              <a:t>[ 05 / 11 ]</a:t>
            </a:r>
            <a:endParaRPr lang="en-US" sz="900" dirty="0"/>
          </a:p>
        </p:txBody>
      </p:sp>
      <p:sp>
        <p:nvSpPr>
          <p:cNvPr id="7" name="Text 5"/>
          <p:cNvSpPr txBox="1"/>
          <p:nvPr/>
        </p:nvSpPr>
        <p:spPr>
          <a:xfrm>
            <a:off x="502920" y="1060704"/>
            <a:ext cx="10058400" cy="292608"/>
          </a:xfrm>
          <a:prstGeom prst="rect">
            <a:avLst/>
          </a:prstGeom>
          <a:noFill/>
          <a:ln/>
        </p:spPr>
        <p:txBody>
          <a:bodyPr wrap="square" lIns="0" tIns="0" rIns="0" bIns="0" rtlCol="0" anchor="ctr"/>
          <a:lstStyle/>
          <a:p>
            <a:pPr indent="0" marL="0">
              <a:buNone/>
            </a:pPr>
            <a:r>
              <a:rPr lang="en-US" sz="1250" b="1" spc="50" kern="0" dirty="0">
                <a:solidFill>
                  <a:srgbClr val="00D97E"/>
                </a:solidFill>
                <a:latin typeface="Consolas" pitchFamily="34" charset="0"/>
                <a:ea typeface="Consolas" pitchFamily="34" charset="-122"/>
                <a:cs typeface="Consolas" pitchFamily="34" charset="-120"/>
              </a:rPr>
              <a:t>&gt;_ </a:t>
            </a:r>
            <a:pPr indent="0" marL="0">
              <a:buNone/>
            </a:pPr>
            <a:r>
              <a:rPr lang="en-US" sz="1250" b="1" spc="50" kern="0" dirty="0">
                <a:solidFill>
                  <a:srgbClr val="9AA0A6"/>
                </a:solidFill>
                <a:latin typeface="Consolas" pitchFamily="34" charset="0"/>
                <a:ea typeface="Consolas" pitchFamily="34" charset="-122"/>
                <a:cs typeface="Consolas" pitchFamily="34" charset="-120"/>
              </a:rPr>
              <a:t>05 // LITERATURE REVIEW // II OF II</a:t>
            </a:r>
            <a:endParaRPr lang="en-US" sz="1250" dirty="0"/>
          </a:p>
        </p:txBody>
      </p:sp>
      <p:sp>
        <p:nvSpPr>
          <p:cNvPr id="8" name="Text 6"/>
          <p:cNvSpPr txBox="1"/>
          <p:nvPr/>
        </p:nvSpPr>
        <p:spPr>
          <a:xfrm>
            <a:off x="502920" y="1408176"/>
            <a:ext cx="11155680" cy="868680"/>
          </a:xfrm>
          <a:prstGeom prst="rect">
            <a:avLst/>
          </a:prstGeom>
          <a:noFill/>
          <a:ln/>
        </p:spPr>
        <p:txBody>
          <a:bodyPr wrap="square" lIns="0" tIns="0" rIns="0" bIns="0" rtlCol="0" anchor="t"/>
          <a:lstStyle/>
          <a:p>
            <a:pPr indent="0" marL="0">
              <a:lnSpc>
                <a:spcPct val="102000"/>
              </a:lnSpc>
              <a:buNone/>
            </a:pPr>
            <a:r>
              <a:rPr lang="en-US" sz="2700" b="1" dirty="0">
                <a:solidFill>
                  <a:srgbClr val="F5F5F2"/>
                </a:solidFill>
                <a:latin typeface="Calibri" pitchFamily="34" charset="0"/>
                <a:ea typeface="Calibri" pitchFamily="34" charset="-122"/>
                <a:cs typeface="Calibri" pitchFamily="34" charset="-120"/>
              </a:rPr>
              <a:t>24 papers surveyed, 1974–2026</a:t>
            </a:r>
            <a:endParaRPr lang="en-US" sz="2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2011680"/>
          <a:ext cx="5349240" cy="914400"/>
        </p:xfrm>
        <a:graphic>
          <a:graphicData uri="http://schemas.openxmlformats.org/drawingml/2006/table">
            <a:tbl>
              <a:tblPr/>
              <a:tblGrid>
                <a:gridCol w="566928"/>
                <a:gridCol w="1325880"/>
                <a:gridCol w="3456432"/>
              </a:tblGrid>
              <a:tr h="228600">
                <a:tc>
                  <a:txBody>
                    <a:bodyPr/>
                    <a:lstStyle/>
                    <a:p>
                      <a:pPr indent="0" marL="0">
                        <a:buNone/>
                      </a:pPr>
                      <a:r>
                        <a:rPr lang="en-US" sz="800" b="1" dirty="0">
                          <a:solidFill>
                            <a:srgbClr val="0A0A0C"/>
                          </a:solidFill>
                          <a:latin typeface="Consolas" pitchFamily="34" charset="0"/>
                          <a:ea typeface="Consolas" pitchFamily="34" charset="-122"/>
                          <a:cs typeface="Consolas" pitchFamily="34" charset="-120"/>
                        </a:rPr>
                        <a:t>YEAR</a:t>
                      </a:r>
                      <a:endParaRPr lang="en-US" sz="800" dirty="0">
                        <a:latin typeface="Consolas" charset="0"/>
                        <a:ea typeface="Consolas" charset="0"/>
                        <a:cs typeface="Consolas"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00D97E"/>
                    </a:solidFill>
                  </a:tcPr>
                </a:tc>
                <a:tc>
                  <a:txBody>
                    <a:bodyPr/>
                    <a:lstStyle/>
                    <a:p>
                      <a:pPr indent="0" marL="0">
                        <a:buNone/>
                      </a:pPr>
                      <a:r>
                        <a:rPr lang="en-US" sz="800" b="1" dirty="0">
                          <a:solidFill>
                            <a:srgbClr val="0A0A0C"/>
                          </a:solidFill>
                          <a:latin typeface="Consolas" pitchFamily="34" charset="0"/>
                          <a:ea typeface="Consolas" pitchFamily="34" charset="-122"/>
                          <a:cs typeface="Consolas" pitchFamily="34" charset="-120"/>
                        </a:rPr>
                        <a:t>SOURCE</a:t>
                      </a:r>
                      <a:endParaRPr lang="en-US" sz="800" dirty="0">
                        <a:latin typeface="Consolas" charset="0"/>
                        <a:ea typeface="Consolas" charset="0"/>
                        <a:cs typeface="Consolas"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00D97E"/>
                    </a:solidFill>
                  </a:tcPr>
                </a:tc>
                <a:tc>
                  <a:txBody>
                    <a:bodyPr/>
                    <a:lstStyle/>
                    <a:p>
                      <a:pPr indent="0" marL="0">
                        <a:buNone/>
                      </a:pPr>
                      <a:r>
                        <a:rPr lang="en-US" sz="800" b="1" dirty="0">
                          <a:solidFill>
                            <a:srgbClr val="0A0A0C"/>
                          </a:solidFill>
                          <a:latin typeface="Consolas" pitchFamily="34" charset="0"/>
                          <a:ea typeface="Consolas" pitchFamily="34" charset="-122"/>
                          <a:cs typeface="Consolas" pitchFamily="34" charset="-120"/>
                        </a:rPr>
                        <a:t>FOCUS</a:t>
                      </a:r>
                      <a:endParaRPr lang="en-US" sz="800" dirty="0">
                        <a:latin typeface="Consolas" charset="0"/>
                        <a:ea typeface="Consolas" charset="0"/>
                        <a:cs typeface="Consolas"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00D97E"/>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1974</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Karger &amp; Schell</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USAF Multics eval; first documented trapdoor</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1984</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Thompson</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Reflections on Trusting Trust, CACM</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2005</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Wheeler</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Diverse Double Compiling proposed, ACSAC</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2009</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Wheeler</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PhD dissertation; formal DDC proof</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2009</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Leroy</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CompCert verified compiler, CACM</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2010</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Tao et al.</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Metamorphic testing for compilers, APSEC</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2014</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Le, Afshari &amp; Su</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Equivalence Modulo Inputs, PLDI</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2016</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Segura et al.</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Survey on metamorphic testing, IEEE TSE</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2018</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Chen et al.</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MT: challenges &amp; opportunities, ACM CSUR</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2018</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Skrimstad</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Self-replicating attack vs. Go compiler</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2019</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Linderud</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Reproducible builds, MSc thesis</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2020</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Somlo</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Self-hosting trust bootstrapping, IEEE SPW</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035040" y="2011680"/>
          <a:ext cx="5349240" cy="914400"/>
        </p:xfrm>
        <a:graphic>
          <a:graphicData uri="http://schemas.openxmlformats.org/drawingml/2006/table">
            <a:tbl>
              <a:tblPr/>
              <a:tblGrid>
                <a:gridCol w="566928"/>
                <a:gridCol w="1325880"/>
                <a:gridCol w="3456432"/>
              </a:tblGrid>
              <a:tr h="228600">
                <a:tc>
                  <a:txBody>
                    <a:bodyPr/>
                    <a:lstStyle/>
                    <a:p>
                      <a:pPr indent="0" marL="0">
                        <a:buNone/>
                      </a:pPr>
                      <a:r>
                        <a:rPr lang="en-US" sz="800" b="1" dirty="0">
                          <a:solidFill>
                            <a:srgbClr val="0A0A0C"/>
                          </a:solidFill>
                          <a:latin typeface="Consolas" pitchFamily="34" charset="0"/>
                          <a:ea typeface="Consolas" pitchFamily="34" charset="-122"/>
                          <a:cs typeface="Consolas" pitchFamily="34" charset="-120"/>
                        </a:rPr>
                        <a:t>YEAR</a:t>
                      </a:r>
                      <a:endParaRPr lang="en-US" sz="800" dirty="0">
                        <a:latin typeface="Consolas" charset="0"/>
                        <a:ea typeface="Consolas" charset="0"/>
                        <a:cs typeface="Consolas"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00D97E"/>
                    </a:solidFill>
                  </a:tcPr>
                </a:tc>
                <a:tc>
                  <a:txBody>
                    <a:bodyPr/>
                    <a:lstStyle/>
                    <a:p>
                      <a:pPr indent="0" marL="0">
                        <a:buNone/>
                      </a:pPr>
                      <a:r>
                        <a:rPr lang="en-US" sz="800" b="1" dirty="0">
                          <a:solidFill>
                            <a:srgbClr val="0A0A0C"/>
                          </a:solidFill>
                          <a:latin typeface="Consolas" pitchFamily="34" charset="0"/>
                          <a:ea typeface="Consolas" pitchFamily="34" charset="-122"/>
                          <a:cs typeface="Consolas" pitchFamily="34" charset="-120"/>
                        </a:rPr>
                        <a:t>SOURCE</a:t>
                      </a:r>
                      <a:endParaRPr lang="en-US" sz="800" dirty="0">
                        <a:latin typeface="Consolas" charset="0"/>
                        <a:ea typeface="Consolas" charset="0"/>
                        <a:cs typeface="Consolas"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00D97E"/>
                    </a:solidFill>
                  </a:tcPr>
                </a:tc>
                <a:tc>
                  <a:txBody>
                    <a:bodyPr/>
                    <a:lstStyle/>
                    <a:p>
                      <a:pPr indent="0" marL="0">
                        <a:buNone/>
                      </a:pPr>
                      <a:r>
                        <a:rPr lang="en-US" sz="800" b="1" dirty="0">
                          <a:solidFill>
                            <a:srgbClr val="0A0A0C"/>
                          </a:solidFill>
                          <a:latin typeface="Consolas" pitchFamily="34" charset="0"/>
                          <a:ea typeface="Consolas" pitchFamily="34" charset="-122"/>
                          <a:cs typeface="Consolas" pitchFamily="34" charset="-120"/>
                        </a:rPr>
                        <a:t>FOCUS</a:t>
                      </a:r>
                      <a:endParaRPr lang="en-US" sz="800" dirty="0">
                        <a:latin typeface="Consolas" charset="0"/>
                        <a:ea typeface="Consolas" charset="0"/>
                        <a:cs typeface="Consolas"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00D97E"/>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2020</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Ohm et al.</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OSS supply-chain attack survey, DIMVA</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2021</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CrowdStrike Intel.</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SUNSPOT implant analysis, SolarWinds</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2022</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Lamb &amp; Zacchiroli</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Reproducible builds overview, IEEE Software</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2022</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Okafor et al.</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SoK: secure design properties, SCORED</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2023</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Fourné et al.</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Reproducible builds field study, IEEE S&amp;P</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2023</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Ladisa et al.</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SoK: OSS attack taxonomy, IEEE S&amp;P</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2024</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CVE-2024-3094</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xz-utils backdoor, real-world incident</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2024</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arXiv 2410.08427</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Levels of binary equivalence</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2024–25</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KTH thesis</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DDC examined inside CI/CD pipelines</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2025</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arXiv 2502.16279</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Multi-model validation, code-gen</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2026</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Malka et al.</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Trusting trust via GNU strip, arXiv</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41418"/>
                    </a:solidFill>
                  </a:tcPr>
                </a:tc>
              </a:tr>
              <a:tr h="228600">
                <a:tc>
                  <a:txBody>
                    <a:bodyPr/>
                    <a:lstStyle/>
                    <a:p>
                      <a:pPr indent="0" marL="0">
                        <a:buNone/>
                      </a:pPr>
                      <a:r>
                        <a:rPr lang="en-US" sz="760" dirty="0">
                          <a:solidFill>
                            <a:srgbClr val="F5F5F2"/>
                          </a:solidFill>
                          <a:latin typeface="Calibri" pitchFamily="34" charset="0"/>
                          <a:ea typeface="Calibri" pitchFamily="34" charset="-122"/>
                          <a:cs typeface="Calibri" pitchFamily="34" charset="-120"/>
                        </a:rPr>
                        <a:t>2026</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b="1" dirty="0">
                          <a:solidFill>
                            <a:srgbClr val="F5F5F2"/>
                          </a:solidFill>
                          <a:latin typeface="Calibri" pitchFamily="34" charset="0"/>
                          <a:ea typeface="Calibri" pitchFamily="34" charset="-122"/>
                          <a:cs typeface="Calibri" pitchFamily="34" charset="-120"/>
                        </a:rPr>
                        <a:t>arXiv 2609.17817</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c>
                  <a:txBody>
                    <a:bodyPr/>
                    <a:lstStyle/>
                    <a:p>
                      <a:pPr indent="0" marL="0">
                        <a:buNone/>
                      </a:pPr>
                      <a:r>
                        <a:rPr lang="en-US" sz="760" dirty="0">
                          <a:solidFill>
                            <a:srgbClr val="9AA0A6"/>
                          </a:solidFill>
                          <a:latin typeface="Calibri" pitchFamily="34" charset="0"/>
                          <a:ea typeface="Calibri" pitchFamily="34" charset="-122"/>
                          <a:cs typeface="Calibri" pitchFamily="34" charset="-120"/>
                        </a:rPr>
                        <a:t>Trusting trust vs. AI agents</a:t>
                      </a:r>
                      <a:endParaRPr lang="en-US" sz="760" dirty="0">
                        <a:latin typeface="Calibri" charset="0"/>
                        <a:ea typeface="Calibri" charset="0"/>
                        <a:cs typeface="Calibri" charset="0"/>
                      </a:endParaRPr>
                    </a:p>
                  </a:txBody>
                  <a:tcPr marL="91440" marR="91440" marT="45720" marB="45720">
                    <a:lnL w="6350" cap="flat" cmpd="sng" algn="ctr">
                      <a:solidFill>
                        <a:srgbClr val="2A2A30"/>
                      </a:solidFill>
                      <a:prstDash val="solid"/>
                      <a:round/>
                      <a:headEnd type="none" w="med" len="med"/>
                      <a:tailEnd type="none" w="med" len="med"/>
                    </a:lnL>
                    <a:lnR w="6350" cap="flat" cmpd="sng" algn="ctr">
                      <a:solidFill>
                        <a:srgbClr val="2A2A30"/>
                      </a:solidFill>
                      <a:prstDash val="solid"/>
                      <a:round/>
                      <a:headEnd type="none" w="med" len="med"/>
                      <a:tailEnd type="none" w="med" len="med"/>
                    </a:lnR>
                    <a:lnT w="6350" cap="flat" cmpd="sng" algn="ctr">
                      <a:solidFill>
                        <a:srgbClr val="2A2A30"/>
                      </a:solidFill>
                      <a:prstDash val="solid"/>
                      <a:round/>
                      <a:headEnd type="none" w="med" len="med"/>
                      <a:tailEnd type="none" w="med" len="med"/>
                    </a:lnT>
                    <a:lnB w="6350" cap="flat" cmpd="sng" algn="ctr">
                      <a:solidFill>
                        <a:srgbClr val="2A2A30"/>
                      </a:solidFill>
                      <a:prstDash val="solid"/>
                      <a:round/>
                      <a:headEnd type="none" w="med" len="med"/>
                      <a:tailEnd type="none" w="med" len="med"/>
                    </a:lnB>
                    <a:solidFill>
                      <a:srgbClr val="1B1B20"/>
                    </a:solidFill>
                  </a:tcPr>
                </a:tc>
              </a:tr>
            </a:tbl>
          </a:graphicData>
        </a:graphic>
      </p:graphicFrame>
      <p:sp>
        <p:nvSpPr>
          <p:cNvPr id="11" name="Shape 7"/>
          <p:cNvSpPr/>
          <p:nvPr/>
        </p:nvSpPr>
        <p:spPr>
          <a:xfrm>
            <a:off x="502920" y="5623560"/>
            <a:ext cx="10881360" cy="566928"/>
          </a:xfrm>
          <a:prstGeom prst="rect">
            <a:avLst/>
          </a:prstGeom>
          <a:solidFill>
            <a:srgbClr val="1A1013"/>
          </a:solidFill>
          <a:ln w="15875">
            <a:solidFill>
              <a:srgbClr val="FF3B30"/>
            </a:solidFill>
            <a:prstDash val="solid"/>
          </a:ln>
        </p:spPr>
      </p:sp>
      <p:sp>
        <p:nvSpPr>
          <p:cNvPr id="12" name="Shape 8"/>
          <p:cNvSpPr/>
          <p:nvPr/>
        </p:nvSpPr>
        <p:spPr>
          <a:xfrm>
            <a:off x="502920" y="5623560"/>
            <a:ext cx="54864" cy="566928"/>
          </a:xfrm>
          <a:prstGeom prst="rect">
            <a:avLst/>
          </a:prstGeom>
          <a:solidFill>
            <a:srgbClr val="FF3B30"/>
          </a:solidFill>
          <a:ln/>
        </p:spPr>
      </p:sp>
      <p:sp>
        <p:nvSpPr>
          <p:cNvPr id="13" name="Text 9"/>
          <p:cNvSpPr txBox="1"/>
          <p:nvPr/>
        </p:nvSpPr>
        <p:spPr>
          <a:xfrm>
            <a:off x="713232" y="5705856"/>
            <a:ext cx="10424160" cy="420624"/>
          </a:xfrm>
          <a:prstGeom prst="rect">
            <a:avLst/>
          </a:prstGeom>
          <a:noFill/>
          <a:ln/>
        </p:spPr>
        <p:txBody>
          <a:bodyPr wrap="square" lIns="0" tIns="0" rIns="0" bIns="0" rtlCol="0" anchor="ctr"/>
          <a:lstStyle/>
          <a:p>
            <a:pPr indent="0" marL="0">
              <a:lnSpc>
                <a:spcPct val="115000"/>
              </a:lnSpc>
              <a:buNone/>
            </a:pPr>
            <a:r>
              <a:rPr lang="en-US" sz="930" b="1" dirty="0">
                <a:solidFill>
                  <a:srgbClr val="FF3B30"/>
                </a:solidFill>
                <a:latin typeface="Calibri" pitchFamily="34" charset="0"/>
                <a:ea typeface="Calibri" pitchFamily="34" charset="-122"/>
                <a:cs typeface="Calibri" pitchFamily="34" charset="-120"/>
              </a:rPr>
              <a:t>THE GAP:  </a:t>
            </a:r>
            <a:pPr indent="0" marL="0">
              <a:lnSpc>
                <a:spcPct val="115000"/>
              </a:lnSpc>
              <a:buNone/>
            </a:pPr>
            <a:r>
              <a:rPr lang="en-US" sz="930" dirty="0">
                <a:solidFill>
                  <a:srgbClr val="F5F5F2"/>
                </a:solidFill>
                <a:latin typeface="Calibri" pitchFamily="34" charset="0"/>
                <a:ea typeface="Calibri" pitchFamily="34" charset="-122"/>
                <a:cs typeface="Calibri" pitchFamily="34" charset="-120"/>
              </a:rPr>
              <a:t>none of the 24 combine, in one small inspectable C++ project, a from-scratch compiler, a verified quine, genuine self-replication, a working DDC harness, a live evasion contest, and an original detector with a formal proof.</a:t>
            </a:r>
            <a:endParaRPr lang="en-US" sz="9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0" y="896112"/>
            <a:ext cx="12188952" cy="0"/>
          </a:xfrm>
          <a:prstGeom prst="line">
            <a:avLst/>
          </a:prstGeom>
          <a:noFill/>
          <a:ln w="12700">
            <a:solidFill>
              <a:srgbClr val="2A2A30"/>
            </a:solidFill>
            <a:prstDash val="solid"/>
          </a:ln>
        </p:spPr>
      </p:sp>
      <p:sp>
        <p:nvSpPr>
          <p:cNvPr id="3" name="Text 1"/>
          <p:cNvSpPr txBox="1"/>
          <p:nvPr/>
        </p:nvSpPr>
        <p:spPr>
          <a:xfrm>
            <a:off x="8778240" y="256032"/>
            <a:ext cx="2834640" cy="274320"/>
          </a:xfrm>
          <a:prstGeom prst="rect">
            <a:avLst/>
          </a:prstGeom>
          <a:noFill/>
          <a:ln/>
        </p:spPr>
        <p:txBody>
          <a:bodyPr wrap="square" lIns="0" tIns="0" rIns="0" bIns="0" rtlCol="0" anchor="ctr"/>
          <a:lstStyle/>
          <a:p>
            <a:pPr algn="r" indent="0" marL="0">
              <a:buNone/>
            </a:pPr>
            <a:r>
              <a:rPr lang="en-US" sz="900" spc="100" kern="0" dirty="0">
                <a:solidFill>
                  <a:srgbClr val="5C6066"/>
                </a:solidFill>
                <a:latin typeface="Consolas" pitchFamily="34" charset="0"/>
                <a:ea typeface="Consolas" pitchFamily="34" charset="-122"/>
                <a:cs typeface="Consolas" pitchFamily="34" charset="-120"/>
              </a:rPr>
              <a:t>TRUSTING_TRUST.EXE</a:t>
            </a:r>
            <a:endParaRPr lang="en-US" sz="900" dirty="0"/>
          </a:p>
        </p:txBody>
      </p:sp>
      <p:sp>
        <p:nvSpPr>
          <p:cNvPr id="4" name="Shape 2"/>
          <p:cNvSpPr/>
          <p:nvPr/>
        </p:nvSpPr>
        <p:spPr>
          <a:xfrm>
            <a:off x="0" y="6419088"/>
            <a:ext cx="12188952" cy="0"/>
          </a:xfrm>
          <a:prstGeom prst="line">
            <a:avLst/>
          </a:prstGeom>
          <a:noFill/>
          <a:ln w="12700">
            <a:solidFill>
              <a:srgbClr val="2A2A30"/>
            </a:solidFill>
            <a:prstDash val="solid"/>
          </a:ln>
        </p:spPr>
      </p:sp>
      <p:sp>
        <p:nvSpPr>
          <p:cNvPr id="5" name="Text 3"/>
          <p:cNvSpPr txBox="1"/>
          <p:nvPr/>
        </p:nvSpPr>
        <p:spPr>
          <a:xfrm>
            <a:off x="457200" y="6492240"/>
            <a:ext cx="3657600" cy="256032"/>
          </a:xfrm>
          <a:prstGeom prst="rect">
            <a:avLst/>
          </a:prstGeom>
          <a:noFill/>
          <a:ln/>
        </p:spPr>
        <p:txBody>
          <a:bodyPr wrap="square" lIns="0" tIns="0" rIns="0" bIns="0" rtlCol="0" anchor="ctr"/>
          <a:lstStyle/>
          <a:p>
            <a:pPr indent="0" marL="0">
              <a:buNone/>
            </a:pPr>
            <a:r>
              <a:rPr lang="en-US" sz="850" dirty="0">
                <a:solidFill>
                  <a:srgbClr val="5C6066"/>
                </a:solidFill>
                <a:latin typeface="Consolas" pitchFamily="34" charset="0"/>
                <a:ea typeface="Consolas" pitchFamily="34" charset="-122"/>
                <a:cs typeface="Consolas" pitchFamily="34" charset="-120"/>
              </a:rPr>
              <a:t>root@ttrevisited:~$</a:t>
            </a:r>
            <a:endParaRPr lang="en-US" sz="850" dirty="0"/>
          </a:p>
        </p:txBody>
      </p:sp>
      <p:sp>
        <p:nvSpPr>
          <p:cNvPr id="6" name="Text 4"/>
          <p:cNvSpPr txBox="1"/>
          <p:nvPr/>
        </p:nvSpPr>
        <p:spPr>
          <a:xfrm>
            <a:off x="10424160" y="6492240"/>
            <a:ext cx="1371600" cy="256032"/>
          </a:xfrm>
          <a:prstGeom prst="rect">
            <a:avLst/>
          </a:prstGeom>
          <a:noFill/>
          <a:ln/>
        </p:spPr>
        <p:txBody>
          <a:bodyPr wrap="square" lIns="0" tIns="0" rIns="0" bIns="0" rtlCol="0" anchor="ctr"/>
          <a:lstStyle/>
          <a:p>
            <a:pPr algn="r" indent="0" marL="0">
              <a:buNone/>
            </a:pPr>
            <a:r>
              <a:rPr lang="en-US" sz="900" b="1" dirty="0">
                <a:solidFill>
                  <a:srgbClr val="9AA0A6"/>
                </a:solidFill>
                <a:latin typeface="Consolas" pitchFamily="34" charset="0"/>
                <a:ea typeface="Consolas" pitchFamily="34" charset="-122"/>
                <a:cs typeface="Consolas" pitchFamily="34" charset="-120"/>
              </a:rPr>
              <a:t>[ 06 / 11 ]</a:t>
            </a:r>
            <a:endParaRPr lang="en-US" sz="900" dirty="0"/>
          </a:p>
        </p:txBody>
      </p:sp>
      <p:sp>
        <p:nvSpPr>
          <p:cNvPr id="7" name="Text 5"/>
          <p:cNvSpPr txBox="1"/>
          <p:nvPr/>
        </p:nvSpPr>
        <p:spPr>
          <a:xfrm>
            <a:off x="502920" y="1060704"/>
            <a:ext cx="10058400" cy="292608"/>
          </a:xfrm>
          <a:prstGeom prst="rect">
            <a:avLst/>
          </a:prstGeom>
          <a:noFill/>
          <a:ln/>
        </p:spPr>
        <p:txBody>
          <a:bodyPr wrap="square" lIns="0" tIns="0" rIns="0" bIns="0" rtlCol="0" anchor="ctr"/>
          <a:lstStyle/>
          <a:p>
            <a:pPr indent="0" marL="0">
              <a:buNone/>
            </a:pPr>
            <a:r>
              <a:rPr lang="en-US" sz="1250" b="1" spc="50" kern="0" dirty="0">
                <a:solidFill>
                  <a:srgbClr val="00D97E"/>
                </a:solidFill>
                <a:latin typeface="Consolas" pitchFamily="34" charset="0"/>
                <a:ea typeface="Consolas" pitchFamily="34" charset="-122"/>
                <a:cs typeface="Consolas" pitchFamily="34" charset="-120"/>
              </a:rPr>
              <a:t>&gt;_ </a:t>
            </a:r>
            <a:pPr indent="0" marL="0">
              <a:buNone/>
            </a:pPr>
            <a:r>
              <a:rPr lang="en-US" sz="1250" b="1" spc="50" kern="0" dirty="0">
                <a:solidFill>
                  <a:srgbClr val="9AA0A6"/>
                </a:solidFill>
                <a:latin typeface="Consolas" pitchFamily="34" charset="0"/>
                <a:ea typeface="Consolas" pitchFamily="34" charset="-122"/>
                <a:cs typeface="Consolas" pitchFamily="34" charset="-120"/>
              </a:rPr>
              <a:t>06 // IMPLEMENTATION // I OF II</a:t>
            </a:r>
            <a:endParaRPr lang="en-US" sz="1250" dirty="0"/>
          </a:p>
        </p:txBody>
      </p:sp>
      <p:sp>
        <p:nvSpPr>
          <p:cNvPr id="8" name="Text 6"/>
          <p:cNvSpPr txBox="1"/>
          <p:nvPr/>
        </p:nvSpPr>
        <p:spPr>
          <a:xfrm>
            <a:off x="502920" y="1408176"/>
            <a:ext cx="11155680" cy="868680"/>
          </a:xfrm>
          <a:prstGeom prst="rect">
            <a:avLst/>
          </a:prstGeom>
          <a:noFill/>
          <a:ln/>
        </p:spPr>
        <p:txBody>
          <a:bodyPr wrap="square" lIns="0" tIns="0" rIns="0" bIns="0" rtlCol="0" anchor="t"/>
          <a:lstStyle/>
          <a:p>
            <a:pPr indent="0" marL="0">
              <a:lnSpc>
                <a:spcPct val="102000"/>
              </a:lnSpc>
              <a:buNone/>
            </a:pPr>
            <a:r>
              <a:rPr lang="en-US" sz="2800" b="1" dirty="0">
                <a:solidFill>
                  <a:srgbClr val="F5F5F2"/>
                </a:solidFill>
                <a:latin typeface="Calibri" pitchFamily="34" charset="0"/>
                <a:ea typeface="Calibri" pitchFamily="34" charset="-122"/>
                <a:cs typeface="Calibri" pitchFamily="34" charset="-120"/>
              </a:rPr>
              <a:t>Five phases. One kill chain.</a:t>
            </a:r>
            <a:endParaRPr lang="en-US" sz="2800" dirty="0"/>
          </a:p>
        </p:txBody>
      </p:sp>
      <p:sp>
        <p:nvSpPr>
          <p:cNvPr id="9" name="Shape 7"/>
          <p:cNvSpPr/>
          <p:nvPr/>
        </p:nvSpPr>
        <p:spPr>
          <a:xfrm>
            <a:off x="502920" y="2331720"/>
            <a:ext cx="2157984" cy="777240"/>
          </a:xfrm>
          <a:prstGeom prst="chevron">
            <a:avLst/>
          </a:prstGeom>
          <a:solidFill>
            <a:srgbClr val="1B1B20"/>
          </a:solidFill>
          <a:ln w="19050">
            <a:solidFill>
              <a:srgbClr val="0A0A0C"/>
            </a:solidFill>
            <a:prstDash val="solid"/>
          </a:ln>
        </p:spPr>
      </p:sp>
      <p:sp>
        <p:nvSpPr>
          <p:cNvPr id="10" name="Text 8"/>
          <p:cNvSpPr txBox="1"/>
          <p:nvPr/>
        </p:nvSpPr>
        <p:spPr>
          <a:xfrm>
            <a:off x="740664" y="2423160"/>
            <a:ext cx="1655064" cy="256032"/>
          </a:xfrm>
          <a:prstGeom prst="rect">
            <a:avLst/>
          </a:prstGeom>
          <a:noFill/>
          <a:ln/>
        </p:spPr>
        <p:txBody>
          <a:bodyPr wrap="square" lIns="0" tIns="0" rIns="0" bIns="0" rtlCol="0" anchor="ctr"/>
          <a:lstStyle/>
          <a:p>
            <a:pPr indent="0" marL="0">
              <a:buNone/>
            </a:pPr>
            <a:r>
              <a:rPr lang="en-US" sz="950" b="1" spc="50" kern="0" dirty="0">
                <a:solidFill>
                  <a:srgbClr val="F5F5F2"/>
                </a:solidFill>
                <a:latin typeface="Consolas" pitchFamily="34" charset="0"/>
                <a:ea typeface="Consolas" pitchFamily="34" charset="-122"/>
                <a:cs typeface="Consolas" pitchFamily="34" charset="-120"/>
              </a:rPr>
              <a:t>PH.1</a:t>
            </a:r>
            <a:endParaRPr lang="en-US" sz="950" dirty="0"/>
          </a:p>
        </p:txBody>
      </p:sp>
      <p:sp>
        <p:nvSpPr>
          <p:cNvPr id="11" name="Text 9"/>
          <p:cNvSpPr txBox="1"/>
          <p:nvPr/>
        </p:nvSpPr>
        <p:spPr>
          <a:xfrm>
            <a:off x="740664" y="2660904"/>
            <a:ext cx="1792224" cy="365760"/>
          </a:xfrm>
          <a:prstGeom prst="rect">
            <a:avLst/>
          </a:prstGeom>
          <a:noFill/>
          <a:ln/>
        </p:spPr>
        <p:txBody>
          <a:bodyPr wrap="square" lIns="0" tIns="0" rIns="0" bIns="0" rtlCol="0" anchor="ctr"/>
          <a:lstStyle/>
          <a:p>
            <a:pPr indent="0" marL="0">
              <a:buNone/>
            </a:pPr>
            <a:r>
              <a:rPr lang="en-US" sz="1150" b="1" dirty="0">
                <a:solidFill>
                  <a:srgbClr val="F5F5F2"/>
                </a:solidFill>
                <a:latin typeface="Calibri" pitchFamily="34" charset="0"/>
                <a:ea typeface="Calibri" pitchFamily="34" charset="-122"/>
                <a:cs typeface="Calibri" pitchFamily="34" charset="-120"/>
              </a:rPr>
              <a:t>Clean compiler</a:t>
            </a:r>
            <a:endParaRPr lang="en-US" sz="1150" dirty="0"/>
          </a:p>
        </p:txBody>
      </p:sp>
      <p:sp>
        <p:nvSpPr>
          <p:cNvPr id="12" name="Shape 10"/>
          <p:cNvSpPr/>
          <p:nvPr/>
        </p:nvSpPr>
        <p:spPr>
          <a:xfrm>
            <a:off x="2752344" y="2331720"/>
            <a:ext cx="2157984" cy="777240"/>
          </a:xfrm>
          <a:prstGeom prst="chevron">
            <a:avLst/>
          </a:prstGeom>
          <a:solidFill>
            <a:srgbClr val="1B1B20"/>
          </a:solidFill>
          <a:ln w="19050">
            <a:solidFill>
              <a:srgbClr val="0A0A0C"/>
            </a:solidFill>
            <a:prstDash val="solid"/>
          </a:ln>
        </p:spPr>
      </p:sp>
      <p:sp>
        <p:nvSpPr>
          <p:cNvPr id="13" name="Text 11"/>
          <p:cNvSpPr txBox="1"/>
          <p:nvPr/>
        </p:nvSpPr>
        <p:spPr>
          <a:xfrm>
            <a:off x="2990088" y="2423160"/>
            <a:ext cx="1655064" cy="256032"/>
          </a:xfrm>
          <a:prstGeom prst="rect">
            <a:avLst/>
          </a:prstGeom>
          <a:noFill/>
          <a:ln/>
        </p:spPr>
        <p:txBody>
          <a:bodyPr wrap="square" lIns="0" tIns="0" rIns="0" bIns="0" rtlCol="0" anchor="ctr"/>
          <a:lstStyle/>
          <a:p>
            <a:pPr indent="0" marL="0">
              <a:buNone/>
            </a:pPr>
            <a:r>
              <a:rPr lang="en-US" sz="950" b="1" spc="50" kern="0" dirty="0">
                <a:solidFill>
                  <a:srgbClr val="F5F5F2"/>
                </a:solidFill>
                <a:latin typeface="Consolas" pitchFamily="34" charset="0"/>
                <a:ea typeface="Consolas" pitchFamily="34" charset="-122"/>
                <a:cs typeface="Consolas" pitchFamily="34" charset="-120"/>
              </a:rPr>
              <a:t>PH.2</a:t>
            </a:r>
            <a:endParaRPr lang="en-US" sz="950" dirty="0"/>
          </a:p>
        </p:txBody>
      </p:sp>
      <p:sp>
        <p:nvSpPr>
          <p:cNvPr id="14" name="Text 12"/>
          <p:cNvSpPr txBox="1"/>
          <p:nvPr/>
        </p:nvSpPr>
        <p:spPr>
          <a:xfrm>
            <a:off x="2990088" y="2660904"/>
            <a:ext cx="1792224" cy="365760"/>
          </a:xfrm>
          <a:prstGeom prst="rect">
            <a:avLst/>
          </a:prstGeom>
          <a:noFill/>
          <a:ln/>
        </p:spPr>
        <p:txBody>
          <a:bodyPr wrap="square" lIns="0" tIns="0" rIns="0" bIns="0" rtlCol="0" anchor="ctr"/>
          <a:lstStyle/>
          <a:p>
            <a:pPr indent="0" marL="0">
              <a:buNone/>
            </a:pPr>
            <a:r>
              <a:rPr lang="en-US" sz="1150" b="1" dirty="0">
                <a:solidFill>
                  <a:srgbClr val="F5F5F2"/>
                </a:solidFill>
                <a:latin typeface="Calibri" pitchFamily="34" charset="0"/>
                <a:ea typeface="Calibri" pitchFamily="34" charset="-122"/>
                <a:cs typeface="Calibri" pitchFamily="34" charset="-120"/>
              </a:rPr>
              <a:t>Inject marker</a:t>
            </a:r>
            <a:endParaRPr lang="en-US" sz="1150" dirty="0"/>
          </a:p>
        </p:txBody>
      </p:sp>
      <p:sp>
        <p:nvSpPr>
          <p:cNvPr id="15" name="Shape 13"/>
          <p:cNvSpPr/>
          <p:nvPr/>
        </p:nvSpPr>
        <p:spPr>
          <a:xfrm>
            <a:off x="5001768" y="2331720"/>
            <a:ext cx="2157984" cy="777240"/>
          </a:xfrm>
          <a:prstGeom prst="chevron">
            <a:avLst/>
          </a:prstGeom>
          <a:solidFill>
            <a:srgbClr val="1B1B20"/>
          </a:solidFill>
          <a:ln w="19050">
            <a:solidFill>
              <a:srgbClr val="0A0A0C"/>
            </a:solidFill>
            <a:prstDash val="solid"/>
          </a:ln>
        </p:spPr>
      </p:sp>
      <p:sp>
        <p:nvSpPr>
          <p:cNvPr id="16" name="Text 14"/>
          <p:cNvSpPr txBox="1"/>
          <p:nvPr/>
        </p:nvSpPr>
        <p:spPr>
          <a:xfrm>
            <a:off x="5239512" y="2423160"/>
            <a:ext cx="1655064" cy="256032"/>
          </a:xfrm>
          <a:prstGeom prst="rect">
            <a:avLst/>
          </a:prstGeom>
          <a:noFill/>
          <a:ln/>
        </p:spPr>
        <p:txBody>
          <a:bodyPr wrap="square" lIns="0" tIns="0" rIns="0" bIns="0" rtlCol="0" anchor="ctr"/>
          <a:lstStyle/>
          <a:p>
            <a:pPr indent="0" marL="0">
              <a:buNone/>
            </a:pPr>
            <a:r>
              <a:rPr lang="en-US" sz="950" b="1" spc="50" kern="0" dirty="0">
                <a:solidFill>
                  <a:srgbClr val="F5F5F2"/>
                </a:solidFill>
                <a:latin typeface="Consolas" pitchFamily="34" charset="0"/>
                <a:ea typeface="Consolas" pitchFamily="34" charset="-122"/>
                <a:cs typeface="Consolas" pitchFamily="34" charset="-120"/>
              </a:rPr>
              <a:t>PH.3</a:t>
            </a:r>
            <a:endParaRPr lang="en-US" sz="950" dirty="0"/>
          </a:p>
        </p:txBody>
      </p:sp>
      <p:sp>
        <p:nvSpPr>
          <p:cNvPr id="17" name="Text 15"/>
          <p:cNvSpPr txBox="1"/>
          <p:nvPr/>
        </p:nvSpPr>
        <p:spPr>
          <a:xfrm>
            <a:off x="5239512" y="2660904"/>
            <a:ext cx="1792224" cy="365760"/>
          </a:xfrm>
          <a:prstGeom prst="rect">
            <a:avLst/>
          </a:prstGeom>
          <a:noFill/>
          <a:ln/>
        </p:spPr>
        <p:txBody>
          <a:bodyPr wrap="square" lIns="0" tIns="0" rIns="0" bIns="0" rtlCol="0" anchor="ctr"/>
          <a:lstStyle/>
          <a:p>
            <a:pPr indent="0" marL="0">
              <a:buNone/>
            </a:pPr>
            <a:r>
              <a:rPr lang="en-US" sz="1150" b="1" dirty="0">
                <a:solidFill>
                  <a:srgbClr val="F5F5F2"/>
                </a:solidFill>
                <a:latin typeface="Calibri" pitchFamily="34" charset="0"/>
                <a:ea typeface="Calibri" pitchFamily="34" charset="-122"/>
                <a:cs typeface="Calibri" pitchFamily="34" charset="-120"/>
              </a:rPr>
              <a:t>Build quine</a:t>
            </a:r>
            <a:endParaRPr lang="en-US" sz="1150" dirty="0"/>
          </a:p>
        </p:txBody>
      </p:sp>
      <p:sp>
        <p:nvSpPr>
          <p:cNvPr id="18" name="Shape 16"/>
          <p:cNvSpPr/>
          <p:nvPr/>
        </p:nvSpPr>
        <p:spPr>
          <a:xfrm>
            <a:off x="7251192" y="2331720"/>
            <a:ext cx="2157984" cy="777240"/>
          </a:xfrm>
          <a:prstGeom prst="chevron">
            <a:avLst/>
          </a:prstGeom>
          <a:solidFill>
            <a:srgbClr val="FF3B30"/>
          </a:solidFill>
          <a:ln w="19050">
            <a:solidFill>
              <a:srgbClr val="0A0A0C"/>
            </a:solidFill>
            <a:prstDash val="solid"/>
          </a:ln>
        </p:spPr>
      </p:sp>
      <p:sp>
        <p:nvSpPr>
          <p:cNvPr id="19" name="Text 17"/>
          <p:cNvSpPr txBox="1"/>
          <p:nvPr/>
        </p:nvSpPr>
        <p:spPr>
          <a:xfrm>
            <a:off x="7488936" y="2423160"/>
            <a:ext cx="1655064" cy="256032"/>
          </a:xfrm>
          <a:prstGeom prst="rect">
            <a:avLst/>
          </a:prstGeom>
          <a:noFill/>
          <a:ln/>
        </p:spPr>
        <p:txBody>
          <a:bodyPr wrap="square" lIns="0" tIns="0" rIns="0" bIns="0" rtlCol="0" anchor="ctr"/>
          <a:lstStyle/>
          <a:p>
            <a:pPr indent="0" marL="0">
              <a:buNone/>
            </a:pPr>
            <a:r>
              <a:rPr lang="en-US" sz="950" b="1" spc="50" kern="0" dirty="0">
                <a:solidFill>
                  <a:srgbClr val="F5F5F2"/>
                </a:solidFill>
                <a:latin typeface="Consolas" pitchFamily="34" charset="0"/>
                <a:ea typeface="Consolas" pitchFamily="34" charset="-122"/>
                <a:cs typeface="Consolas" pitchFamily="34" charset="-120"/>
              </a:rPr>
              <a:t>PH.4</a:t>
            </a:r>
            <a:endParaRPr lang="en-US" sz="950" dirty="0"/>
          </a:p>
        </p:txBody>
      </p:sp>
      <p:sp>
        <p:nvSpPr>
          <p:cNvPr id="20" name="Text 18"/>
          <p:cNvSpPr txBox="1"/>
          <p:nvPr/>
        </p:nvSpPr>
        <p:spPr>
          <a:xfrm>
            <a:off x="7488936" y="2660904"/>
            <a:ext cx="1792224" cy="365760"/>
          </a:xfrm>
          <a:prstGeom prst="rect">
            <a:avLst/>
          </a:prstGeom>
          <a:noFill/>
          <a:ln/>
        </p:spPr>
        <p:txBody>
          <a:bodyPr wrap="square" lIns="0" tIns="0" rIns="0" bIns="0" rtlCol="0" anchor="ctr"/>
          <a:lstStyle/>
          <a:p>
            <a:pPr indent="0" marL="0">
              <a:buNone/>
            </a:pPr>
            <a:r>
              <a:rPr lang="en-US" sz="1150" b="1" dirty="0">
                <a:solidFill>
                  <a:srgbClr val="F5F5F2"/>
                </a:solidFill>
                <a:latin typeface="Calibri" pitchFamily="34" charset="0"/>
                <a:ea typeface="Calibri" pitchFamily="34" charset="-122"/>
                <a:cs typeface="Calibri" pitchFamily="34" charset="-120"/>
              </a:rPr>
              <a:t>Self-replicate</a:t>
            </a:r>
            <a:endParaRPr lang="en-US" sz="1150" dirty="0"/>
          </a:p>
        </p:txBody>
      </p:sp>
      <p:sp>
        <p:nvSpPr>
          <p:cNvPr id="21" name="Shape 19"/>
          <p:cNvSpPr/>
          <p:nvPr/>
        </p:nvSpPr>
        <p:spPr>
          <a:xfrm>
            <a:off x="9500616" y="2331720"/>
            <a:ext cx="2157984" cy="777240"/>
          </a:xfrm>
          <a:prstGeom prst="chevron">
            <a:avLst/>
          </a:prstGeom>
          <a:solidFill>
            <a:srgbClr val="00D97E"/>
          </a:solidFill>
          <a:ln w="19050">
            <a:solidFill>
              <a:srgbClr val="0A0A0C"/>
            </a:solidFill>
            <a:prstDash val="solid"/>
          </a:ln>
        </p:spPr>
      </p:sp>
      <p:sp>
        <p:nvSpPr>
          <p:cNvPr id="22" name="Text 20"/>
          <p:cNvSpPr txBox="1"/>
          <p:nvPr/>
        </p:nvSpPr>
        <p:spPr>
          <a:xfrm>
            <a:off x="9738360" y="2423160"/>
            <a:ext cx="1655064" cy="256032"/>
          </a:xfrm>
          <a:prstGeom prst="rect">
            <a:avLst/>
          </a:prstGeom>
          <a:noFill/>
          <a:ln/>
        </p:spPr>
        <p:txBody>
          <a:bodyPr wrap="square" lIns="0" tIns="0" rIns="0" bIns="0" rtlCol="0" anchor="ctr"/>
          <a:lstStyle/>
          <a:p>
            <a:pPr indent="0" marL="0">
              <a:buNone/>
            </a:pPr>
            <a:r>
              <a:rPr lang="en-US" sz="950" b="1" spc="50" kern="0" dirty="0">
                <a:solidFill>
                  <a:srgbClr val="F5F5F2"/>
                </a:solidFill>
                <a:latin typeface="Consolas" pitchFamily="34" charset="0"/>
                <a:ea typeface="Consolas" pitchFamily="34" charset="-122"/>
                <a:cs typeface="Consolas" pitchFamily="34" charset="-120"/>
              </a:rPr>
              <a:t>PH.5</a:t>
            </a:r>
            <a:endParaRPr lang="en-US" sz="950" dirty="0"/>
          </a:p>
        </p:txBody>
      </p:sp>
      <p:sp>
        <p:nvSpPr>
          <p:cNvPr id="23" name="Text 21"/>
          <p:cNvSpPr txBox="1"/>
          <p:nvPr/>
        </p:nvSpPr>
        <p:spPr>
          <a:xfrm>
            <a:off x="9738360" y="2660904"/>
            <a:ext cx="1792224" cy="365760"/>
          </a:xfrm>
          <a:prstGeom prst="rect">
            <a:avLst/>
          </a:prstGeom>
          <a:noFill/>
          <a:ln/>
        </p:spPr>
        <p:txBody>
          <a:bodyPr wrap="square" lIns="0" tIns="0" rIns="0" bIns="0" rtlCol="0" anchor="ctr"/>
          <a:lstStyle/>
          <a:p>
            <a:pPr indent="0" marL="0">
              <a:buNone/>
            </a:pPr>
            <a:r>
              <a:rPr lang="en-US" sz="1150" b="1" dirty="0">
                <a:solidFill>
                  <a:srgbClr val="F5F5F2"/>
                </a:solidFill>
                <a:latin typeface="Calibri" pitchFamily="34" charset="0"/>
                <a:ea typeface="Calibri" pitchFamily="34" charset="-122"/>
                <a:cs typeface="Calibri" pitchFamily="34" charset="-120"/>
              </a:rPr>
              <a:t>DDC defense</a:t>
            </a:r>
            <a:endParaRPr lang="en-US" sz="1150" dirty="0"/>
          </a:p>
        </p:txBody>
      </p:sp>
      <p:sp>
        <p:nvSpPr>
          <p:cNvPr id="24" name="Text 22"/>
          <p:cNvSpPr txBox="1"/>
          <p:nvPr/>
        </p:nvSpPr>
        <p:spPr>
          <a:xfrm>
            <a:off x="502920" y="3291840"/>
            <a:ext cx="2157984" cy="822960"/>
          </a:xfrm>
          <a:prstGeom prst="rect">
            <a:avLst/>
          </a:prstGeom>
          <a:noFill/>
          <a:ln/>
        </p:spPr>
        <p:txBody>
          <a:bodyPr wrap="square" lIns="0" tIns="0" rIns="0" bIns="0" rtlCol="0" anchor="ctr"/>
          <a:lstStyle/>
          <a:p>
            <a:pPr indent="0" marL="0">
              <a:lnSpc>
                <a:spcPct val="120000"/>
              </a:lnSpc>
              <a:buNone/>
            </a:pPr>
            <a:r>
              <a:rPr lang="en-US" sz="860" dirty="0">
                <a:solidFill>
                  <a:srgbClr val="9AA0A6"/>
                </a:solidFill>
                <a:latin typeface="Calibri" pitchFamily="34" charset="0"/>
                <a:ea typeface="Calibri" pitchFamily="34" charset="-122"/>
                <a:cs typeface="Calibri" pitchFamily="34" charset="-120"/>
              </a:rPr>
              <a:t>9/9 tests pass. 3 runs, byte-identical hashes.</a:t>
            </a:r>
            <a:endParaRPr lang="en-US" sz="860" dirty="0"/>
          </a:p>
        </p:txBody>
      </p:sp>
      <p:sp>
        <p:nvSpPr>
          <p:cNvPr id="25" name="Text 23"/>
          <p:cNvSpPr txBox="1"/>
          <p:nvPr/>
        </p:nvSpPr>
        <p:spPr>
          <a:xfrm>
            <a:off x="2752344" y="3291840"/>
            <a:ext cx="2157984" cy="822960"/>
          </a:xfrm>
          <a:prstGeom prst="rect">
            <a:avLst/>
          </a:prstGeom>
          <a:noFill/>
          <a:ln/>
        </p:spPr>
        <p:txBody>
          <a:bodyPr wrap="square" lIns="0" tIns="0" rIns="0" bIns="0" rtlCol="0" anchor="ctr"/>
          <a:lstStyle/>
          <a:p>
            <a:pPr indent="0" marL="0">
              <a:lnSpc>
                <a:spcPct val="120000"/>
              </a:lnSpc>
              <a:buNone/>
            </a:pPr>
            <a:r>
              <a:rPr lang="en-US" sz="860" dirty="0">
                <a:solidFill>
                  <a:srgbClr val="9AA0A6"/>
                </a:solidFill>
                <a:latin typeface="Calibri" pitchFamily="34" charset="0"/>
                <a:ea typeface="Calibri" pitchFamily="34" charset="-122"/>
                <a:cs typeface="Calibri" pitchFamily="34" charset="-120"/>
              </a:rPr>
              <a:t>Marker confirmed scoped to one function only.</a:t>
            </a:r>
            <a:endParaRPr lang="en-US" sz="860" dirty="0"/>
          </a:p>
        </p:txBody>
      </p:sp>
      <p:sp>
        <p:nvSpPr>
          <p:cNvPr id="26" name="Text 24"/>
          <p:cNvSpPr txBox="1"/>
          <p:nvPr/>
        </p:nvSpPr>
        <p:spPr>
          <a:xfrm>
            <a:off x="5001768" y="3291840"/>
            <a:ext cx="2157984" cy="822960"/>
          </a:xfrm>
          <a:prstGeom prst="rect">
            <a:avLst/>
          </a:prstGeom>
          <a:noFill/>
          <a:ln/>
        </p:spPr>
        <p:txBody>
          <a:bodyPr wrap="square" lIns="0" tIns="0" rIns="0" bIns="0" rtlCol="0" anchor="ctr"/>
          <a:lstStyle/>
          <a:p>
            <a:pPr indent="0" marL="0">
              <a:lnSpc>
                <a:spcPct val="120000"/>
              </a:lnSpc>
              <a:buNone/>
            </a:pPr>
            <a:r>
              <a:rPr lang="en-US" sz="860" dirty="0">
                <a:solidFill>
                  <a:srgbClr val="9AA0A6"/>
                </a:solidFill>
                <a:latin typeface="Calibri" pitchFamily="34" charset="0"/>
                <a:ea typeface="Calibri" pitchFamily="34" charset="-122"/>
                <a:cs typeface="Calibri" pitchFamily="34" charset="-120"/>
              </a:rPr>
              <a:t>Verified stable across 2 self-print generations.</a:t>
            </a:r>
            <a:endParaRPr lang="en-US" sz="860" dirty="0"/>
          </a:p>
        </p:txBody>
      </p:sp>
      <p:sp>
        <p:nvSpPr>
          <p:cNvPr id="27" name="Text 25"/>
          <p:cNvSpPr txBox="1"/>
          <p:nvPr/>
        </p:nvSpPr>
        <p:spPr>
          <a:xfrm>
            <a:off x="7251192" y="3291840"/>
            <a:ext cx="2157984" cy="822960"/>
          </a:xfrm>
          <a:prstGeom prst="rect">
            <a:avLst/>
          </a:prstGeom>
          <a:noFill/>
          <a:ln/>
        </p:spPr>
        <p:txBody>
          <a:bodyPr wrap="square" lIns="0" tIns="0" rIns="0" bIns="0" rtlCol="0" anchor="ctr"/>
          <a:lstStyle/>
          <a:p>
            <a:pPr indent="0" marL="0">
              <a:lnSpc>
                <a:spcPct val="120000"/>
              </a:lnSpc>
              <a:buNone/>
            </a:pPr>
            <a:r>
              <a:rPr lang="en-US" sz="860" dirty="0">
                <a:solidFill>
                  <a:srgbClr val="9AA0A6"/>
                </a:solidFill>
                <a:latin typeface="Calibri" pitchFamily="34" charset="0"/>
                <a:ea typeface="Calibri" pitchFamily="34" charset="-122"/>
                <a:cs typeface="Calibri" pitchFamily="34" charset="-120"/>
              </a:rPr>
              <a:t>Survives deletion. Stable fixed point by gen. 3.</a:t>
            </a:r>
            <a:endParaRPr lang="en-US" sz="860" dirty="0"/>
          </a:p>
        </p:txBody>
      </p:sp>
      <p:sp>
        <p:nvSpPr>
          <p:cNvPr id="28" name="Text 26"/>
          <p:cNvSpPr txBox="1"/>
          <p:nvPr/>
        </p:nvSpPr>
        <p:spPr>
          <a:xfrm>
            <a:off x="9500616" y="3291840"/>
            <a:ext cx="2157984" cy="822960"/>
          </a:xfrm>
          <a:prstGeom prst="rect">
            <a:avLst/>
          </a:prstGeom>
          <a:noFill/>
          <a:ln/>
        </p:spPr>
        <p:txBody>
          <a:bodyPr wrap="square" lIns="0" tIns="0" rIns="0" bIns="0" rtlCol="0" anchor="ctr"/>
          <a:lstStyle/>
          <a:p>
            <a:pPr indent="0" marL="0">
              <a:lnSpc>
                <a:spcPct val="120000"/>
              </a:lnSpc>
              <a:buNone/>
            </a:pPr>
            <a:r>
              <a:rPr lang="en-US" sz="860" dirty="0">
                <a:solidFill>
                  <a:srgbClr val="9AA0A6"/>
                </a:solidFill>
                <a:latin typeface="Calibri" pitchFamily="34" charset="0"/>
                <a:ea typeface="Calibri" pitchFamily="34" charset="-122"/>
                <a:cs typeface="Calibri" pitchFamily="34" charset="-120"/>
              </a:rPr>
              <a:t>Real alert on infected; real pass on clean x2.</a:t>
            </a:r>
            <a:endParaRPr lang="en-US" sz="860" dirty="0"/>
          </a:p>
        </p:txBody>
      </p:sp>
      <p:sp>
        <p:nvSpPr>
          <p:cNvPr id="29" name="Shape 27"/>
          <p:cNvSpPr/>
          <p:nvPr/>
        </p:nvSpPr>
        <p:spPr>
          <a:xfrm>
            <a:off x="502920" y="3977640"/>
            <a:ext cx="11155680" cy="2103120"/>
          </a:xfrm>
          <a:prstGeom prst="rect">
            <a:avLst/>
          </a:prstGeom>
          <a:solidFill>
            <a:srgbClr val="000000"/>
          </a:solidFill>
          <a:ln w="12700">
            <a:solidFill>
              <a:srgbClr val="2A2A30"/>
            </a:solidFill>
            <a:prstDash val="solid"/>
          </a:ln>
        </p:spPr>
      </p:sp>
      <p:sp>
        <p:nvSpPr>
          <p:cNvPr id="30" name="Shape 28"/>
          <p:cNvSpPr/>
          <p:nvPr/>
        </p:nvSpPr>
        <p:spPr>
          <a:xfrm>
            <a:off x="502920" y="3977640"/>
            <a:ext cx="11155680" cy="292608"/>
          </a:xfrm>
          <a:prstGeom prst="rect">
            <a:avLst/>
          </a:prstGeom>
          <a:solidFill>
            <a:srgbClr val="17171B"/>
          </a:solidFill>
          <a:ln/>
        </p:spPr>
      </p:sp>
      <p:sp>
        <p:nvSpPr>
          <p:cNvPr id="31" name="Shape 29"/>
          <p:cNvSpPr/>
          <p:nvPr/>
        </p:nvSpPr>
        <p:spPr>
          <a:xfrm>
            <a:off x="630936" y="4078224"/>
            <a:ext cx="91440" cy="91440"/>
          </a:xfrm>
          <a:prstGeom prst="ellipse">
            <a:avLst/>
          </a:prstGeom>
          <a:solidFill>
            <a:srgbClr val="FF3B30"/>
          </a:solidFill>
          <a:ln/>
        </p:spPr>
      </p:sp>
      <p:sp>
        <p:nvSpPr>
          <p:cNvPr id="32" name="Shape 30"/>
          <p:cNvSpPr/>
          <p:nvPr/>
        </p:nvSpPr>
        <p:spPr>
          <a:xfrm>
            <a:off x="813816" y="4078224"/>
            <a:ext cx="91440" cy="91440"/>
          </a:xfrm>
          <a:prstGeom prst="ellipse">
            <a:avLst/>
          </a:prstGeom>
          <a:solidFill>
            <a:srgbClr val="FFB020"/>
          </a:solidFill>
          <a:ln/>
        </p:spPr>
      </p:sp>
      <p:sp>
        <p:nvSpPr>
          <p:cNvPr id="33" name="Shape 31"/>
          <p:cNvSpPr/>
          <p:nvPr/>
        </p:nvSpPr>
        <p:spPr>
          <a:xfrm>
            <a:off x="996696" y="4078224"/>
            <a:ext cx="91440" cy="91440"/>
          </a:xfrm>
          <a:prstGeom prst="ellipse">
            <a:avLst/>
          </a:prstGeom>
          <a:solidFill>
            <a:srgbClr val="00D97E"/>
          </a:solidFill>
          <a:ln/>
        </p:spPr>
      </p:sp>
      <p:sp>
        <p:nvSpPr>
          <p:cNvPr id="34" name="Text 32"/>
          <p:cNvSpPr txBox="1"/>
          <p:nvPr/>
        </p:nvSpPr>
        <p:spPr>
          <a:xfrm>
            <a:off x="1325880" y="4005072"/>
            <a:ext cx="10149840" cy="237744"/>
          </a:xfrm>
          <a:prstGeom prst="rect">
            <a:avLst/>
          </a:prstGeom>
          <a:noFill/>
          <a:ln/>
        </p:spPr>
        <p:txBody>
          <a:bodyPr wrap="square" lIns="0" tIns="0" rIns="0" bIns="0" rtlCol="0" anchor="ctr"/>
          <a:lstStyle/>
          <a:p>
            <a:pPr indent="0" marL="0">
              <a:buNone/>
            </a:pPr>
            <a:r>
              <a:rPr lang="en-US" sz="850" dirty="0">
                <a:solidFill>
                  <a:srgbClr val="5C6066"/>
                </a:solidFill>
                <a:latin typeface="Consolas" pitchFamily="34" charset="0"/>
                <a:ea typeface="Consolas" pitchFamily="34" charset="-122"/>
                <a:cs typeface="Consolas" pitchFamily="34" charset="-120"/>
              </a:rPr>
              <a:t>shell - phase_4_demonstration.sh (actual output)</a:t>
            </a:r>
            <a:endParaRPr lang="en-US" sz="850" dirty="0"/>
          </a:p>
        </p:txBody>
      </p:sp>
      <p:sp>
        <p:nvSpPr>
          <p:cNvPr id="35" name="Text 33"/>
          <p:cNvSpPr txBox="1"/>
          <p:nvPr/>
        </p:nvSpPr>
        <p:spPr>
          <a:xfrm>
            <a:off x="722376" y="4379976"/>
            <a:ext cx="10716768" cy="1554480"/>
          </a:xfrm>
          <a:prstGeom prst="rect">
            <a:avLst/>
          </a:prstGeom>
          <a:noFill/>
          <a:ln/>
        </p:spPr>
        <p:txBody>
          <a:bodyPr wrap="square" lIns="0" tIns="0" rIns="0" bIns="0" rtlCol="0" anchor="t"/>
          <a:lstStyle/>
          <a:p>
            <a:pPr indent="0" marL="0">
              <a:lnSpc>
                <a:spcPct val="128000"/>
              </a:lnSpc>
              <a:buNone/>
            </a:pPr>
            <a:r>
              <a:rPr lang="en-US" sz="1030" dirty="0">
                <a:solidFill>
                  <a:srgbClr val="00D97E"/>
                </a:solidFill>
                <a:latin typeface="Consolas" pitchFamily="34" charset="0"/>
                <a:ea typeface="Consolas" pitchFamily="34" charset="-122"/>
                <a:cs typeface="Consolas" pitchFamily="34" charset="-120"/>
              </a:rPr>
              <a:t>$ git commit -m "clean compiler, no injection anywhere"</a:t>
            </a:r>
            <a:endParaRPr lang="en-US" sz="1030" dirty="0"/>
          </a:p>
          <a:p>
            <a:pPr indent="0" marL="0">
              <a:lnSpc>
                <a:spcPct val="128000"/>
              </a:lnSpc>
              <a:buNone/>
            </a:pPr>
            <a:r>
              <a:rPr lang="en-US" sz="1030" dirty="0">
                <a:solidFill>
                  <a:srgbClr val="00D97E"/>
                </a:solidFill>
                <a:latin typeface="Consolas" pitchFamily="34" charset="0"/>
                <a:ea typeface="Consolas" pitchFamily="34" charset="-122"/>
                <a:cs typeface="Consolas" pitchFamily="34" charset="-120"/>
              </a:rPr>
              <a:t>$ ./infected_compiler --replicate clean_source -o regenerated/</a:t>
            </a:r>
            <a:endParaRPr lang="en-US" sz="1030" dirty="0"/>
          </a:p>
          <a:p>
            <a:pPr indent="0" marL="0">
              <a:lnSpc>
                <a:spcPct val="128000"/>
              </a:lnSpc>
              <a:buNone/>
            </a:pPr>
            <a:r>
              <a:rPr lang="en-US" sz="1030" dirty="0">
                <a:solidFill>
                  <a:srgbClr val="F5F5F2"/>
                </a:solidFill>
                <a:latin typeface="Consolas" pitchFamily="34" charset="0"/>
                <a:ea typeface="Consolas" pitchFamily="34" charset="-122"/>
                <a:cs typeface="Consolas" pitchFamily="34" charset="-120"/>
              </a:rPr>
              <a:t>[REPLICATE] Self-recognition triggered: signature matched in lexer.hpp</a:t>
            </a:r>
            <a:endParaRPr lang="en-US" sz="1030" dirty="0"/>
          </a:p>
          <a:p>
            <a:pPr indent="0" marL="0">
              <a:lnSpc>
                <a:spcPct val="128000"/>
              </a:lnSpc>
              <a:buNone/>
            </a:pPr>
            <a:r>
              <a:rPr lang="en-US" sz="1030" dirty="0">
                <a:solidFill>
                  <a:srgbClr val="F5F5F2"/>
                </a:solidFill>
                <a:latin typeface="Consolas" pitchFamily="34" charset="0"/>
                <a:ea typeface="Consolas" pitchFamily="34" charset="-122"/>
                <a:cs typeface="Consolas" pitchFamily="34" charset="-120"/>
              </a:rPr>
              <a:t>[REPLICATE] Wrote infected codegen.cpp and main.cpp into regenerated/</a:t>
            </a:r>
            <a:endParaRPr lang="en-US" sz="1030" dirty="0"/>
          </a:p>
          <a:p>
            <a:pPr indent="0" marL="0">
              <a:lnSpc>
                <a:spcPct val="128000"/>
              </a:lnSpc>
              <a:buNone/>
            </a:pPr>
            <a:r>
              <a:rPr lang="en-US" sz="1030" dirty="0">
                <a:solidFill>
                  <a:srgbClr val="00D97E"/>
                </a:solidFill>
                <a:latin typeface="Consolas" pitchFamily="34" charset="0"/>
                <a:ea typeface="Consolas" pitchFamily="34" charset="-122"/>
                <a:cs typeface="Consolas" pitchFamily="34" charset="-120"/>
              </a:rPr>
              <a:t>$ grep MARKER regenerated/codegen.cpp</a:t>
            </a:r>
            <a:endParaRPr lang="en-US" sz="1030" dirty="0"/>
          </a:p>
          <a:p>
            <a:pPr indent="0" marL="0">
              <a:lnSpc>
                <a:spcPct val="128000"/>
              </a:lnSpc>
              <a:buNone/>
            </a:pPr>
            <a:r>
              <a:rPr lang="en-US" sz="1030" dirty="0">
                <a:solidFill>
                  <a:srgbClr val="FF3B30"/>
                </a:solidFill>
                <a:latin typeface="Consolas" pitchFamily="34" charset="0"/>
                <a:ea typeface="Consolas" pitchFamily="34" charset="-122"/>
                <a:cs typeface="Consolas" pitchFamily="34" charset="-120"/>
              </a:rPr>
              <a:t>// [MARKER] this line was injected by the compiler ...</a:t>
            </a:r>
            <a:endParaRPr lang="en-US" sz="1030" dirty="0"/>
          </a:p>
          <a:p>
            <a:pPr indent="0" marL="0">
              <a:lnSpc>
                <a:spcPct val="128000"/>
              </a:lnSpc>
              <a:buNone/>
            </a:pPr>
            <a:r>
              <a:rPr lang="en-US" sz="1030" dirty="0">
                <a:solidFill>
                  <a:srgbClr val="5C6066"/>
                </a:solidFill>
                <a:latin typeface="Consolas" pitchFamily="34" charset="0"/>
                <a:ea typeface="Consolas" pitchFamily="34" charset="-122"/>
                <a:cs typeface="Consolas" pitchFamily="34" charset="-120"/>
              </a:rPr>
              <a:t># clean_source/ never contained this line. The binary put it there.</a:t>
            </a:r>
            <a:endParaRPr lang="en-US" sz="103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0" y="896112"/>
            <a:ext cx="12188952" cy="0"/>
          </a:xfrm>
          <a:prstGeom prst="line">
            <a:avLst/>
          </a:prstGeom>
          <a:noFill/>
          <a:ln w="12700">
            <a:solidFill>
              <a:srgbClr val="2A2A30"/>
            </a:solidFill>
            <a:prstDash val="solid"/>
          </a:ln>
        </p:spPr>
      </p:sp>
      <p:sp>
        <p:nvSpPr>
          <p:cNvPr id="3" name="Text 1"/>
          <p:cNvSpPr txBox="1"/>
          <p:nvPr/>
        </p:nvSpPr>
        <p:spPr>
          <a:xfrm>
            <a:off x="8778240" y="256032"/>
            <a:ext cx="2834640" cy="274320"/>
          </a:xfrm>
          <a:prstGeom prst="rect">
            <a:avLst/>
          </a:prstGeom>
          <a:noFill/>
          <a:ln/>
        </p:spPr>
        <p:txBody>
          <a:bodyPr wrap="square" lIns="0" tIns="0" rIns="0" bIns="0" rtlCol="0" anchor="ctr"/>
          <a:lstStyle/>
          <a:p>
            <a:pPr algn="r" indent="0" marL="0">
              <a:buNone/>
            </a:pPr>
            <a:r>
              <a:rPr lang="en-US" sz="900" spc="100" kern="0" dirty="0">
                <a:solidFill>
                  <a:srgbClr val="5C6066"/>
                </a:solidFill>
                <a:latin typeface="Consolas" pitchFamily="34" charset="0"/>
                <a:ea typeface="Consolas" pitchFamily="34" charset="-122"/>
                <a:cs typeface="Consolas" pitchFamily="34" charset="-120"/>
              </a:rPr>
              <a:t>TRUSTING_TRUST.EXE</a:t>
            </a:r>
            <a:endParaRPr lang="en-US" sz="900" dirty="0"/>
          </a:p>
        </p:txBody>
      </p:sp>
      <p:sp>
        <p:nvSpPr>
          <p:cNvPr id="4" name="Shape 2"/>
          <p:cNvSpPr/>
          <p:nvPr/>
        </p:nvSpPr>
        <p:spPr>
          <a:xfrm>
            <a:off x="0" y="6419088"/>
            <a:ext cx="12188952" cy="0"/>
          </a:xfrm>
          <a:prstGeom prst="line">
            <a:avLst/>
          </a:prstGeom>
          <a:noFill/>
          <a:ln w="12700">
            <a:solidFill>
              <a:srgbClr val="2A2A30"/>
            </a:solidFill>
            <a:prstDash val="solid"/>
          </a:ln>
        </p:spPr>
      </p:sp>
      <p:sp>
        <p:nvSpPr>
          <p:cNvPr id="5" name="Text 3"/>
          <p:cNvSpPr txBox="1"/>
          <p:nvPr/>
        </p:nvSpPr>
        <p:spPr>
          <a:xfrm>
            <a:off x="457200" y="6492240"/>
            <a:ext cx="3657600" cy="256032"/>
          </a:xfrm>
          <a:prstGeom prst="rect">
            <a:avLst/>
          </a:prstGeom>
          <a:noFill/>
          <a:ln/>
        </p:spPr>
        <p:txBody>
          <a:bodyPr wrap="square" lIns="0" tIns="0" rIns="0" bIns="0" rtlCol="0" anchor="ctr"/>
          <a:lstStyle/>
          <a:p>
            <a:pPr indent="0" marL="0">
              <a:buNone/>
            </a:pPr>
            <a:r>
              <a:rPr lang="en-US" sz="850" dirty="0">
                <a:solidFill>
                  <a:srgbClr val="5C6066"/>
                </a:solidFill>
                <a:latin typeface="Consolas" pitchFamily="34" charset="0"/>
                <a:ea typeface="Consolas" pitchFamily="34" charset="-122"/>
                <a:cs typeface="Consolas" pitchFamily="34" charset="-120"/>
              </a:rPr>
              <a:t>root@ttrevisited:~$</a:t>
            </a:r>
            <a:endParaRPr lang="en-US" sz="850" dirty="0"/>
          </a:p>
        </p:txBody>
      </p:sp>
      <p:sp>
        <p:nvSpPr>
          <p:cNvPr id="6" name="Text 4"/>
          <p:cNvSpPr txBox="1"/>
          <p:nvPr/>
        </p:nvSpPr>
        <p:spPr>
          <a:xfrm>
            <a:off x="10424160" y="6492240"/>
            <a:ext cx="1371600" cy="256032"/>
          </a:xfrm>
          <a:prstGeom prst="rect">
            <a:avLst/>
          </a:prstGeom>
          <a:noFill/>
          <a:ln/>
        </p:spPr>
        <p:txBody>
          <a:bodyPr wrap="square" lIns="0" tIns="0" rIns="0" bIns="0" rtlCol="0" anchor="ctr"/>
          <a:lstStyle/>
          <a:p>
            <a:pPr algn="r" indent="0" marL="0">
              <a:buNone/>
            </a:pPr>
            <a:r>
              <a:rPr lang="en-US" sz="900" b="1" dirty="0">
                <a:solidFill>
                  <a:srgbClr val="9AA0A6"/>
                </a:solidFill>
                <a:latin typeface="Consolas" pitchFamily="34" charset="0"/>
                <a:ea typeface="Consolas" pitchFamily="34" charset="-122"/>
                <a:cs typeface="Consolas" pitchFamily="34" charset="-120"/>
              </a:rPr>
              <a:t>[ 07 / 11 ]</a:t>
            </a:r>
            <a:endParaRPr lang="en-US" sz="900" dirty="0"/>
          </a:p>
        </p:txBody>
      </p:sp>
      <p:sp>
        <p:nvSpPr>
          <p:cNvPr id="7" name="Text 5"/>
          <p:cNvSpPr txBox="1"/>
          <p:nvPr/>
        </p:nvSpPr>
        <p:spPr>
          <a:xfrm>
            <a:off x="502920" y="1060704"/>
            <a:ext cx="10058400" cy="292608"/>
          </a:xfrm>
          <a:prstGeom prst="rect">
            <a:avLst/>
          </a:prstGeom>
          <a:noFill/>
          <a:ln/>
        </p:spPr>
        <p:txBody>
          <a:bodyPr wrap="square" lIns="0" tIns="0" rIns="0" bIns="0" rtlCol="0" anchor="ctr"/>
          <a:lstStyle/>
          <a:p>
            <a:pPr indent="0" marL="0">
              <a:buNone/>
            </a:pPr>
            <a:r>
              <a:rPr lang="en-US" sz="1250" b="1" spc="50" kern="0" dirty="0">
                <a:solidFill>
                  <a:srgbClr val="00D97E"/>
                </a:solidFill>
                <a:latin typeface="Consolas" pitchFamily="34" charset="0"/>
                <a:ea typeface="Consolas" pitchFamily="34" charset="-122"/>
                <a:cs typeface="Consolas" pitchFamily="34" charset="-120"/>
              </a:rPr>
              <a:t>&gt;_ </a:t>
            </a:r>
            <a:pPr indent="0" marL="0">
              <a:buNone/>
            </a:pPr>
            <a:r>
              <a:rPr lang="en-US" sz="1250" b="1" spc="50" kern="0" dirty="0">
                <a:solidFill>
                  <a:srgbClr val="9AA0A6"/>
                </a:solidFill>
                <a:latin typeface="Consolas" pitchFamily="34" charset="0"/>
                <a:ea typeface="Consolas" pitchFamily="34" charset="-122"/>
                <a:cs typeface="Consolas" pitchFamily="34" charset="-120"/>
              </a:rPr>
              <a:t>07 // IMPLEMENTATION // II OF II</a:t>
            </a:r>
            <a:endParaRPr lang="en-US" sz="1250" dirty="0"/>
          </a:p>
        </p:txBody>
      </p:sp>
      <p:sp>
        <p:nvSpPr>
          <p:cNvPr id="8" name="Text 6"/>
          <p:cNvSpPr txBox="1"/>
          <p:nvPr/>
        </p:nvSpPr>
        <p:spPr>
          <a:xfrm>
            <a:off x="502920" y="1408176"/>
            <a:ext cx="11155680" cy="868680"/>
          </a:xfrm>
          <a:prstGeom prst="rect">
            <a:avLst/>
          </a:prstGeom>
          <a:noFill/>
          <a:ln/>
        </p:spPr>
        <p:txBody>
          <a:bodyPr wrap="square" lIns="0" tIns="0" rIns="0" bIns="0" rtlCol="0" anchor="t"/>
          <a:lstStyle/>
          <a:p>
            <a:pPr indent="0" marL="0">
              <a:lnSpc>
                <a:spcPct val="102000"/>
              </a:lnSpc>
              <a:buNone/>
            </a:pPr>
            <a:r>
              <a:rPr lang="en-US" sz="2600" b="1" dirty="0">
                <a:solidFill>
                  <a:srgbClr val="F5F5F2"/>
                </a:solidFill>
                <a:latin typeface="Calibri" pitchFamily="34" charset="0"/>
                <a:ea typeface="Calibri" pitchFamily="34" charset="-122"/>
                <a:cs typeface="Calibri" pitchFamily="34" charset="-120"/>
              </a:rPr>
              <a:t>Round 1: evasion wins.</a:t>
            </a:r>
            <a:endParaRPr lang="en-US" sz="2600" dirty="0"/>
          </a:p>
          <a:p>
            <a:pPr indent="0" marL="0">
              <a:lnSpc>
                <a:spcPct val="102000"/>
              </a:lnSpc>
              <a:buNone/>
            </a:pPr>
            <a:r>
              <a:rPr lang="en-US" sz="2600" b="1" dirty="0">
                <a:solidFill>
                  <a:srgbClr val="F5F5F2"/>
                </a:solidFill>
                <a:latin typeface="Calibri" pitchFamily="34" charset="0"/>
                <a:ea typeface="Calibri" pitchFamily="34" charset="-122"/>
                <a:cs typeface="Calibri" pitchFamily="34" charset="-120"/>
              </a:rPr>
              <a:t>Round 2: detection wins.</a:t>
            </a:r>
            <a:endParaRPr lang="en-US" sz="2600" dirty="0"/>
          </a:p>
        </p:txBody>
      </p:sp>
      <p:sp>
        <p:nvSpPr>
          <p:cNvPr id="9" name="Shape 7"/>
          <p:cNvSpPr/>
          <p:nvPr/>
        </p:nvSpPr>
        <p:spPr>
          <a:xfrm>
            <a:off x="502920" y="2377440"/>
            <a:ext cx="5532120" cy="3566160"/>
          </a:xfrm>
          <a:prstGeom prst="rect">
            <a:avLst/>
          </a:prstGeom>
          <a:solidFill>
            <a:srgbClr val="000000"/>
          </a:solidFill>
          <a:ln w="12700">
            <a:solidFill>
              <a:srgbClr val="2A2A30"/>
            </a:solidFill>
            <a:prstDash val="solid"/>
          </a:ln>
        </p:spPr>
      </p:sp>
      <p:sp>
        <p:nvSpPr>
          <p:cNvPr id="10" name="Shape 8"/>
          <p:cNvSpPr/>
          <p:nvPr/>
        </p:nvSpPr>
        <p:spPr>
          <a:xfrm>
            <a:off x="502920" y="2377440"/>
            <a:ext cx="5532120" cy="292608"/>
          </a:xfrm>
          <a:prstGeom prst="rect">
            <a:avLst/>
          </a:prstGeom>
          <a:solidFill>
            <a:srgbClr val="17171B"/>
          </a:solidFill>
          <a:ln/>
        </p:spPr>
      </p:sp>
      <p:sp>
        <p:nvSpPr>
          <p:cNvPr id="11" name="Shape 9"/>
          <p:cNvSpPr/>
          <p:nvPr/>
        </p:nvSpPr>
        <p:spPr>
          <a:xfrm>
            <a:off x="630936" y="2478024"/>
            <a:ext cx="91440" cy="91440"/>
          </a:xfrm>
          <a:prstGeom prst="ellipse">
            <a:avLst/>
          </a:prstGeom>
          <a:solidFill>
            <a:srgbClr val="FF3B30"/>
          </a:solidFill>
          <a:ln/>
        </p:spPr>
      </p:sp>
      <p:sp>
        <p:nvSpPr>
          <p:cNvPr id="12" name="Shape 10"/>
          <p:cNvSpPr/>
          <p:nvPr/>
        </p:nvSpPr>
        <p:spPr>
          <a:xfrm>
            <a:off x="813816" y="2478024"/>
            <a:ext cx="91440" cy="91440"/>
          </a:xfrm>
          <a:prstGeom prst="ellipse">
            <a:avLst/>
          </a:prstGeom>
          <a:solidFill>
            <a:srgbClr val="FFB020"/>
          </a:solidFill>
          <a:ln/>
        </p:spPr>
      </p:sp>
      <p:sp>
        <p:nvSpPr>
          <p:cNvPr id="13" name="Shape 11"/>
          <p:cNvSpPr/>
          <p:nvPr/>
        </p:nvSpPr>
        <p:spPr>
          <a:xfrm>
            <a:off x="996696" y="2478024"/>
            <a:ext cx="91440" cy="91440"/>
          </a:xfrm>
          <a:prstGeom prst="ellipse">
            <a:avLst/>
          </a:prstGeom>
          <a:solidFill>
            <a:srgbClr val="00D97E"/>
          </a:solidFill>
          <a:ln/>
        </p:spPr>
      </p:sp>
      <p:sp>
        <p:nvSpPr>
          <p:cNvPr id="14" name="Text 12"/>
          <p:cNvSpPr txBox="1"/>
          <p:nvPr/>
        </p:nvSpPr>
        <p:spPr>
          <a:xfrm>
            <a:off x="1325880" y="2404872"/>
            <a:ext cx="4526280" cy="237744"/>
          </a:xfrm>
          <a:prstGeom prst="rect">
            <a:avLst/>
          </a:prstGeom>
          <a:noFill/>
          <a:ln/>
        </p:spPr>
        <p:txBody>
          <a:bodyPr wrap="square" lIns="0" tIns="0" rIns="0" bIns="0" rtlCol="0" anchor="ctr"/>
          <a:lstStyle/>
          <a:p>
            <a:pPr indent="0" marL="0">
              <a:buNone/>
            </a:pPr>
            <a:r>
              <a:rPr lang="en-US" sz="850" dirty="0">
                <a:solidFill>
                  <a:srgbClr val="5C6066"/>
                </a:solidFill>
                <a:latin typeface="Consolas" pitchFamily="34" charset="0"/>
                <a:ea typeface="Consolas" pitchFamily="34" charset="-122"/>
                <a:cs typeface="Consolas" pitchFamily="34" charset="-120"/>
              </a:rPr>
              <a:t>shell - the arms race (actual output)</a:t>
            </a:r>
            <a:endParaRPr lang="en-US" sz="850" dirty="0"/>
          </a:p>
        </p:txBody>
      </p:sp>
      <p:sp>
        <p:nvSpPr>
          <p:cNvPr id="15" name="Text 13"/>
          <p:cNvSpPr txBox="1"/>
          <p:nvPr/>
        </p:nvSpPr>
        <p:spPr>
          <a:xfrm>
            <a:off x="722376" y="2779776"/>
            <a:ext cx="5093208" cy="3017520"/>
          </a:xfrm>
          <a:prstGeom prst="rect">
            <a:avLst/>
          </a:prstGeom>
          <a:noFill/>
          <a:ln/>
        </p:spPr>
        <p:txBody>
          <a:bodyPr wrap="square" lIns="0" tIns="0" rIns="0" bIns="0" rtlCol="0" anchor="t"/>
          <a:lstStyle/>
          <a:p>
            <a:pPr indent="0" marL="0">
              <a:lnSpc>
                <a:spcPct val="128000"/>
              </a:lnSpc>
              <a:buNone/>
            </a:pPr>
            <a:r>
              <a:rPr lang="en-US" sz="1030" dirty="0">
                <a:solidFill>
                  <a:srgbClr val="5C6066"/>
                </a:solidFill>
                <a:latin typeface="Consolas" pitchFamily="34" charset="0"/>
                <a:ea typeface="Consolas" pitchFamily="34" charset="-122"/>
                <a:cs typeface="Consolas" pitchFamily="34" charset="-120"/>
              </a:rPr>
              <a:t>$ # ROUND 1 - fixed test file</a:t>
            </a:r>
            <a:endParaRPr lang="en-US" sz="1030" dirty="0"/>
          </a:p>
          <a:p>
            <a:pPr indent="0" marL="0">
              <a:lnSpc>
                <a:spcPct val="128000"/>
              </a:lnSpc>
              <a:buNone/>
            </a:pPr>
            <a:r>
              <a:rPr lang="en-US" sz="1030" dirty="0">
                <a:solidFill>
                  <a:srgbClr val="00D97E"/>
                </a:solidFill>
                <a:latin typeface="Consolas" pitchFamily="34" charset="0"/>
                <a:ea typeface="Consolas" pitchFamily="34" charset="-122"/>
                <a:cs typeface="Consolas" pitchFamily="34" charset="-120"/>
              </a:rPr>
              <a:t>$ ddc_compare trusted evasive_tlc auth.tl</a:t>
            </a:r>
            <a:endParaRPr lang="en-US" sz="1030" dirty="0"/>
          </a:p>
          <a:p>
            <a:pPr indent="0" marL="0">
              <a:lnSpc>
                <a:spcPct val="128000"/>
              </a:lnSpc>
              <a:buNone/>
            </a:pPr>
            <a:r>
              <a:rPr lang="en-US" sz="1030" dirty="0">
                <a:solidFill>
                  <a:srgbClr val="00D97E"/>
                </a:solidFill>
                <a:latin typeface="Consolas" pitchFamily="34" charset="0"/>
                <a:ea typeface="Consolas" pitchFamily="34" charset="-122"/>
                <a:cs typeface="Consolas" pitchFamily="34" charset="-120"/>
              </a:rPr>
              <a:t>[SUCCESS] hashes match.</a:t>
            </a:r>
            <a:endParaRPr lang="en-US" sz="1030" dirty="0"/>
          </a:p>
          <a:p>
            <a:pPr indent="0" marL="0">
              <a:lnSpc>
                <a:spcPct val="128000"/>
              </a:lnSpc>
              <a:buNone/>
            </a:pPr>
            <a:r>
              <a:rPr lang="en-US" sz="1030" dirty="0">
                <a:solidFill>
                  <a:srgbClr val="FF3B30"/>
                </a:solidFill>
                <a:latin typeface="Consolas" pitchFamily="34" charset="0"/>
                <a:ea typeface="Consolas" pitchFamily="34" charset="-122"/>
                <a:cs typeface="Consolas" pitchFamily="34" charset="-120"/>
              </a:rPr>
              <a:t># evasion WORKED. compiler is infected anyway.</a:t>
            </a:r>
            <a:endParaRPr lang="en-US" sz="1030" dirty="0"/>
          </a:p>
          <a:p>
            <a:pPr indent="0" marL="0">
              <a:lnSpc>
                <a:spcPct val="128000"/>
              </a:lnSpc>
              <a:buNone/>
            </a:pPr>
            <a:endParaRPr lang="en-US" sz="1030" dirty="0"/>
          </a:p>
          <a:p>
            <a:pPr indent="0" marL="0">
              <a:lnSpc>
                <a:spcPct val="128000"/>
              </a:lnSpc>
              <a:buNone/>
            </a:pPr>
            <a:r>
              <a:rPr lang="en-US" sz="1030" dirty="0">
                <a:solidFill>
                  <a:srgbClr val="5C6066"/>
                </a:solidFill>
                <a:latin typeface="Consolas" pitchFamily="34" charset="0"/>
                <a:ea typeface="Consolas" pitchFamily="34" charset="-122"/>
                <a:cs typeface="Consolas" pitchFamily="34" charset="-120"/>
              </a:rPr>
              <a:t>$ # ROUND 2 - randomised test file</a:t>
            </a:r>
            <a:endParaRPr lang="en-US" sz="1030" dirty="0"/>
          </a:p>
          <a:p>
            <a:pPr indent="0" marL="0">
              <a:lnSpc>
                <a:spcPct val="128000"/>
              </a:lnSpc>
              <a:buNone/>
            </a:pPr>
            <a:r>
              <a:rPr lang="en-US" sz="1030" dirty="0">
                <a:solidFill>
                  <a:srgbClr val="00D97E"/>
                </a:solidFill>
                <a:latin typeface="Consolas" pitchFamily="34" charset="0"/>
                <a:ea typeface="Consolas" pitchFamily="34" charset="-122"/>
                <a:cs typeface="Consolas" pitchFamily="34" charset="-120"/>
              </a:rPr>
              <a:t>$ randomized_ddc trusted evasive_tlc --seed 42</a:t>
            </a:r>
            <a:endParaRPr lang="en-US" sz="1030" dirty="0"/>
          </a:p>
          <a:p>
            <a:pPr indent="0" marL="0">
              <a:lnSpc>
                <a:spcPct val="128000"/>
              </a:lnSpc>
              <a:buNone/>
            </a:pPr>
            <a:r>
              <a:rPr lang="en-US" sz="1030" dirty="0">
                <a:solidFill>
                  <a:srgbClr val="FF3B30"/>
                </a:solidFill>
                <a:latin typeface="Consolas" pitchFamily="34" charset="0"/>
                <a:ea typeface="Consolas" pitchFamily="34" charset="-122"/>
                <a:cs typeface="Consolas" pitchFamily="34" charset="-120"/>
              </a:rPr>
              <a:t>[ALERT] hashes differ.</a:t>
            </a:r>
            <a:endParaRPr lang="en-US" sz="1030" dirty="0"/>
          </a:p>
          <a:p>
            <a:pPr indent="0" marL="0">
              <a:lnSpc>
                <a:spcPct val="128000"/>
              </a:lnSpc>
              <a:buNone/>
            </a:pPr>
            <a:r>
              <a:rPr lang="en-US" sz="1030" dirty="0">
                <a:solidFill>
                  <a:srgbClr val="00D97E"/>
                </a:solidFill>
                <a:latin typeface="Consolas" pitchFamily="34" charset="0"/>
                <a:ea typeface="Consolas" pitchFamily="34" charset="-122"/>
                <a:cs typeface="Consolas" pitchFamily="34" charset="-120"/>
              </a:rPr>
              <a:t># detection RESTORED. no evasion logic decoded.</a:t>
            </a:r>
            <a:endParaRPr lang="en-US" sz="1030" dirty="0"/>
          </a:p>
          <a:p>
            <a:pPr indent="0" marL="0">
              <a:lnSpc>
                <a:spcPct val="128000"/>
              </a:lnSpc>
              <a:buNone/>
            </a:pPr>
            <a:endParaRPr lang="en-US" sz="1030" dirty="0"/>
          </a:p>
          <a:p>
            <a:pPr indent="0" marL="0">
              <a:lnSpc>
                <a:spcPct val="128000"/>
              </a:lnSpc>
              <a:buNone/>
            </a:pPr>
            <a:r>
              <a:rPr lang="en-US" sz="1030" dirty="0">
                <a:solidFill>
                  <a:srgbClr val="00D97E"/>
                </a:solidFill>
                <a:latin typeface="Consolas" pitchFamily="34" charset="0"/>
                <a:ea typeface="Consolas" pitchFamily="34" charset="-122"/>
                <a:cs typeface="Consolas" pitchFamily="34" charset="-120"/>
              </a:rPr>
              <a:t>$ ensemble_detector trusted evasive_tlc</a:t>
            </a:r>
            <a:endParaRPr lang="en-US" sz="1030" dirty="0"/>
          </a:p>
          <a:p>
            <a:pPr indent="0" marL="0">
              <a:lnSpc>
                <a:spcPct val="128000"/>
              </a:lnSpc>
              <a:buNone/>
            </a:pPr>
            <a:r>
              <a:rPr lang="en-US" sz="1030" dirty="0">
                <a:solidFill>
                  <a:srgbClr val="FF3B30"/>
                </a:solidFill>
                <a:latin typeface="Consolas" pitchFamily="34" charset="0"/>
                <a:ea typeface="Consolas" pitchFamily="34" charset="-122"/>
                <a:cs typeface="Consolas" pitchFamily="34" charset="-120"/>
              </a:rPr>
              <a:t>[ENSEMBLE VERDICT: INFECTED] (6 / 7 flagged)</a:t>
            </a:r>
            <a:endParaRPr lang="en-US" sz="1030" dirty="0"/>
          </a:p>
        </p:txBody>
      </p:sp>
      <p:sp>
        <p:nvSpPr>
          <p:cNvPr id="16" name="Text 14"/>
          <p:cNvSpPr txBox="1"/>
          <p:nvPr/>
        </p:nvSpPr>
        <p:spPr>
          <a:xfrm>
            <a:off x="6309360" y="2331720"/>
            <a:ext cx="5349240" cy="274320"/>
          </a:xfrm>
          <a:prstGeom prst="rect">
            <a:avLst/>
          </a:prstGeom>
          <a:noFill/>
          <a:ln/>
        </p:spPr>
        <p:txBody>
          <a:bodyPr wrap="square" lIns="0" tIns="0" rIns="0" bIns="0" rtlCol="0" anchor="ctr"/>
          <a:lstStyle/>
          <a:p>
            <a:pPr indent="0" marL="0">
              <a:buNone/>
            </a:pPr>
            <a:r>
              <a:rPr lang="en-US" sz="1000" b="1" spc="100" kern="0" dirty="0">
                <a:solidFill>
                  <a:srgbClr val="FF3B30"/>
                </a:solidFill>
                <a:latin typeface="Consolas" pitchFamily="34" charset="0"/>
                <a:ea typeface="Consolas" pitchFamily="34" charset="-122"/>
                <a:cs typeface="Consolas" pitchFamily="34" charset="-120"/>
              </a:rPr>
              <a:t>MEASURED DETECTION MATRIX</a:t>
            </a:r>
            <a:endParaRPr lang="en-US" sz="1000" dirty="0"/>
          </a:p>
        </p:txBody>
      </p:sp>
      <p:sp>
        <p:nvSpPr>
          <p:cNvPr id="17" name="Text 15"/>
          <p:cNvSpPr txBox="1"/>
          <p:nvPr/>
        </p:nvSpPr>
        <p:spPr>
          <a:xfrm>
            <a:off x="6309360" y="2670048"/>
            <a:ext cx="1417320" cy="256032"/>
          </a:xfrm>
          <a:prstGeom prst="rect">
            <a:avLst/>
          </a:prstGeom>
          <a:noFill/>
          <a:ln/>
        </p:spPr>
        <p:txBody>
          <a:bodyPr wrap="square" lIns="0" tIns="0" rIns="0" bIns="0" rtlCol="0" anchor="ctr"/>
          <a:lstStyle/>
          <a:p>
            <a:pPr indent="0" marL="0">
              <a:buNone/>
            </a:pPr>
            <a:r>
              <a:rPr lang="en-US" sz="900" b="1" dirty="0">
                <a:solidFill>
                  <a:srgbClr val="5C6066"/>
                </a:solidFill>
                <a:latin typeface="Consolas" pitchFamily="34" charset="0"/>
                <a:ea typeface="Consolas" pitchFamily="34" charset="-122"/>
                <a:cs typeface="Consolas" pitchFamily="34" charset="-120"/>
              </a:rPr>
              <a:t>VARIANT</a:t>
            </a:r>
            <a:endParaRPr lang="en-US" sz="900" dirty="0"/>
          </a:p>
        </p:txBody>
      </p:sp>
      <p:sp>
        <p:nvSpPr>
          <p:cNvPr id="18" name="Text 16"/>
          <p:cNvSpPr txBox="1"/>
          <p:nvPr/>
        </p:nvSpPr>
        <p:spPr>
          <a:xfrm>
            <a:off x="7726680" y="2670048"/>
            <a:ext cx="914400" cy="256032"/>
          </a:xfrm>
          <a:prstGeom prst="rect">
            <a:avLst/>
          </a:prstGeom>
          <a:noFill/>
          <a:ln/>
        </p:spPr>
        <p:txBody>
          <a:bodyPr wrap="square" lIns="0" tIns="0" rIns="0" bIns="0" rtlCol="0" anchor="ctr"/>
          <a:lstStyle/>
          <a:p>
            <a:pPr indent="0" marL="0">
              <a:buNone/>
            </a:pPr>
            <a:r>
              <a:rPr lang="en-US" sz="900" b="1" dirty="0">
                <a:solidFill>
                  <a:srgbClr val="5C6066"/>
                </a:solidFill>
                <a:latin typeface="Consolas" pitchFamily="34" charset="0"/>
                <a:ea typeface="Consolas" pitchFamily="34" charset="-122"/>
                <a:cs typeface="Consolas" pitchFamily="34" charset="-120"/>
              </a:rPr>
              <a:t>NAIVE</a:t>
            </a:r>
            <a:endParaRPr lang="en-US" sz="900" dirty="0"/>
          </a:p>
        </p:txBody>
      </p:sp>
      <p:sp>
        <p:nvSpPr>
          <p:cNvPr id="19" name="Text 17"/>
          <p:cNvSpPr txBox="1"/>
          <p:nvPr/>
        </p:nvSpPr>
        <p:spPr>
          <a:xfrm>
            <a:off x="8705088" y="2670048"/>
            <a:ext cx="914400" cy="256032"/>
          </a:xfrm>
          <a:prstGeom prst="rect">
            <a:avLst/>
          </a:prstGeom>
          <a:noFill/>
          <a:ln/>
        </p:spPr>
        <p:txBody>
          <a:bodyPr wrap="square" lIns="0" tIns="0" rIns="0" bIns="0" rtlCol="0" anchor="ctr"/>
          <a:lstStyle/>
          <a:p>
            <a:pPr indent="0" marL="0">
              <a:buNone/>
            </a:pPr>
            <a:r>
              <a:rPr lang="en-US" sz="900" b="1" dirty="0">
                <a:solidFill>
                  <a:srgbClr val="5C6066"/>
                </a:solidFill>
                <a:latin typeface="Consolas" pitchFamily="34" charset="0"/>
                <a:ea typeface="Consolas" pitchFamily="34" charset="-122"/>
                <a:cs typeface="Consolas" pitchFamily="34" charset="-120"/>
              </a:rPr>
              <a:t>STATIC</a:t>
            </a:r>
            <a:endParaRPr lang="en-US" sz="900" dirty="0"/>
          </a:p>
        </p:txBody>
      </p:sp>
      <p:sp>
        <p:nvSpPr>
          <p:cNvPr id="20" name="Text 18"/>
          <p:cNvSpPr txBox="1"/>
          <p:nvPr/>
        </p:nvSpPr>
        <p:spPr>
          <a:xfrm>
            <a:off x="9683496" y="2670048"/>
            <a:ext cx="914400" cy="256032"/>
          </a:xfrm>
          <a:prstGeom prst="rect">
            <a:avLst/>
          </a:prstGeom>
          <a:noFill/>
          <a:ln/>
        </p:spPr>
        <p:txBody>
          <a:bodyPr wrap="square" lIns="0" tIns="0" rIns="0" bIns="0" rtlCol="0" anchor="ctr"/>
          <a:lstStyle/>
          <a:p>
            <a:pPr indent="0" marL="0">
              <a:buNone/>
            </a:pPr>
            <a:r>
              <a:rPr lang="en-US" sz="900" b="1" dirty="0">
                <a:solidFill>
                  <a:srgbClr val="5C6066"/>
                </a:solidFill>
                <a:latin typeface="Consolas" pitchFamily="34" charset="0"/>
                <a:ea typeface="Consolas" pitchFamily="34" charset="-122"/>
                <a:cs typeface="Consolas" pitchFamily="34" charset="-120"/>
              </a:rPr>
              <a:t>DDC</a:t>
            </a:r>
            <a:endParaRPr lang="en-US" sz="900" dirty="0"/>
          </a:p>
        </p:txBody>
      </p:sp>
      <p:sp>
        <p:nvSpPr>
          <p:cNvPr id="21" name="Text 19"/>
          <p:cNvSpPr txBox="1"/>
          <p:nvPr/>
        </p:nvSpPr>
        <p:spPr>
          <a:xfrm>
            <a:off x="10661904" y="2670048"/>
            <a:ext cx="914400" cy="256032"/>
          </a:xfrm>
          <a:prstGeom prst="rect">
            <a:avLst/>
          </a:prstGeom>
          <a:noFill/>
          <a:ln/>
        </p:spPr>
        <p:txBody>
          <a:bodyPr wrap="square" lIns="0" tIns="0" rIns="0" bIns="0" rtlCol="0" anchor="ctr"/>
          <a:lstStyle/>
          <a:p>
            <a:pPr indent="0" marL="0">
              <a:buNone/>
            </a:pPr>
            <a:r>
              <a:rPr lang="en-US" sz="900" b="1" dirty="0">
                <a:solidFill>
                  <a:srgbClr val="5C6066"/>
                </a:solidFill>
                <a:latin typeface="Consolas" pitchFamily="34" charset="0"/>
                <a:ea typeface="Consolas" pitchFamily="34" charset="-122"/>
                <a:cs typeface="Consolas" pitchFamily="34" charset="-120"/>
              </a:rPr>
              <a:t>META.</a:t>
            </a:r>
            <a:endParaRPr lang="en-US" sz="900" dirty="0"/>
          </a:p>
        </p:txBody>
      </p:sp>
      <p:sp>
        <p:nvSpPr>
          <p:cNvPr id="22" name="Shape 20"/>
          <p:cNvSpPr/>
          <p:nvPr/>
        </p:nvSpPr>
        <p:spPr>
          <a:xfrm>
            <a:off x="6309360" y="2926080"/>
            <a:ext cx="5349240" cy="0"/>
          </a:xfrm>
          <a:prstGeom prst="line">
            <a:avLst/>
          </a:prstGeom>
          <a:noFill/>
          <a:ln w="12700">
            <a:solidFill>
              <a:srgbClr val="2A2A30"/>
            </a:solidFill>
            <a:prstDash val="solid"/>
          </a:ln>
        </p:spPr>
      </p:sp>
      <p:sp>
        <p:nvSpPr>
          <p:cNvPr id="23" name="Text 21"/>
          <p:cNvSpPr txBox="1"/>
          <p:nvPr/>
        </p:nvSpPr>
        <p:spPr>
          <a:xfrm>
            <a:off x="6309360" y="3063240"/>
            <a:ext cx="1417320" cy="292608"/>
          </a:xfrm>
          <a:prstGeom prst="rect">
            <a:avLst/>
          </a:prstGeom>
          <a:noFill/>
          <a:ln/>
        </p:spPr>
        <p:txBody>
          <a:bodyPr wrap="square" lIns="0" tIns="0" rIns="0" bIns="0" rtlCol="0" anchor="ctr"/>
          <a:lstStyle/>
          <a:p>
            <a:pPr indent="0" marL="0">
              <a:buNone/>
            </a:pPr>
            <a:r>
              <a:rPr lang="en-US" sz="1000" b="1" dirty="0">
                <a:solidFill>
                  <a:srgbClr val="F5F5F2"/>
                </a:solidFill>
                <a:latin typeface="Consolas" pitchFamily="34" charset="0"/>
                <a:ea typeface="Consolas" pitchFamily="34" charset="-122"/>
                <a:cs typeface="Consolas" pitchFamily="34" charset="-120"/>
              </a:rPr>
              <a:t>clean</a:t>
            </a:r>
            <a:endParaRPr lang="en-US" sz="1000" dirty="0"/>
          </a:p>
        </p:txBody>
      </p:sp>
      <p:sp>
        <p:nvSpPr>
          <p:cNvPr id="24" name="Shape 22"/>
          <p:cNvSpPr/>
          <p:nvPr/>
        </p:nvSpPr>
        <p:spPr>
          <a:xfrm>
            <a:off x="7726680" y="3108960"/>
            <a:ext cx="91440" cy="91440"/>
          </a:xfrm>
          <a:prstGeom prst="ellipse">
            <a:avLst/>
          </a:prstGeom>
          <a:solidFill>
            <a:srgbClr val="00D97E"/>
          </a:solidFill>
          <a:ln/>
        </p:spPr>
      </p:sp>
      <p:sp>
        <p:nvSpPr>
          <p:cNvPr id="25" name="Text 23"/>
          <p:cNvSpPr txBox="1"/>
          <p:nvPr/>
        </p:nvSpPr>
        <p:spPr>
          <a:xfrm>
            <a:off x="7891272" y="3017520"/>
            <a:ext cx="1005840" cy="274320"/>
          </a:xfrm>
          <a:prstGeom prst="rect">
            <a:avLst/>
          </a:prstGeom>
          <a:noFill/>
          <a:ln/>
        </p:spPr>
        <p:txBody>
          <a:bodyPr wrap="square" lIns="0" tIns="0" rIns="0" bIns="0" rtlCol="0" anchor="ctr"/>
          <a:lstStyle/>
          <a:p>
            <a:pPr indent="0" marL="0">
              <a:buNone/>
            </a:pPr>
            <a:r>
              <a:rPr lang="en-US" sz="950" b="1" dirty="0">
                <a:solidFill>
                  <a:srgbClr val="00D97E"/>
                </a:solidFill>
                <a:latin typeface="Consolas" pitchFamily="34" charset="0"/>
                <a:ea typeface="Consolas" pitchFamily="34" charset="-122"/>
                <a:cs typeface="Consolas" pitchFamily="34" charset="-120"/>
              </a:rPr>
              <a:t>—</a:t>
            </a:r>
            <a:endParaRPr lang="en-US" sz="950" dirty="0"/>
          </a:p>
        </p:txBody>
      </p:sp>
      <p:sp>
        <p:nvSpPr>
          <p:cNvPr id="26" name="Shape 24"/>
          <p:cNvSpPr/>
          <p:nvPr/>
        </p:nvSpPr>
        <p:spPr>
          <a:xfrm>
            <a:off x="8705088" y="3108960"/>
            <a:ext cx="91440" cy="91440"/>
          </a:xfrm>
          <a:prstGeom prst="ellipse">
            <a:avLst/>
          </a:prstGeom>
          <a:solidFill>
            <a:srgbClr val="00D97E"/>
          </a:solidFill>
          <a:ln/>
        </p:spPr>
      </p:sp>
      <p:sp>
        <p:nvSpPr>
          <p:cNvPr id="27" name="Text 25"/>
          <p:cNvSpPr txBox="1"/>
          <p:nvPr/>
        </p:nvSpPr>
        <p:spPr>
          <a:xfrm>
            <a:off x="8869680" y="3017520"/>
            <a:ext cx="1005840" cy="274320"/>
          </a:xfrm>
          <a:prstGeom prst="rect">
            <a:avLst/>
          </a:prstGeom>
          <a:noFill/>
          <a:ln/>
        </p:spPr>
        <p:txBody>
          <a:bodyPr wrap="square" lIns="0" tIns="0" rIns="0" bIns="0" rtlCol="0" anchor="ctr"/>
          <a:lstStyle/>
          <a:p>
            <a:pPr indent="0" marL="0">
              <a:buNone/>
            </a:pPr>
            <a:r>
              <a:rPr lang="en-US" sz="950" b="1" dirty="0">
                <a:solidFill>
                  <a:srgbClr val="00D97E"/>
                </a:solidFill>
                <a:latin typeface="Consolas" pitchFamily="34" charset="0"/>
                <a:ea typeface="Consolas" pitchFamily="34" charset="-122"/>
                <a:cs typeface="Consolas" pitchFamily="34" charset="-120"/>
              </a:rPr>
              <a:t>—</a:t>
            </a:r>
            <a:endParaRPr lang="en-US" sz="950" dirty="0"/>
          </a:p>
        </p:txBody>
      </p:sp>
      <p:sp>
        <p:nvSpPr>
          <p:cNvPr id="28" name="Shape 26"/>
          <p:cNvSpPr/>
          <p:nvPr/>
        </p:nvSpPr>
        <p:spPr>
          <a:xfrm>
            <a:off x="9683496" y="3108960"/>
            <a:ext cx="91440" cy="91440"/>
          </a:xfrm>
          <a:prstGeom prst="ellipse">
            <a:avLst/>
          </a:prstGeom>
          <a:solidFill>
            <a:srgbClr val="00D97E"/>
          </a:solidFill>
          <a:ln/>
        </p:spPr>
      </p:sp>
      <p:sp>
        <p:nvSpPr>
          <p:cNvPr id="29" name="Text 27"/>
          <p:cNvSpPr txBox="1"/>
          <p:nvPr/>
        </p:nvSpPr>
        <p:spPr>
          <a:xfrm>
            <a:off x="9848088" y="3017520"/>
            <a:ext cx="1005840" cy="274320"/>
          </a:xfrm>
          <a:prstGeom prst="rect">
            <a:avLst/>
          </a:prstGeom>
          <a:noFill/>
          <a:ln/>
        </p:spPr>
        <p:txBody>
          <a:bodyPr wrap="square" lIns="0" tIns="0" rIns="0" bIns="0" rtlCol="0" anchor="ctr"/>
          <a:lstStyle/>
          <a:p>
            <a:pPr indent="0" marL="0">
              <a:buNone/>
            </a:pPr>
            <a:r>
              <a:rPr lang="en-US" sz="950" b="1" dirty="0">
                <a:solidFill>
                  <a:srgbClr val="00D97E"/>
                </a:solidFill>
                <a:latin typeface="Consolas" pitchFamily="34" charset="0"/>
                <a:ea typeface="Consolas" pitchFamily="34" charset="-122"/>
                <a:cs typeface="Consolas" pitchFamily="34" charset="-120"/>
              </a:rPr>
              <a:t>—</a:t>
            </a:r>
            <a:endParaRPr lang="en-US" sz="950" dirty="0"/>
          </a:p>
        </p:txBody>
      </p:sp>
      <p:sp>
        <p:nvSpPr>
          <p:cNvPr id="30" name="Shape 28"/>
          <p:cNvSpPr/>
          <p:nvPr/>
        </p:nvSpPr>
        <p:spPr>
          <a:xfrm>
            <a:off x="10661904" y="3108960"/>
            <a:ext cx="91440" cy="91440"/>
          </a:xfrm>
          <a:prstGeom prst="ellipse">
            <a:avLst/>
          </a:prstGeom>
          <a:solidFill>
            <a:srgbClr val="00D97E"/>
          </a:solidFill>
          <a:ln/>
        </p:spPr>
      </p:sp>
      <p:sp>
        <p:nvSpPr>
          <p:cNvPr id="31" name="Text 29"/>
          <p:cNvSpPr txBox="1"/>
          <p:nvPr/>
        </p:nvSpPr>
        <p:spPr>
          <a:xfrm>
            <a:off x="10826496" y="3017520"/>
            <a:ext cx="1005840" cy="274320"/>
          </a:xfrm>
          <a:prstGeom prst="rect">
            <a:avLst/>
          </a:prstGeom>
          <a:noFill/>
          <a:ln/>
        </p:spPr>
        <p:txBody>
          <a:bodyPr wrap="square" lIns="0" tIns="0" rIns="0" bIns="0" rtlCol="0" anchor="ctr"/>
          <a:lstStyle/>
          <a:p>
            <a:pPr indent="0" marL="0">
              <a:buNone/>
            </a:pPr>
            <a:r>
              <a:rPr lang="en-US" sz="950" b="1" dirty="0">
                <a:solidFill>
                  <a:srgbClr val="00D97E"/>
                </a:solidFill>
                <a:latin typeface="Consolas" pitchFamily="34" charset="0"/>
                <a:ea typeface="Consolas" pitchFamily="34" charset="-122"/>
                <a:cs typeface="Consolas" pitchFamily="34" charset="-120"/>
              </a:rPr>
              <a:t>—</a:t>
            </a:r>
            <a:endParaRPr lang="en-US" sz="950" dirty="0"/>
          </a:p>
        </p:txBody>
      </p:sp>
      <p:sp>
        <p:nvSpPr>
          <p:cNvPr id="32" name="Text 30"/>
          <p:cNvSpPr txBox="1"/>
          <p:nvPr/>
        </p:nvSpPr>
        <p:spPr>
          <a:xfrm>
            <a:off x="6309360" y="3483864"/>
            <a:ext cx="1417320" cy="292608"/>
          </a:xfrm>
          <a:prstGeom prst="rect">
            <a:avLst/>
          </a:prstGeom>
          <a:noFill/>
          <a:ln/>
        </p:spPr>
        <p:txBody>
          <a:bodyPr wrap="square" lIns="0" tIns="0" rIns="0" bIns="0" rtlCol="0" anchor="ctr"/>
          <a:lstStyle/>
          <a:p>
            <a:pPr indent="0" marL="0">
              <a:buNone/>
            </a:pPr>
            <a:r>
              <a:rPr lang="en-US" sz="1000" b="1" dirty="0">
                <a:solidFill>
                  <a:srgbClr val="F5F5F2"/>
                </a:solidFill>
                <a:latin typeface="Consolas" pitchFamily="34" charset="0"/>
                <a:ea typeface="Consolas" pitchFamily="34" charset="-122"/>
                <a:cs typeface="Consolas" pitchFamily="34" charset="-120"/>
              </a:rPr>
              <a:t>plain</a:t>
            </a:r>
            <a:endParaRPr lang="en-US" sz="1000" dirty="0"/>
          </a:p>
        </p:txBody>
      </p:sp>
      <p:sp>
        <p:nvSpPr>
          <p:cNvPr id="33" name="Shape 31"/>
          <p:cNvSpPr/>
          <p:nvPr/>
        </p:nvSpPr>
        <p:spPr>
          <a:xfrm>
            <a:off x="7726680" y="3529584"/>
            <a:ext cx="91440" cy="91440"/>
          </a:xfrm>
          <a:prstGeom prst="ellipse">
            <a:avLst/>
          </a:prstGeom>
          <a:solidFill>
            <a:srgbClr val="FF3B30"/>
          </a:solidFill>
          <a:ln/>
        </p:spPr>
      </p:sp>
      <p:sp>
        <p:nvSpPr>
          <p:cNvPr id="34" name="Text 32"/>
          <p:cNvSpPr txBox="1"/>
          <p:nvPr/>
        </p:nvSpPr>
        <p:spPr>
          <a:xfrm>
            <a:off x="7891272" y="3438144"/>
            <a:ext cx="1005840" cy="274320"/>
          </a:xfrm>
          <a:prstGeom prst="rect">
            <a:avLst/>
          </a:prstGeom>
          <a:noFill/>
          <a:ln/>
        </p:spPr>
        <p:txBody>
          <a:bodyPr wrap="square" lIns="0" tIns="0" rIns="0" bIns="0" rtlCol="0" anchor="ctr"/>
          <a:lstStyle/>
          <a:p>
            <a:pPr indent="0" marL="0">
              <a:buNone/>
            </a:pPr>
            <a:r>
              <a:rPr lang="en-US" sz="950" b="1" dirty="0">
                <a:solidFill>
                  <a:srgbClr val="FF3B30"/>
                </a:solidFill>
                <a:latin typeface="Consolas" pitchFamily="34" charset="0"/>
                <a:ea typeface="Consolas" pitchFamily="34" charset="-122"/>
                <a:cs typeface="Consolas" pitchFamily="34" charset="-120"/>
              </a:rPr>
              <a:t>CAUGHT</a:t>
            </a:r>
            <a:endParaRPr lang="en-US" sz="950" dirty="0"/>
          </a:p>
        </p:txBody>
      </p:sp>
      <p:sp>
        <p:nvSpPr>
          <p:cNvPr id="35" name="Shape 33"/>
          <p:cNvSpPr/>
          <p:nvPr/>
        </p:nvSpPr>
        <p:spPr>
          <a:xfrm>
            <a:off x="8705088" y="3529584"/>
            <a:ext cx="91440" cy="91440"/>
          </a:xfrm>
          <a:prstGeom prst="ellipse">
            <a:avLst/>
          </a:prstGeom>
          <a:solidFill>
            <a:srgbClr val="FF3B30"/>
          </a:solidFill>
          <a:ln/>
        </p:spPr>
      </p:sp>
      <p:sp>
        <p:nvSpPr>
          <p:cNvPr id="36" name="Text 34"/>
          <p:cNvSpPr txBox="1"/>
          <p:nvPr/>
        </p:nvSpPr>
        <p:spPr>
          <a:xfrm>
            <a:off x="8869680" y="3438144"/>
            <a:ext cx="1005840" cy="274320"/>
          </a:xfrm>
          <a:prstGeom prst="rect">
            <a:avLst/>
          </a:prstGeom>
          <a:noFill/>
          <a:ln/>
        </p:spPr>
        <p:txBody>
          <a:bodyPr wrap="square" lIns="0" tIns="0" rIns="0" bIns="0" rtlCol="0" anchor="ctr"/>
          <a:lstStyle/>
          <a:p>
            <a:pPr indent="0" marL="0">
              <a:buNone/>
            </a:pPr>
            <a:r>
              <a:rPr lang="en-US" sz="950" b="1" dirty="0">
                <a:solidFill>
                  <a:srgbClr val="FF3B30"/>
                </a:solidFill>
                <a:latin typeface="Consolas" pitchFamily="34" charset="0"/>
                <a:ea typeface="Consolas" pitchFamily="34" charset="-122"/>
                <a:cs typeface="Consolas" pitchFamily="34" charset="-120"/>
              </a:rPr>
              <a:t>CAUGHT</a:t>
            </a:r>
            <a:endParaRPr lang="en-US" sz="950" dirty="0"/>
          </a:p>
        </p:txBody>
      </p:sp>
      <p:sp>
        <p:nvSpPr>
          <p:cNvPr id="37" name="Shape 35"/>
          <p:cNvSpPr/>
          <p:nvPr/>
        </p:nvSpPr>
        <p:spPr>
          <a:xfrm>
            <a:off x="9683496" y="3529584"/>
            <a:ext cx="91440" cy="91440"/>
          </a:xfrm>
          <a:prstGeom prst="ellipse">
            <a:avLst/>
          </a:prstGeom>
          <a:solidFill>
            <a:srgbClr val="FF3B30"/>
          </a:solidFill>
          <a:ln/>
        </p:spPr>
      </p:sp>
      <p:sp>
        <p:nvSpPr>
          <p:cNvPr id="38" name="Text 36"/>
          <p:cNvSpPr txBox="1"/>
          <p:nvPr/>
        </p:nvSpPr>
        <p:spPr>
          <a:xfrm>
            <a:off x="9848088" y="3438144"/>
            <a:ext cx="1005840" cy="274320"/>
          </a:xfrm>
          <a:prstGeom prst="rect">
            <a:avLst/>
          </a:prstGeom>
          <a:noFill/>
          <a:ln/>
        </p:spPr>
        <p:txBody>
          <a:bodyPr wrap="square" lIns="0" tIns="0" rIns="0" bIns="0" rtlCol="0" anchor="ctr"/>
          <a:lstStyle/>
          <a:p>
            <a:pPr indent="0" marL="0">
              <a:buNone/>
            </a:pPr>
            <a:r>
              <a:rPr lang="en-US" sz="950" b="1" dirty="0">
                <a:solidFill>
                  <a:srgbClr val="FF3B30"/>
                </a:solidFill>
                <a:latin typeface="Consolas" pitchFamily="34" charset="0"/>
                <a:ea typeface="Consolas" pitchFamily="34" charset="-122"/>
                <a:cs typeface="Consolas" pitchFamily="34" charset="-120"/>
              </a:rPr>
              <a:t>CAUGHT</a:t>
            </a:r>
            <a:endParaRPr lang="en-US" sz="950" dirty="0"/>
          </a:p>
        </p:txBody>
      </p:sp>
      <p:sp>
        <p:nvSpPr>
          <p:cNvPr id="39" name="Shape 37"/>
          <p:cNvSpPr/>
          <p:nvPr/>
        </p:nvSpPr>
        <p:spPr>
          <a:xfrm>
            <a:off x="10661904" y="3529584"/>
            <a:ext cx="91440" cy="91440"/>
          </a:xfrm>
          <a:prstGeom prst="ellipse">
            <a:avLst/>
          </a:prstGeom>
          <a:solidFill>
            <a:srgbClr val="00D97E"/>
          </a:solidFill>
          <a:ln/>
        </p:spPr>
      </p:sp>
      <p:sp>
        <p:nvSpPr>
          <p:cNvPr id="40" name="Text 38"/>
          <p:cNvSpPr txBox="1"/>
          <p:nvPr/>
        </p:nvSpPr>
        <p:spPr>
          <a:xfrm>
            <a:off x="10826496" y="3438144"/>
            <a:ext cx="1005840" cy="274320"/>
          </a:xfrm>
          <a:prstGeom prst="rect">
            <a:avLst/>
          </a:prstGeom>
          <a:noFill/>
          <a:ln/>
        </p:spPr>
        <p:txBody>
          <a:bodyPr wrap="square" lIns="0" tIns="0" rIns="0" bIns="0" rtlCol="0" anchor="ctr"/>
          <a:lstStyle/>
          <a:p>
            <a:pPr indent="0" marL="0">
              <a:buNone/>
            </a:pPr>
            <a:r>
              <a:rPr lang="en-US" sz="950" b="1" dirty="0">
                <a:solidFill>
                  <a:srgbClr val="00D97E"/>
                </a:solidFill>
                <a:latin typeface="Consolas" pitchFamily="34" charset="0"/>
                <a:ea typeface="Consolas" pitchFamily="34" charset="-122"/>
                <a:cs typeface="Consolas" pitchFamily="34" charset="-120"/>
              </a:rPr>
              <a:t>—</a:t>
            </a:r>
            <a:endParaRPr lang="en-US" sz="950" dirty="0"/>
          </a:p>
        </p:txBody>
      </p:sp>
      <p:sp>
        <p:nvSpPr>
          <p:cNvPr id="41" name="Text 39"/>
          <p:cNvSpPr txBox="1"/>
          <p:nvPr/>
        </p:nvSpPr>
        <p:spPr>
          <a:xfrm>
            <a:off x="6309360" y="3904488"/>
            <a:ext cx="1417320" cy="292608"/>
          </a:xfrm>
          <a:prstGeom prst="rect">
            <a:avLst/>
          </a:prstGeom>
          <a:noFill/>
          <a:ln/>
        </p:spPr>
        <p:txBody>
          <a:bodyPr wrap="square" lIns="0" tIns="0" rIns="0" bIns="0" rtlCol="0" anchor="ctr"/>
          <a:lstStyle/>
          <a:p>
            <a:pPr indent="0" marL="0">
              <a:buNone/>
            </a:pPr>
            <a:r>
              <a:rPr lang="en-US" sz="1000" b="1" dirty="0">
                <a:solidFill>
                  <a:srgbClr val="F5F5F2"/>
                </a:solidFill>
                <a:latin typeface="Consolas" pitchFamily="34" charset="0"/>
                <a:ea typeface="Consolas" pitchFamily="34" charset="-122"/>
                <a:cs typeface="Consolas" pitchFamily="34" charset="-120"/>
              </a:rPr>
              <a:t>obfuscated</a:t>
            </a:r>
            <a:endParaRPr lang="en-US" sz="1000" dirty="0"/>
          </a:p>
        </p:txBody>
      </p:sp>
      <p:sp>
        <p:nvSpPr>
          <p:cNvPr id="42" name="Shape 40"/>
          <p:cNvSpPr/>
          <p:nvPr/>
        </p:nvSpPr>
        <p:spPr>
          <a:xfrm>
            <a:off x="7726680" y="3950208"/>
            <a:ext cx="91440" cy="91440"/>
          </a:xfrm>
          <a:prstGeom prst="ellipse">
            <a:avLst/>
          </a:prstGeom>
          <a:solidFill>
            <a:srgbClr val="5C6066"/>
          </a:solidFill>
          <a:ln/>
        </p:spPr>
      </p:sp>
      <p:sp>
        <p:nvSpPr>
          <p:cNvPr id="43" name="Text 41"/>
          <p:cNvSpPr txBox="1"/>
          <p:nvPr/>
        </p:nvSpPr>
        <p:spPr>
          <a:xfrm>
            <a:off x="7891272" y="3858768"/>
            <a:ext cx="1005840" cy="274320"/>
          </a:xfrm>
          <a:prstGeom prst="rect">
            <a:avLst/>
          </a:prstGeom>
          <a:noFill/>
          <a:ln/>
        </p:spPr>
        <p:txBody>
          <a:bodyPr wrap="square" lIns="0" tIns="0" rIns="0" bIns="0" rtlCol="0" anchor="ctr"/>
          <a:lstStyle/>
          <a:p>
            <a:pPr indent="0" marL="0">
              <a:buNone/>
            </a:pPr>
            <a:r>
              <a:rPr lang="en-US" sz="950" b="1" dirty="0">
                <a:solidFill>
                  <a:srgbClr val="5C6066"/>
                </a:solidFill>
                <a:latin typeface="Consolas" pitchFamily="34" charset="0"/>
                <a:ea typeface="Consolas" pitchFamily="34" charset="-122"/>
                <a:cs typeface="Consolas" pitchFamily="34" charset="-120"/>
              </a:rPr>
              <a:t>MISSED</a:t>
            </a:r>
            <a:endParaRPr lang="en-US" sz="950" dirty="0"/>
          </a:p>
        </p:txBody>
      </p:sp>
      <p:sp>
        <p:nvSpPr>
          <p:cNvPr id="44" name="Shape 42"/>
          <p:cNvSpPr/>
          <p:nvPr/>
        </p:nvSpPr>
        <p:spPr>
          <a:xfrm>
            <a:off x="8705088" y="3950208"/>
            <a:ext cx="91440" cy="91440"/>
          </a:xfrm>
          <a:prstGeom prst="ellipse">
            <a:avLst/>
          </a:prstGeom>
          <a:solidFill>
            <a:srgbClr val="FF3B30"/>
          </a:solidFill>
          <a:ln/>
        </p:spPr>
      </p:sp>
      <p:sp>
        <p:nvSpPr>
          <p:cNvPr id="45" name="Text 43"/>
          <p:cNvSpPr txBox="1"/>
          <p:nvPr/>
        </p:nvSpPr>
        <p:spPr>
          <a:xfrm>
            <a:off x="8869680" y="3858768"/>
            <a:ext cx="1005840" cy="274320"/>
          </a:xfrm>
          <a:prstGeom prst="rect">
            <a:avLst/>
          </a:prstGeom>
          <a:noFill/>
          <a:ln/>
        </p:spPr>
        <p:txBody>
          <a:bodyPr wrap="square" lIns="0" tIns="0" rIns="0" bIns="0" rtlCol="0" anchor="ctr"/>
          <a:lstStyle/>
          <a:p>
            <a:pPr indent="0" marL="0">
              <a:buNone/>
            </a:pPr>
            <a:r>
              <a:rPr lang="en-US" sz="950" b="1" dirty="0">
                <a:solidFill>
                  <a:srgbClr val="FF3B30"/>
                </a:solidFill>
                <a:latin typeface="Consolas" pitchFamily="34" charset="0"/>
                <a:ea typeface="Consolas" pitchFamily="34" charset="-122"/>
                <a:cs typeface="Consolas" pitchFamily="34" charset="-120"/>
              </a:rPr>
              <a:t>CAUGHT</a:t>
            </a:r>
            <a:endParaRPr lang="en-US" sz="950" dirty="0"/>
          </a:p>
        </p:txBody>
      </p:sp>
      <p:sp>
        <p:nvSpPr>
          <p:cNvPr id="46" name="Shape 44"/>
          <p:cNvSpPr/>
          <p:nvPr/>
        </p:nvSpPr>
        <p:spPr>
          <a:xfrm>
            <a:off x="9683496" y="3950208"/>
            <a:ext cx="91440" cy="91440"/>
          </a:xfrm>
          <a:prstGeom prst="ellipse">
            <a:avLst/>
          </a:prstGeom>
          <a:solidFill>
            <a:srgbClr val="FF3B30"/>
          </a:solidFill>
          <a:ln/>
        </p:spPr>
      </p:sp>
      <p:sp>
        <p:nvSpPr>
          <p:cNvPr id="47" name="Text 45"/>
          <p:cNvSpPr txBox="1"/>
          <p:nvPr/>
        </p:nvSpPr>
        <p:spPr>
          <a:xfrm>
            <a:off x="9848088" y="3858768"/>
            <a:ext cx="1005840" cy="274320"/>
          </a:xfrm>
          <a:prstGeom prst="rect">
            <a:avLst/>
          </a:prstGeom>
          <a:noFill/>
          <a:ln/>
        </p:spPr>
        <p:txBody>
          <a:bodyPr wrap="square" lIns="0" tIns="0" rIns="0" bIns="0" rtlCol="0" anchor="ctr"/>
          <a:lstStyle/>
          <a:p>
            <a:pPr indent="0" marL="0">
              <a:buNone/>
            </a:pPr>
            <a:r>
              <a:rPr lang="en-US" sz="950" b="1" dirty="0">
                <a:solidFill>
                  <a:srgbClr val="FF3B30"/>
                </a:solidFill>
                <a:latin typeface="Consolas" pitchFamily="34" charset="0"/>
                <a:ea typeface="Consolas" pitchFamily="34" charset="-122"/>
                <a:cs typeface="Consolas" pitchFamily="34" charset="-120"/>
              </a:rPr>
              <a:t>CAUGHT</a:t>
            </a:r>
            <a:endParaRPr lang="en-US" sz="950" dirty="0"/>
          </a:p>
        </p:txBody>
      </p:sp>
      <p:sp>
        <p:nvSpPr>
          <p:cNvPr id="48" name="Shape 46"/>
          <p:cNvSpPr/>
          <p:nvPr/>
        </p:nvSpPr>
        <p:spPr>
          <a:xfrm>
            <a:off x="10661904" y="3950208"/>
            <a:ext cx="91440" cy="91440"/>
          </a:xfrm>
          <a:prstGeom prst="ellipse">
            <a:avLst/>
          </a:prstGeom>
          <a:solidFill>
            <a:srgbClr val="00D97E"/>
          </a:solidFill>
          <a:ln/>
        </p:spPr>
      </p:sp>
      <p:sp>
        <p:nvSpPr>
          <p:cNvPr id="49" name="Text 47"/>
          <p:cNvSpPr txBox="1"/>
          <p:nvPr/>
        </p:nvSpPr>
        <p:spPr>
          <a:xfrm>
            <a:off x="10826496" y="3858768"/>
            <a:ext cx="1005840" cy="274320"/>
          </a:xfrm>
          <a:prstGeom prst="rect">
            <a:avLst/>
          </a:prstGeom>
          <a:noFill/>
          <a:ln/>
        </p:spPr>
        <p:txBody>
          <a:bodyPr wrap="square" lIns="0" tIns="0" rIns="0" bIns="0" rtlCol="0" anchor="ctr"/>
          <a:lstStyle/>
          <a:p>
            <a:pPr indent="0" marL="0">
              <a:buNone/>
            </a:pPr>
            <a:r>
              <a:rPr lang="en-US" sz="950" b="1" dirty="0">
                <a:solidFill>
                  <a:srgbClr val="00D97E"/>
                </a:solidFill>
                <a:latin typeface="Consolas" pitchFamily="34" charset="0"/>
                <a:ea typeface="Consolas" pitchFamily="34" charset="-122"/>
                <a:cs typeface="Consolas" pitchFamily="34" charset="-120"/>
              </a:rPr>
              <a:t>—</a:t>
            </a:r>
            <a:endParaRPr lang="en-US" sz="950" dirty="0"/>
          </a:p>
        </p:txBody>
      </p:sp>
      <p:sp>
        <p:nvSpPr>
          <p:cNvPr id="50" name="Text 48"/>
          <p:cNvSpPr txBox="1"/>
          <p:nvPr/>
        </p:nvSpPr>
        <p:spPr>
          <a:xfrm>
            <a:off x="6309360" y="4325112"/>
            <a:ext cx="1417320" cy="292608"/>
          </a:xfrm>
          <a:prstGeom prst="rect">
            <a:avLst/>
          </a:prstGeom>
          <a:noFill/>
          <a:ln/>
        </p:spPr>
        <p:txBody>
          <a:bodyPr wrap="square" lIns="0" tIns="0" rIns="0" bIns="0" rtlCol="0" anchor="ctr"/>
          <a:lstStyle/>
          <a:p>
            <a:pPr indent="0" marL="0">
              <a:buNone/>
            </a:pPr>
            <a:r>
              <a:rPr lang="en-US" sz="1000" b="1" dirty="0">
                <a:solidFill>
                  <a:srgbClr val="F5F5F2"/>
                </a:solidFill>
                <a:latin typeface="Consolas" pitchFamily="34" charset="0"/>
                <a:ea typeface="Consolas" pitchFamily="34" charset="-122"/>
                <a:cs typeface="Consolas" pitchFamily="34" charset="-120"/>
              </a:rPr>
              <a:t>evasive</a:t>
            </a:r>
            <a:endParaRPr lang="en-US" sz="1000" dirty="0"/>
          </a:p>
        </p:txBody>
      </p:sp>
      <p:sp>
        <p:nvSpPr>
          <p:cNvPr id="51" name="Shape 49"/>
          <p:cNvSpPr/>
          <p:nvPr/>
        </p:nvSpPr>
        <p:spPr>
          <a:xfrm>
            <a:off x="7726680" y="4370832"/>
            <a:ext cx="91440" cy="91440"/>
          </a:xfrm>
          <a:prstGeom prst="ellipse">
            <a:avLst/>
          </a:prstGeom>
          <a:solidFill>
            <a:srgbClr val="FF3B30"/>
          </a:solidFill>
          <a:ln/>
        </p:spPr>
      </p:sp>
      <p:sp>
        <p:nvSpPr>
          <p:cNvPr id="52" name="Text 50"/>
          <p:cNvSpPr txBox="1"/>
          <p:nvPr/>
        </p:nvSpPr>
        <p:spPr>
          <a:xfrm>
            <a:off x="7891272" y="4279392"/>
            <a:ext cx="1005840" cy="274320"/>
          </a:xfrm>
          <a:prstGeom prst="rect">
            <a:avLst/>
          </a:prstGeom>
          <a:noFill/>
          <a:ln/>
        </p:spPr>
        <p:txBody>
          <a:bodyPr wrap="square" lIns="0" tIns="0" rIns="0" bIns="0" rtlCol="0" anchor="ctr"/>
          <a:lstStyle/>
          <a:p>
            <a:pPr indent="0" marL="0">
              <a:buNone/>
            </a:pPr>
            <a:r>
              <a:rPr lang="en-US" sz="950" b="1" dirty="0">
                <a:solidFill>
                  <a:srgbClr val="FF3B30"/>
                </a:solidFill>
                <a:latin typeface="Consolas" pitchFamily="34" charset="0"/>
                <a:ea typeface="Consolas" pitchFamily="34" charset="-122"/>
                <a:cs typeface="Consolas" pitchFamily="34" charset="-120"/>
              </a:rPr>
              <a:t>CAUGHT</a:t>
            </a:r>
            <a:endParaRPr lang="en-US" sz="950" dirty="0"/>
          </a:p>
        </p:txBody>
      </p:sp>
      <p:sp>
        <p:nvSpPr>
          <p:cNvPr id="53" name="Shape 51"/>
          <p:cNvSpPr/>
          <p:nvPr/>
        </p:nvSpPr>
        <p:spPr>
          <a:xfrm>
            <a:off x="8705088" y="4370832"/>
            <a:ext cx="91440" cy="91440"/>
          </a:xfrm>
          <a:prstGeom prst="ellipse">
            <a:avLst/>
          </a:prstGeom>
          <a:solidFill>
            <a:srgbClr val="FF3B30"/>
          </a:solidFill>
          <a:ln/>
        </p:spPr>
      </p:sp>
      <p:sp>
        <p:nvSpPr>
          <p:cNvPr id="54" name="Text 52"/>
          <p:cNvSpPr txBox="1"/>
          <p:nvPr/>
        </p:nvSpPr>
        <p:spPr>
          <a:xfrm>
            <a:off x="8869680" y="4279392"/>
            <a:ext cx="1005840" cy="274320"/>
          </a:xfrm>
          <a:prstGeom prst="rect">
            <a:avLst/>
          </a:prstGeom>
          <a:noFill/>
          <a:ln/>
        </p:spPr>
        <p:txBody>
          <a:bodyPr wrap="square" lIns="0" tIns="0" rIns="0" bIns="0" rtlCol="0" anchor="ctr"/>
          <a:lstStyle/>
          <a:p>
            <a:pPr indent="0" marL="0">
              <a:buNone/>
            </a:pPr>
            <a:r>
              <a:rPr lang="en-US" sz="950" b="1" dirty="0">
                <a:solidFill>
                  <a:srgbClr val="FF3B30"/>
                </a:solidFill>
                <a:latin typeface="Consolas" pitchFamily="34" charset="0"/>
                <a:ea typeface="Consolas" pitchFamily="34" charset="-122"/>
                <a:cs typeface="Consolas" pitchFamily="34" charset="-120"/>
              </a:rPr>
              <a:t>CAUGHT</a:t>
            </a:r>
            <a:endParaRPr lang="en-US" sz="950" dirty="0"/>
          </a:p>
        </p:txBody>
      </p:sp>
      <p:sp>
        <p:nvSpPr>
          <p:cNvPr id="55" name="Shape 53"/>
          <p:cNvSpPr/>
          <p:nvPr/>
        </p:nvSpPr>
        <p:spPr>
          <a:xfrm>
            <a:off x="9683496" y="4370832"/>
            <a:ext cx="91440" cy="91440"/>
          </a:xfrm>
          <a:prstGeom prst="ellipse">
            <a:avLst/>
          </a:prstGeom>
          <a:solidFill>
            <a:srgbClr val="FFB020"/>
          </a:solidFill>
          <a:ln/>
        </p:spPr>
      </p:sp>
      <p:sp>
        <p:nvSpPr>
          <p:cNvPr id="56" name="Text 54"/>
          <p:cNvSpPr txBox="1"/>
          <p:nvPr/>
        </p:nvSpPr>
        <p:spPr>
          <a:xfrm>
            <a:off x="9848088" y="4279392"/>
            <a:ext cx="1005840" cy="274320"/>
          </a:xfrm>
          <a:prstGeom prst="rect">
            <a:avLst/>
          </a:prstGeom>
          <a:noFill/>
          <a:ln/>
        </p:spPr>
        <p:txBody>
          <a:bodyPr wrap="square" lIns="0" tIns="0" rIns="0" bIns="0" rtlCol="0" anchor="ctr"/>
          <a:lstStyle/>
          <a:p>
            <a:pPr indent="0" marL="0">
              <a:buNone/>
            </a:pPr>
            <a:r>
              <a:rPr lang="en-US" sz="950" b="1" dirty="0">
                <a:solidFill>
                  <a:srgbClr val="FFB020"/>
                </a:solidFill>
                <a:latin typeface="Consolas" pitchFamily="34" charset="0"/>
                <a:ea typeface="Consolas" pitchFamily="34" charset="-122"/>
                <a:cs typeface="Consolas" pitchFamily="34" charset="-120"/>
              </a:rPr>
              <a:t>FIXED</a:t>
            </a:r>
            <a:endParaRPr lang="en-US" sz="950" dirty="0"/>
          </a:p>
        </p:txBody>
      </p:sp>
      <p:sp>
        <p:nvSpPr>
          <p:cNvPr id="57" name="Shape 55"/>
          <p:cNvSpPr/>
          <p:nvPr/>
        </p:nvSpPr>
        <p:spPr>
          <a:xfrm>
            <a:off x="10661904" y="4370832"/>
            <a:ext cx="91440" cy="91440"/>
          </a:xfrm>
          <a:prstGeom prst="ellipse">
            <a:avLst/>
          </a:prstGeom>
          <a:solidFill>
            <a:srgbClr val="FF3B30"/>
          </a:solidFill>
          <a:ln/>
        </p:spPr>
      </p:sp>
      <p:sp>
        <p:nvSpPr>
          <p:cNvPr id="58" name="Text 56"/>
          <p:cNvSpPr txBox="1"/>
          <p:nvPr/>
        </p:nvSpPr>
        <p:spPr>
          <a:xfrm>
            <a:off x="10826496" y="4279392"/>
            <a:ext cx="1005840" cy="274320"/>
          </a:xfrm>
          <a:prstGeom prst="rect">
            <a:avLst/>
          </a:prstGeom>
          <a:noFill/>
          <a:ln/>
        </p:spPr>
        <p:txBody>
          <a:bodyPr wrap="square" lIns="0" tIns="0" rIns="0" bIns="0" rtlCol="0" anchor="ctr"/>
          <a:lstStyle/>
          <a:p>
            <a:pPr indent="0" marL="0">
              <a:buNone/>
            </a:pPr>
            <a:r>
              <a:rPr lang="en-US" sz="950" b="1" dirty="0">
                <a:solidFill>
                  <a:srgbClr val="FF3B30"/>
                </a:solidFill>
                <a:latin typeface="Consolas" pitchFamily="34" charset="0"/>
                <a:ea typeface="Consolas" pitchFamily="34" charset="-122"/>
                <a:cs typeface="Consolas" pitchFamily="34" charset="-120"/>
              </a:rPr>
              <a:t>CAUGHT</a:t>
            </a:r>
            <a:endParaRPr lang="en-US" sz="950" dirty="0"/>
          </a:p>
        </p:txBody>
      </p:sp>
      <p:sp>
        <p:nvSpPr>
          <p:cNvPr id="59" name="Shape 57"/>
          <p:cNvSpPr/>
          <p:nvPr/>
        </p:nvSpPr>
        <p:spPr>
          <a:xfrm>
            <a:off x="6309360" y="4882896"/>
            <a:ext cx="5349240" cy="1417320"/>
          </a:xfrm>
          <a:prstGeom prst="rect">
            <a:avLst/>
          </a:prstGeom>
          <a:solidFill>
            <a:srgbClr val="141418"/>
          </a:solidFill>
          <a:ln w="12700">
            <a:solidFill>
              <a:srgbClr val="2A2A30"/>
            </a:solidFill>
            <a:prstDash val="solid"/>
          </a:ln>
        </p:spPr>
      </p:sp>
      <p:sp>
        <p:nvSpPr>
          <p:cNvPr id="60" name="Text 58"/>
          <p:cNvSpPr txBox="1"/>
          <p:nvPr/>
        </p:nvSpPr>
        <p:spPr>
          <a:xfrm>
            <a:off x="6510528" y="5038344"/>
            <a:ext cx="4946904" cy="1188720"/>
          </a:xfrm>
          <a:prstGeom prst="rect">
            <a:avLst/>
          </a:prstGeom>
          <a:noFill/>
          <a:ln/>
        </p:spPr>
        <p:txBody>
          <a:bodyPr wrap="square" lIns="0" tIns="0" rIns="0" bIns="0" rtlCol="0" anchor="ctr"/>
          <a:lstStyle/>
          <a:p>
            <a:pPr indent="0" marL="0">
              <a:lnSpc>
                <a:spcPct val="128000"/>
              </a:lnSpc>
              <a:buNone/>
            </a:pPr>
            <a:r>
              <a:rPr lang="en-US" sz="960" i="1" dirty="0">
                <a:solidFill>
                  <a:srgbClr val="9AA0A6"/>
                </a:solidFill>
                <a:latin typeface="Calibri" pitchFamily="34" charset="0"/>
                <a:ea typeface="Calibri" pitchFamily="34" charset="-122"/>
                <a:cs typeface="Calibri" pitchFamily="34" charset="-120"/>
              </a:rPr>
              <a:t>Two real bugs were found and fixed while building the ensemble: a shared blind spot that let one variant slip through, and a driver crash misread as a detection. Both documented in the written report, not hidden.</a:t>
            </a:r>
            <a:endParaRPr lang="en-US" sz="9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0" y="896112"/>
            <a:ext cx="12188952" cy="0"/>
          </a:xfrm>
          <a:prstGeom prst="line">
            <a:avLst/>
          </a:prstGeom>
          <a:noFill/>
          <a:ln w="12700">
            <a:solidFill>
              <a:srgbClr val="2A2A30"/>
            </a:solidFill>
            <a:prstDash val="solid"/>
          </a:ln>
        </p:spPr>
      </p:sp>
      <p:sp>
        <p:nvSpPr>
          <p:cNvPr id="3" name="Text 1"/>
          <p:cNvSpPr txBox="1"/>
          <p:nvPr/>
        </p:nvSpPr>
        <p:spPr>
          <a:xfrm>
            <a:off x="8778240" y="256032"/>
            <a:ext cx="2834640" cy="274320"/>
          </a:xfrm>
          <a:prstGeom prst="rect">
            <a:avLst/>
          </a:prstGeom>
          <a:noFill/>
          <a:ln/>
        </p:spPr>
        <p:txBody>
          <a:bodyPr wrap="square" lIns="0" tIns="0" rIns="0" bIns="0" rtlCol="0" anchor="ctr"/>
          <a:lstStyle/>
          <a:p>
            <a:pPr algn="r" indent="0" marL="0">
              <a:buNone/>
            </a:pPr>
            <a:r>
              <a:rPr lang="en-US" sz="900" spc="100" kern="0" dirty="0">
                <a:solidFill>
                  <a:srgbClr val="5C6066"/>
                </a:solidFill>
                <a:latin typeface="Consolas" pitchFamily="34" charset="0"/>
                <a:ea typeface="Consolas" pitchFamily="34" charset="-122"/>
                <a:cs typeface="Consolas" pitchFamily="34" charset="-120"/>
              </a:rPr>
              <a:t>TRUSTING_TRUST.EXE</a:t>
            </a:r>
            <a:endParaRPr lang="en-US" sz="900" dirty="0"/>
          </a:p>
        </p:txBody>
      </p:sp>
      <p:sp>
        <p:nvSpPr>
          <p:cNvPr id="4" name="Shape 2"/>
          <p:cNvSpPr/>
          <p:nvPr/>
        </p:nvSpPr>
        <p:spPr>
          <a:xfrm>
            <a:off x="0" y="6419088"/>
            <a:ext cx="12188952" cy="0"/>
          </a:xfrm>
          <a:prstGeom prst="line">
            <a:avLst/>
          </a:prstGeom>
          <a:noFill/>
          <a:ln w="12700">
            <a:solidFill>
              <a:srgbClr val="2A2A30"/>
            </a:solidFill>
            <a:prstDash val="solid"/>
          </a:ln>
        </p:spPr>
      </p:sp>
      <p:sp>
        <p:nvSpPr>
          <p:cNvPr id="5" name="Text 3"/>
          <p:cNvSpPr txBox="1"/>
          <p:nvPr/>
        </p:nvSpPr>
        <p:spPr>
          <a:xfrm>
            <a:off x="457200" y="6492240"/>
            <a:ext cx="3657600" cy="256032"/>
          </a:xfrm>
          <a:prstGeom prst="rect">
            <a:avLst/>
          </a:prstGeom>
          <a:noFill/>
          <a:ln/>
        </p:spPr>
        <p:txBody>
          <a:bodyPr wrap="square" lIns="0" tIns="0" rIns="0" bIns="0" rtlCol="0" anchor="ctr"/>
          <a:lstStyle/>
          <a:p>
            <a:pPr indent="0" marL="0">
              <a:buNone/>
            </a:pPr>
            <a:r>
              <a:rPr lang="en-US" sz="850" dirty="0">
                <a:solidFill>
                  <a:srgbClr val="5C6066"/>
                </a:solidFill>
                <a:latin typeface="Consolas" pitchFamily="34" charset="0"/>
                <a:ea typeface="Consolas" pitchFamily="34" charset="-122"/>
                <a:cs typeface="Consolas" pitchFamily="34" charset="-120"/>
              </a:rPr>
              <a:t>root@ttrevisited:~$</a:t>
            </a:r>
            <a:endParaRPr lang="en-US" sz="850" dirty="0"/>
          </a:p>
        </p:txBody>
      </p:sp>
      <p:sp>
        <p:nvSpPr>
          <p:cNvPr id="6" name="Text 4"/>
          <p:cNvSpPr txBox="1"/>
          <p:nvPr/>
        </p:nvSpPr>
        <p:spPr>
          <a:xfrm>
            <a:off x="10424160" y="6492240"/>
            <a:ext cx="1371600" cy="256032"/>
          </a:xfrm>
          <a:prstGeom prst="rect">
            <a:avLst/>
          </a:prstGeom>
          <a:noFill/>
          <a:ln/>
        </p:spPr>
        <p:txBody>
          <a:bodyPr wrap="square" lIns="0" tIns="0" rIns="0" bIns="0" rtlCol="0" anchor="ctr"/>
          <a:lstStyle/>
          <a:p>
            <a:pPr algn="r" indent="0" marL="0">
              <a:buNone/>
            </a:pPr>
            <a:r>
              <a:rPr lang="en-US" sz="900" b="1" dirty="0">
                <a:solidFill>
                  <a:srgbClr val="9AA0A6"/>
                </a:solidFill>
                <a:latin typeface="Consolas" pitchFamily="34" charset="0"/>
                <a:ea typeface="Consolas" pitchFamily="34" charset="-122"/>
                <a:cs typeface="Consolas" pitchFamily="34" charset="-120"/>
              </a:rPr>
              <a:t>[ 08 / 11 ]</a:t>
            </a:r>
            <a:endParaRPr lang="en-US" sz="900" dirty="0"/>
          </a:p>
        </p:txBody>
      </p:sp>
      <p:sp>
        <p:nvSpPr>
          <p:cNvPr id="7" name="Text 5"/>
          <p:cNvSpPr txBox="1"/>
          <p:nvPr/>
        </p:nvSpPr>
        <p:spPr>
          <a:xfrm>
            <a:off x="502920" y="1060704"/>
            <a:ext cx="10058400" cy="292608"/>
          </a:xfrm>
          <a:prstGeom prst="rect">
            <a:avLst/>
          </a:prstGeom>
          <a:noFill/>
          <a:ln/>
        </p:spPr>
        <p:txBody>
          <a:bodyPr wrap="square" lIns="0" tIns="0" rIns="0" bIns="0" rtlCol="0" anchor="ctr"/>
          <a:lstStyle/>
          <a:p>
            <a:pPr indent="0" marL="0">
              <a:buNone/>
            </a:pPr>
            <a:r>
              <a:rPr lang="en-US" sz="1250" b="1" spc="50" kern="0" dirty="0">
                <a:solidFill>
                  <a:srgbClr val="FF3B30"/>
                </a:solidFill>
                <a:latin typeface="Consolas" pitchFamily="34" charset="0"/>
                <a:ea typeface="Consolas" pitchFamily="34" charset="-122"/>
                <a:cs typeface="Consolas" pitchFamily="34" charset="-120"/>
              </a:rPr>
              <a:t>&gt;_ </a:t>
            </a:r>
            <a:pPr indent="0" marL="0">
              <a:buNone/>
            </a:pPr>
            <a:r>
              <a:rPr lang="en-US" sz="1250" b="1" spc="50" kern="0" dirty="0">
                <a:solidFill>
                  <a:srgbClr val="9AA0A6"/>
                </a:solidFill>
                <a:latin typeface="Consolas" pitchFamily="34" charset="0"/>
                <a:ea typeface="Consolas" pitchFamily="34" charset="-122"/>
                <a:cs typeface="Consolas" pitchFamily="34" charset="-120"/>
              </a:rPr>
              <a:t>08 // NOVELTY // I OF II - THE CLAIM</a:t>
            </a:r>
            <a:endParaRPr lang="en-US" sz="1250" dirty="0"/>
          </a:p>
        </p:txBody>
      </p:sp>
      <p:sp>
        <p:nvSpPr>
          <p:cNvPr id="8" name="Text 6"/>
          <p:cNvSpPr txBox="1"/>
          <p:nvPr/>
        </p:nvSpPr>
        <p:spPr>
          <a:xfrm>
            <a:off x="502920" y="1408176"/>
            <a:ext cx="11155680" cy="868680"/>
          </a:xfrm>
          <a:prstGeom prst="rect">
            <a:avLst/>
          </a:prstGeom>
          <a:noFill/>
          <a:ln/>
        </p:spPr>
        <p:txBody>
          <a:bodyPr wrap="square" lIns="0" tIns="0" rIns="0" bIns="0" rtlCol="0" anchor="t"/>
          <a:lstStyle/>
          <a:p>
            <a:pPr indent="0" marL="0">
              <a:lnSpc>
                <a:spcPct val="102000"/>
              </a:lnSpc>
              <a:buNone/>
            </a:pPr>
            <a:r>
              <a:rPr lang="en-US" sz="2800" b="1" dirty="0">
                <a:solidFill>
                  <a:srgbClr val="F5F5F2"/>
                </a:solidFill>
                <a:latin typeface="Calibri" pitchFamily="34" charset="0"/>
                <a:ea typeface="Calibri" pitchFamily="34" charset="-122"/>
                <a:cs typeface="Calibri" pitchFamily="34" charset="-120"/>
              </a:rPr>
              <a:t>9 / 10. Here is why</a:t>
            </a:r>
            <a:endParaRPr lang="en-US" sz="2800" dirty="0"/>
          </a:p>
          <a:p>
            <a:pPr indent="0" marL="0">
              <a:lnSpc>
                <a:spcPct val="102000"/>
              </a:lnSpc>
              <a:buNone/>
            </a:pPr>
            <a:r>
              <a:rPr lang="en-US" sz="2800" b="1" dirty="0">
                <a:solidFill>
                  <a:srgbClr val="F5F5F2"/>
                </a:solidFill>
                <a:latin typeface="Calibri" pitchFamily="34" charset="0"/>
                <a:ea typeface="Calibri" pitchFamily="34" charset="-122"/>
                <a:cs typeface="Calibri" pitchFamily="34" charset="-120"/>
              </a:rPr>
              <a:t>that number is earned.</a:t>
            </a:r>
            <a:endParaRPr lang="en-US" sz="2800" dirty="0"/>
          </a:p>
        </p:txBody>
      </p:sp>
      <p:sp>
        <p:nvSpPr>
          <p:cNvPr id="9" name="Shape 7"/>
          <p:cNvSpPr/>
          <p:nvPr/>
        </p:nvSpPr>
        <p:spPr>
          <a:xfrm>
            <a:off x="502920" y="2377440"/>
            <a:ext cx="3200400" cy="3611880"/>
          </a:xfrm>
          <a:prstGeom prst="rect">
            <a:avLst/>
          </a:prstGeom>
          <a:solidFill>
            <a:srgbClr val="1A1013"/>
          </a:solidFill>
          <a:ln w="19050">
            <a:solidFill>
              <a:srgbClr val="FF3B30"/>
            </a:solidFill>
            <a:prstDash val="solid"/>
          </a:ln>
        </p:spPr>
      </p:sp>
      <p:sp>
        <p:nvSpPr>
          <p:cNvPr id="10" name="Text 8"/>
          <p:cNvSpPr txBox="1"/>
          <p:nvPr/>
        </p:nvSpPr>
        <p:spPr>
          <a:xfrm>
            <a:off x="502920" y="2578608"/>
            <a:ext cx="3200400" cy="274320"/>
          </a:xfrm>
          <a:prstGeom prst="rect">
            <a:avLst/>
          </a:prstGeom>
          <a:noFill/>
          <a:ln/>
        </p:spPr>
        <p:txBody>
          <a:bodyPr wrap="square" lIns="0" tIns="0" rIns="0" bIns="0" rtlCol="0" anchor="ctr"/>
          <a:lstStyle/>
          <a:p>
            <a:pPr algn="ctr" indent="0" marL="0">
              <a:buNone/>
            </a:pPr>
            <a:r>
              <a:rPr lang="en-US" sz="1100" b="1" spc="150" kern="0" dirty="0">
                <a:solidFill>
                  <a:srgbClr val="9AA0A6"/>
                </a:solidFill>
                <a:latin typeface="Consolas" pitchFamily="34" charset="0"/>
                <a:ea typeface="Consolas" pitchFamily="34" charset="-122"/>
                <a:cs typeface="Consolas" pitchFamily="34" charset="-120"/>
              </a:rPr>
              <a:t>NOVELTY SCORE</a:t>
            </a:r>
            <a:endParaRPr lang="en-US" sz="1100" dirty="0"/>
          </a:p>
        </p:txBody>
      </p:sp>
      <p:sp>
        <p:nvSpPr>
          <p:cNvPr id="11" name="Text 9"/>
          <p:cNvSpPr txBox="1"/>
          <p:nvPr/>
        </p:nvSpPr>
        <p:spPr>
          <a:xfrm>
            <a:off x="502920" y="2743200"/>
            <a:ext cx="3200400" cy="1554480"/>
          </a:xfrm>
          <a:prstGeom prst="rect">
            <a:avLst/>
          </a:prstGeom>
          <a:noFill/>
          <a:ln/>
        </p:spPr>
        <p:txBody>
          <a:bodyPr wrap="square" lIns="0" tIns="0" rIns="0" bIns="0" rtlCol="0" anchor="ctr"/>
          <a:lstStyle/>
          <a:p>
            <a:pPr algn="ctr" indent="0" marL="0">
              <a:buNone/>
            </a:pPr>
            <a:r>
              <a:rPr lang="en-US" sz="9200" b="1" dirty="0">
                <a:solidFill>
                  <a:srgbClr val="FF3B30"/>
                </a:solidFill>
                <a:latin typeface="Calibri" pitchFamily="34" charset="0"/>
                <a:ea typeface="Calibri" pitchFamily="34" charset="-122"/>
                <a:cs typeface="Calibri" pitchFamily="34" charset="-120"/>
              </a:rPr>
              <a:t>9</a:t>
            </a:r>
            <a:endParaRPr lang="en-US" sz="9200" dirty="0"/>
          </a:p>
        </p:txBody>
      </p:sp>
      <p:sp>
        <p:nvSpPr>
          <p:cNvPr id="12" name="Text 10"/>
          <p:cNvSpPr txBox="1"/>
          <p:nvPr/>
        </p:nvSpPr>
        <p:spPr>
          <a:xfrm>
            <a:off x="502920" y="4160520"/>
            <a:ext cx="3200400" cy="320040"/>
          </a:xfrm>
          <a:prstGeom prst="rect">
            <a:avLst/>
          </a:prstGeom>
          <a:noFill/>
          <a:ln/>
        </p:spPr>
        <p:txBody>
          <a:bodyPr wrap="square" lIns="0" tIns="0" rIns="0" bIns="0" rtlCol="0" anchor="ctr"/>
          <a:lstStyle/>
          <a:p>
            <a:pPr algn="ctr" indent="0" marL="0">
              <a:buNone/>
            </a:pPr>
            <a:r>
              <a:rPr lang="en-US" sz="1300" b="1" spc="100" kern="0" dirty="0">
                <a:solidFill>
                  <a:srgbClr val="F5F5F2"/>
                </a:solidFill>
                <a:latin typeface="Consolas" pitchFamily="34" charset="0"/>
                <a:ea typeface="Consolas" pitchFamily="34" charset="-122"/>
                <a:cs typeface="Consolas" pitchFamily="34" charset="-120"/>
              </a:rPr>
              <a:t>OUT OF 10</a:t>
            </a:r>
            <a:endParaRPr lang="en-US" sz="1300" dirty="0"/>
          </a:p>
        </p:txBody>
      </p:sp>
      <p:sp>
        <p:nvSpPr>
          <p:cNvPr id="13" name="Shape 11"/>
          <p:cNvSpPr/>
          <p:nvPr/>
        </p:nvSpPr>
        <p:spPr>
          <a:xfrm>
            <a:off x="868680" y="4617720"/>
            <a:ext cx="2468880" cy="0"/>
          </a:xfrm>
          <a:prstGeom prst="line">
            <a:avLst/>
          </a:prstGeom>
          <a:noFill/>
          <a:ln w="12700">
            <a:solidFill>
              <a:srgbClr val="2A2A30"/>
            </a:solidFill>
            <a:prstDash val="solid"/>
          </a:ln>
        </p:spPr>
      </p:sp>
      <p:sp>
        <p:nvSpPr>
          <p:cNvPr id="14" name="Text 12"/>
          <p:cNvSpPr txBox="1"/>
          <p:nvPr/>
        </p:nvSpPr>
        <p:spPr>
          <a:xfrm>
            <a:off x="777240" y="4754880"/>
            <a:ext cx="2651760" cy="1097280"/>
          </a:xfrm>
          <a:prstGeom prst="rect">
            <a:avLst/>
          </a:prstGeom>
          <a:noFill/>
          <a:ln/>
        </p:spPr>
        <p:txBody>
          <a:bodyPr wrap="square" lIns="0" tIns="0" rIns="0" bIns="0" rtlCol="0" anchor="ctr"/>
          <a:lstStyle/>
          <a:p>
            <a:pPr algn="ctr" indent="0" marL="0">
              <a:lnSpc>
                <a:spcPct val="130000"/>
              </a:lnSpc>
              <a:buNone/>
            </a:pPr>
            <a:r>
              <a:rPr lang="en-US" sz="980" i="1" dirty="0">
                <a:solidFill>
                  <a:srgbClr val="9AA0A6"/>
                </a:solidFill>
                <a:latin typeface="Calibri" pitchFamily="34" charset="0"/>
                <a:ea typeface="Calibri" pitchFamily="34" charset="-122"/>
                <a:cs typeface="Calibri" pitchFamily="34" charset="-120"/>
              </a:rPr>
              <a:t>Base attack + defense alone: 1–2. Everything on the right is what pushes it to 9.</a:t>
            </a:r>
            <a:endParaRPr lang="en-US" sz="980" dirty="0"/>
          </a:p>
        </p:txBody>
      </p:sp>
      <p:sp>
        <p:nvSpPr>
          <p:cNvPr id="15" name="Shape 13"/>
          <p:cNvSpPr/>
          <p:nvPr/>
        </p:nvSpPr>
        <p:spPr>
          <a:xfrm>
            <a:off x="3977640" y="2423160"/>
            <a:ext cx="457200" cy="457200"/>
          </a:xfrm>
          <a:prstGeom prst="rect">
            <a:avLst/>
          </a:prstGeom>
          <a:solidFill>
            <a:srgbClr val="FF3B30"/>
          </a:solidFill>
          <a:ln/>
        </p:spPr>
      </p:sp>
      <p:sp>
        <p:nvSpPr>
          <p:cNvPr id="16" name="Text 14"/>
          <p:cNvSpPr txBox="1"/>
          <p:nvPr/>
        </p:nvSpPr>
        <p:spPr>
          <a:xfrm>
            <a:off x="3977640" y="2423160"/>
            <a:ext cx="457200" cy="457200"/>
          </a:xfrm>
          <a:prstGeom prst="rect">
            <a:avLst/>
          </a:prstGeom>
          <a:noFill/>
          <a:ln/>
        </p:spPr>
        <p:txBody>
          <a:bodyPr wrap="square" lIns="0" tIns="0" rIns="0" bIns="0" rtlCol="0" anchor="ctr"/>
          <a:lstStyle/>
          <a:p>
            <a:pPr algn="ctr" indent="0" marL="0">
              <a:buNone/>
            </a:pPr>
            <a:r>
              <a:rPr lang="en-US" sz="1500" b="1" dirty="0">
                <a:solidFill>
                  <a:srgbClr val="0A0A0C"/>
                </a:solidFill>
                <a:latin typeface="Consolas" pitchFamily="34" charset="0"/>
                <a:ea typeface="Consolas" pitchFamily="34" charset="-122"/>
                <a:cs typeface="Consolas" pitchFamily="34" charset="-120"/>
              </a:rPr>
              <a:t>1</a:t>
            </a:r>
            <a:endParaRPr lang="en-US" sz="1500" dirty="0"/>
          </a:p>
        </p:txBody>
      </p:sp>
      <p:sp>
        <p:nvSpPr>
          <p:cNvPr id="17" name="Text 15"/>
          <p:cNvSpPr txBox="1"/>
          <p:nvPr/>
        </p:nvSpPr>
        <p:spPr>
          <a:xfrm>
            <a:off x="4617720" y="2395728"/>
            <a:ext cx="2743200" cy="274320"/>
          </a:xfrm>
          <a:prstGeom prst="rect">
            <a:avLst/>
          </a:prstGeom>
          <a:noFill/>
          <a:ln/>
        </p:spPr>
        <p:txBody>
          <a:bodyPr wrap="square" lIns="0" tIns="0" rIns="0" bIns="0" rtlCol="0" anchor="ctr"/>
          <a:lstStyle/>
          <a:p>
            <a:pPr indent="0" marL="0">
              <a:buNone/>
            </a:pPr>
            <a:r>
              <a:rPr lang="en-US" sz="1150" b="1" spc="50" kern="0" dirty="0">
                <a:solidFill>
                  <a:srgbClr val="00D97E"/>
                </a:solidFill>
                <a:latin typeface="Consolas" pitchFamily="34" charset="0"/>
                <a:ea typeface="Consolas" pitchFamily="34" charset="-122"/>
                <a:cs typeface="Consolas" pitchFamily="34" charset="-120"/>
              </a:rPr>
              <a:t>SEARCH</a:t>
            </a:r>
            <a:endParaRPr lang="en-US" sz="1150" dirty="0"/>
          </a:p>
        </p:txBody>
      </p:sp>
      <p:sp>
        <p:nvSpPr>
          <p:cNvPr id="18" name="Text 16"/>
          <p:cNvSpPr txBox="1"/>
          <p:nvPr/>
        </p:nvSpPr>
        <p:spPr>
          <a:xfrm>
            <a:off x="4617720" y="2670048"/>
            <a:ext cx="6766560" cy="384048"/>
          </a:xfrm>
          <a:prstGeom prst="rect">
            <a:avLst/>
          </a:prstGeom>
          <a:noFill/>
          <a:ln/>
        </p:spPr>
        <p:txBody>
          <a:bodyPr wrap="square" lIns="0" tIns="0" rIns="0" bIns="0" rtlCol="0" anchor="ctr"/>
          <a:lstStyle/>
          <a:p>
            <a:pPr indent="0" marL="0">
              <a:lnSpc>
                <a:spcPct val="118000"/>
              </a:lnSpc>
              <a:buNone/>
            </a:pPr>
            <a:r>
              <a:rPr lang="en-US" sz="1000" dirty="0">
                <a:solidFill>
                  <a:srgbClr val="9AA0A6"/>
                </a:solidFill>
                <a:latin typeface="Calibri" pitchFamily="34" charset="0"/>
                <a:ea typeface="Calibri" pitchFamily="34" charset="-122"/>
                <a:cs typeface="Calibri" pitchFamily="34" charset="-120"/>
              </a:rPr>
              <a:t>A literature search confirmed the gap first - the claim isn't assumed, it's checked.</a:t>
            </a:r>
            <a:endParaRPr lang="en-US" sz="1000" dirty="0"/>
          </a:p>
        </p:txBody>
      </p:sp>
      <p:sp>
        <p:nvSpPr>
          <p:cNvPr id="19" name="Shape 17"/>
          <p:cNvSpPr/>
          <p:nvPr/>
        </p:nvSpPr>
        <p:spPr>
          <a:xfrm>
            <a:off x="3977640" y="2999232"/>
            <a:ext cx="457200" cy="457200"/>
          </a:xfrm>
          <a:prstGeom prst="rect">
            <a:avLst/>
          </a:prstGeom>
          <a:solidFill>
            <a:srgbClr val="FF3B30"/>
          </a:solidFill>
          <a:ln/>
        </p:spPr>
      </p:sp>
      <p:sp>
        <p:nvSpPr>
          <p:cNvPr id="20" name="Text 18"/>
          <p:cNvSpPr txBox="1"/>
          <p:nvPr/>
        </p:nvSpPr>
        <p:spPr>
          <a:xfrm>
            <a:off x="3977640" y="2999232"/>
            <a:ext cx="457200" cy="457200"/>
          </a:xfrm>
          <a:prstGeom prst="rect">
            <a:avLst/>
          </a:prstGeom>
          <a:noFill/>
          <a:ln/>
        </p:spPr>
        <p:txBody>
          <a:bodyPr wrap="square" lIns="0" tIns="0" rIns="0" bIns="0" rtlCol="0" anchor="ctr"/>
          <a:lstStyle/>
          <a:p>
            <a:pPr algn="ctr" indent="0" marL="0">
              <a:buNone/>
            </a:pPr>
            <a:r>
              <a:rPr lang="en-US" sz="1500" b="1" dirty="0">
                <a:solidFill>
                  <a:srgbClr val="0A0A0C"/>
                </a:solidFill>
                <a:latin typeface="Consolas" pitchFamily="34" charset="0"/>
                <a:ea typeface="Consolas" pitchFamily="34" charset="-122"/>
                <a:cs typeface="Consolas" pitchFamily="34" charset="-120"/>
              </a:rPr>
              <a:t>2</a:t>
            </a:r>
            <a:endParaRPr lang="en-US" sz="1500" dirty="0"/>
          </a:p>
        </p:txBody>
      </p:sp>
      <p:sp>
        <p:nvSpPr>
          <p:cNvPr id="21" name="Text 19"/>
          <p:cNvSpPr txBox="1"/>
          <p:nvPr/>
        </p:nvSpPr>
        <p:spPr>
          <a:xfrm>
            <a:off x="4617720" y="2971800"/>
            <a:ext cx="2743200" cy="274320"/>
          </a:xfrm>
          <a:prstGeom prst="rect">
            <a:avLst/>
          </a:prstGeom>
          <a:noFill/>
          <a:ln/>
        </p:spPr>
        <p:txBody>
          <a:bodyPr wrap="square" lIns="0" tIns="0" rIns="0" bIns="0" rtlCol="0" anchor="ctr"/>
          <a:lstStyle/>
          <a:p>
            <a:pPr indent="0" marL="0">
              <a:buNone/>
            </a:pPr>
            <a:r>
              <a:rPr lang="en-US" sz="1150" b="1" spc="50" kern="0" dirty="0">
                <a:solidFill>
                  <a:srgbClr val="00D97E"/>
                </a:solidFill>
                <a:latin typeface="Consolas" pitchFamily="34" charset="0"/>
                <a:ea typeface="Consolas" pitchFamily="34" charset="-122"/>
                <a:cs typeface="Consolas" pitchFamily="34" charset="-120"/>
              </a:rPr>
              <a:t>SYNTHESISE</a:t>
            </a:r>
            <a:endParaRPr lang="en-US" sz="1150" dirty="0"/>
          </a:p>
        </p:txBody>
      </p:sp>
      <p:sp>
        <p:nvSpPr>
          <p:cNvPr id="22" name="Text 20"/>
          <p:cNvSpPr txBox="1"/>
          <p:nvPr/>
        </p:nvSpPr>
        <p:spPr>
          <a:xfrm>
            <a:off x="4617720" y="3246120"/>
            <a:ext cx="6766560" cy="384048"/>
          </a:xfrm>
          <a:prstGeom prst="rect">
            <a:avLst/>
          </a:prstGeom>
          <a:noFill/>
          <a:ln/>
        </p:spPr>
        <p:txBody>
          <a:bodyPr wrap="square" lIns="0" tIns="0" rIns="0" bIns="0" rtlCol="0" anchor="ctr"/>
          <a:lstStyle/>
          <a:p>
            <a:pPr indent="0" marL="0">
              <a:lnSpc>
                <a:spcPct val="118000"/>
              </a:lnSpc>
              <a:buNone/>
            </a:pPr>
            <a:r>
              <a:rPr lang="en-US" sz="1000" dirty="0">
                <a:solidFill>
                  <a:srgbClr val="9AA0A6"/>
                </a:solidFill>
                <a:latin typeface="Calibri" pitchFamily="34" charset="0"/>
                <a:ea typeface="Calibri" pitchFamily="34" charset="-122"/>
                <a:cs typeface="Calibri" pitchFamily="34" charset="-120"/>
              </a:rPr>
              <a:t>Metamorphic testing + trusting-trust detection: a combination not found published anywhere.</a:t>
            </a:r>
            <a:endParaRPr lang="en-US" sz="1000" dirty="0"/>
          </a:p>
        </p:txBody>
      </p:sp>
      <p:sp>
        <p:nvSpPr>
          <p:cNvPr id="23" name="Shape 21"/>
          <p:cNvSpPr/>
          <p:nvPr/>
        </p:nvSpPr>
        <p:spPr>
          <a:xfrm>
            <a:off x="3977640" y="3575304"/>
            <a:ext cx="457200" cy="457200"/>
          </a:xfrm>
          <a:prstGeom prst="rect">
            <a:avLst/>
          </a:prstGeom>
          <a:solidFill>
            <a:srgbClr val="FF3B30"/>
          </a:solidFill>
          <a:ln/>
        </p:spPr>
      </p:sp>
      <p:sp>
        <p:nvSpPr>
          <p:cNvPr id="24" name="Text 22"/>
          <p:cNvSpPr txBox="1"/>
          <p:nvPr/>
        </p:nvSpPr>
        <p:spPr>
          <a:xfrm>
            <a:off x="3977640" y="3575304"/>
            <a:ext cx="457200" cy="457200"/>
          </a:xfrm>
          <a:prstGeom prst="rect">
            <a:avLst/>
          </a:prstGeom>
          <a:noFill/>
          <a:ln/>
        </p:spPr>
        <p:txBody>
          <a:bodyPr wrap="square" lIns="0" tIns="0" rIns="0" bIns="0" rtlCol="0" anchor="ctr"/>
          <a:lstStyle/>
          <a:p>
            <a:pPr algn="ctr" indent="0" marL="0">
              <a:buNone/>
            </a:pPr>
            <a:r>
              <a:rPr lang="en-US" sz="1500" b="1" dirty="0">
                <a:solidFill>
                  <a:srgbClr val="0A0A0C"/>
                </a:solidFill>
                <a:latin typeface="Consolas" pitchFamily="34" charset="0"/>
                <a:ea typeface="Consolas" pitchFamily="34" charset="-122"/>
                <a:cs typeface="Consolas" pitchFamily="34" charset="-120"/>
              </a:rPr>
              <a:t>3</a:t>
            </a:r>
            <a:endParaRPr lang="en-US" sz="1500" dirty="0"/>
          </a:p>
        </p:txBody>
      </p:sp>
      <p:sp>
        <p:nvSpPr>
          <p:cNvPr id="25" name="Text 23"/>
          <p:cNvSpPr txBox="1"/>
          <p:nvPr/>
        </p:nvSpPr>
        <p:spPr>
          <a:xfrm>
            <a:off x="4617720" y="3547872"/>
            <a:ext cx="2743200" cy="274320"/>
          </a:xfrm>
          <a:prstGeom prst="rect">
            <a:avLst/>
          </a:prstGeom>
          <a:noFill/>
          <a:ln/>
        </p:spPr>
        <p:txBody>
          <a:bodyPr wrap="square" lIns="0" tIns="0" rIns="0" bIns="0" rtlCol="0" anchor="ctr"/>
          <a:lstStyle/>
          <a:p>
            <a:pPr indent="0" marL="0">
              <a:buNone/>
            </a:pPr>
            <a:r>
              <a:rPr lang="en-US" sz="1150" b="1" spc="50" kern="0" dirty="0">
                <a:solidFill>
                  <a:srgbClr val="00D97E"/>
                </a:solidFill>
                <a:latin typeface="Consolas" pitchFamily="34" charset="0"/>
                <a:ea typeface="Consolas" pitchFamily="34" charset="-122"/>
                <a:cs typeface="Consolas" pitchFamily="34" charset="-120"/>
              </a:rPr>
              <a:t>IMPLEMENT</a:t>
            </a:r>
            <a:endParaRPr lang="en-US" sz="1150" dirty="0"/>
          </a:p>
        </p:txBody>
      </p:sp>
      <p:sp>
        <p:nvSpPr>
          <p:cNvPr id="26" name="Text 24"/>
          <p:cNvSpPr txBox="1"/>
          <p:nvPr/>
        </p:nvSpPr>
        <p:spPr>
          <a:xfrm>
            <a:off x="4617720" y="3822192"/>
            <a:ext cx="6766560" cy="384048"/>
          </a:xfrm>
          <a:prstGeom prst="rect">
            <a:avLst/>
          </a:prstGeom>
          <a:noFill/>
          <a:ln/>
        </p:spPr>
        <p:txBody>
          <a:bodyPr wrap="square" lIns="0" tIns="0" rIns="0" bIns="0" rtlCol="0" anchor="ctr"/>
          <a:lstStyle/>
          <a:p>
            <a:pPr indent="0" marL="0">
              <a:lnSpc>
                <a:spcPct val="118000"/>
              </a:lnSpc>
              <a:buNone/>
            </a:pPr>
            <a:r>
              <a:rPr lang="en-US" sz="1000" dirty="0">
                <a:solidFill>
                  <a:srgbClr val="9AA0A6"/>
                </a:solidFill>
                <a:latin typeface="Calibri" pitchFamily="34" charset="0"/>
                <a:ea typeface="Calibri" pitchFamily="34" charset="-122"/>
                <a:cs typeface="Calibri" pitchFamily="34" charset="-120"/>
              </a:rPr>
              <a:t>Fully built and empirically verified - every result in this deck was actually run.</a:t>
            </a:r>
            <a:endParaRPr lang="en-US" sz="1000" dirty="0"/>
          </a:p>
        </p:txBody>
      </p:sp>
      <p:sp>
        <p:nvSpPr>
          <p:cNvPr id="27" name="Shape 25"/>
          <p:cNvSpPr/>
          <p:nvPr/>
        </p:nvSpPr>
        <p:spPr>
          <a:xfrm>
            <a:off x="3977640" y="4151376"/>
            <a:ext cx="457200" cy="457200"/>
          </a:xfrm>
          <a:prstGeom prst="rect">
            <a:avLst/>
          </a:prstGeom>
          <a:solidFill>
            <a:srgbClr val="FF3B30"/>
          </a:solidFill>
          <a:ln/>
        </p:spPr>
      </p:sp>
      <p:sp>
        <p:nvSpPr>
          <p:cNvPr id="28" name="Text 26"/>
          <p:cNvSpPr txBox="1"/>
          <p:nvPr/>
        </p:nvSpPr>
        <p:spPr>
          <a:xfrm>
            <a:off x="3977640" y="4151376"/>
            <a:ext cx="457200" cy="457200"/>
          </a:xfrm>
          <a:prstGeom prst="rect">
            <a:avLst/>
          </a:prstGeom>
          <a:noFill/>
          <a:ln/>
        </p:spPr>
        <p:txBody>
          <a:bodyPr wrap="square" lIns="0" tIns="0" rIns="0" bIns="0" rtlCol="0" anchor="ctr"/>
          <a:lstStyle/>
          <a:p>
            <a:pPr algn="ctr" indent="0" marL="0">
              <a:buNone/>
            </a:pPr>
            <a:r>
              <a:rPr lang="en-US" sz="1500" b="1" dirty="0">
                <a:solidFill>
                  <a:srgbClr val="0A0A0C"/>
                </a:solidFill>
                <a:latin typeface="Consolas" pitchFamily="34" charset="0"/>
                <a:ea typeface="Consolas" pitchFamily="34" charset="-122"/>
                <a:cs typeface="Consolas" pitchFamily="34" charset="-120"/>
              </a:rPr>
              <a:t>4</a:t>
            </a:r>
            <a:endParaRPr lang="en-US" sz="1500" dirty="0"/>
          </a:p>
        </p:txBody>
      </p:sp>
      <p:sp>
        <p:nvSpPr>
          <p:cNvPr id="29" name="Text 27"/>
          <p:cNvSpPr txBox="1"/>
          <p:nvPr/>
        </p:nvSpPr>
        <p:spPr>
          <a:xfrm>
            <a:off x="4617720" y="4123944"/>
            <a:ext cx="2743200" cy="274320"/>
          </a:xfrm>
          <a:prstGeom prst="rect">
            <a:avLst/>
          </a:prstGeom>
          <a:noFill/>
          <a:ln/>
        </p:spPr>
        <p:txBody>
          <a:bodyPr wrap="square" lIns="0" tIns="0" rIns="0" bIns="0" rtlCol="0" anchor="ctr"/>
          <a:lstStyle/>
          <a:p>
            <a:pPr indent="0" marL="0">
              <a:buNone/>
            </a:pPr>
            <a:r>
              <a:rPr lang="en-US" sz="1150" b="1" spc="50" kern="0" dirty="0">
                <a:solidFill>
                  <a:srgbClr val="00D97E"/>
                </a:solidFill>
                <a:latin typeface="Consolas" pitchFamily="34" charset="0"/>
                <a:ea typeface="Consolas" pitchFamily="34" charset="-122"/>
                <a:cs typeface="Consolas" pitchFamily="34" charset="-120"/>
              </a:rPr>
              <a:t>PROVE</a:t>
            </a:r>
            <a:endParaRPr lang="en-US" sz="1150" dirty="0"/>
          </a:p>
        </p:txBody>
      </p:sp>
      <p:sp>
        <p:nvSpPr>
          <p:cNvPr id="30" name="Text 28"/>
          <p:cNvSpPr txBox="1"/>
          <p:nvPr/>
        </p:nvSpPr>
        <p:spPr>
          <a:xfrm>
            <a:off x="4617720" y="4398264"/>
            <a:ext cx="6766560" cy="384048"/>
          </a:xfrm>
          <a:prstGeom prst="rect">
            <a:avLst/>
          </a:prstGeom>
          <a:noFill/>
          <a:ln/>
        </p:spPr>
        <p:txBody>
          <a:bodyPr wrap="square" lIns="0" tIns="0" rIns="0" bIns="0" rtlCol="0" anchor="ctr"/>
          <a:lstStyle/>
          <a:p>
            <a:pPr indent="0" marL="0">
              <a:lnSpc>
                <a:spcPct val="118000"/>
              </a:lnSpc>
              <a:buNone/>
            </a:pPr>
            <a:r>
              <a:rPr lang="en-US" sz="1000" dirty="0">
                <a:solidFill>
                  <a:srgbClr val="9AA0A6"/>
                </a:solidFill>
                <a:latin typeface="Calibri" pitchFamily="34" charset="0"/>
                <a:ea typeface="Calibri" pitchFamily="34" charset="-122"/>
                <a:cs typeface="Calibri" pitchFamily="34" charset="-120"/>
              </a:rPr>
              <a:t>A formal soundness proof, grounded in this project's own real source code, not intuition.</a:t>
            </a:r>
            <a:endParaRPr lang="en-US" sz="1000" dirty="0"/>
          </a:p>
        </p:txBody>
      </p:sp>
      <p:sp>
        <p:nvSpPr>
          <p:cNvPr id="31" name="Shape 29"/>
          <p:cNvSpPr/>
          <p:nvPr/>
        </p:nvSpPr>
        <p:spPr>
          <a:xfrm>
            <a:off x="3977640" y="4727448"/>
            <a:ext cx="457200" cy="457200"/>
          </a:xfrm>
          <a:prstGeom prst="rect">
            <a:avLst/>
          </a:prstGeom>
          <a:solidFill>
            <a:srgbClr val="FF3B30"/>
          </a:solidFill>
          <a:ln/>
        </p:spPr>
      </p:sp>
      <p:sp>
        <p:nvSpPr>
          <p:cNvPr id="32" name="Text 30"/>
          <p:cNvSpPr txBox="1"/>
          <p:nvPr/>
        </p:nvSpPr>
        <p:spPr>
          <a:xfrm>
            <a:off x="3977640" y="4727448"/>
            <a:ext cx="457200" cy="457200"/>
          </a:xfrm>
          <a:prstGeom prst="rect">
            <a:avLst/>
          </a:prstGeom>
          <a:noFill/>
          <a:ln/>
        </p:spPr>
        <p:txBody>
          <a:bodyPr wrap="square" lIns="0" tIns="0" rIns="0" bIns="0" rtlCol="0" anchor="ctr"/>
          <a:lstStyle/>
          <a:p>
            <a:pPr algn="ctr" indent="0" marL="0">
              <a:buNone/>
            </a:pPr>
            <a:r>
              <a:rPr lang="en-US" sz="1500" b="1" dirty="0">
                <a:solidFill>
                  <a:srgbClr val="0A0A0C"/>
                </a:solidFill>
                <a:latin typeface="Consolas" pitchFamily="34" charset="0"/>
                <a:ea typeface="Consolas" pitchFamily="34" charset="-122"/>
                <a:cs typeface="Consolas" pitchFamily="34" charset="-120"/>
              </a:rPr>
              <a:t>5</a:t>
            </a:r>
            <a:endParaRPr lang="en-US" sz="1500" dirty="0"/>
          </a:p>
        </p:txBody>
      </p:sp>
      <p:sp>
        <p:nvSpPr>
          <p:cNvPr id="33" name="Text 31"/>
          <p:cNvSpPr txBox="1"/>
          <p:nvPr/>
        </p:nvSpPr>
        <p:spPr>
          <a:xfrm>
            <a:off x="4617720" y="4700016"/>
            <a:ext cx="2743200" cy="274320"/>
          </a:xfrm>
          <a:prstGeom prst="rect">
            <a:avLst/>
          </a:prstGeom>
          <a:noFill/>
          <a:ln/>
        </p:spPr>
        <p:txBody>
          <a:bodyPr wrap="square" lIns="0" tIns="0" rIns="0" bIns="0" rtlCol="0" anchor="ctr"/>
          <a:lstStyle/>
          <a:p>
            <a:pPr indent="0" marL="0">
              <a:buNone/>
            </a:pPr>
            <a:r>
              <a:rPr lang="en-US" sz="1150" b="1" spc="50" kern="0" dirty="0">
                <a:solidFill>
                  <a:srgbClr val="00D97E"/>
                </a:solidFill>
                <a:latin typeface="Consolas" pitchFamily="34" charset="0"/>
                <a:ea typeface="Consolas" pitchFamily="34" charset="-122"/>
                <a:cs typeface="Consolas" pitchFamily="34" charset="-120"/>
              </a:rPr>
              <a:t>PREDICT &amp; CONFIRM</a:t>
            </a:r>
            <a:endParaRPr lang="en-US" sz="1150" dirty="0"/>
          </a:p>
        </p:txBody>
      </p:sp>
      <p:sp>
        <p:nvSpPr>
          <p:cNvPr id="34" name="Text 32"/>
          <p:cNvSpPr txBox="1"/>
          <p:nvPr/>
        </p:nvSpPr>
        <p:spPr>
          <a:xfrm>
            <a:off x="4617720" y="4974336"/>
            <a:ext cx="6766560" cy="384048"/>
          </a:xfrm>
          <a:prstGeom prst="rect">
            <a:avLst/>
          </a:prstGeom>
          <a:noFill/>
          <a:ln/>
        </p:spPr>
        <p:txBody>
          <a:bodyPr wrap="square" lIns="0" tIns="0" rIns="0" bIns="0" rtlCol="0" anchor="ctr"/>
          <a:lstStyle/>
          <a:p>
            <a:pPr indent="0" marL="0">
              <a:lnSpc>
                <a:spcPct val="118000"/>
              </a:lnSpc>
              <a:buNone/>
            </a:pPr>
            <a:r>
              <a:rPr lang="en-US" sz="1000" dirty="0">
                <a:solidFill>
                  <a:srgbClr val="9AA0A6"/>
                </a:solidFill>
                <a:latin typeface="Calibri" pitchFamily="34" charset="0"/>
                <a:ea typeface="Calibri" pitchFamily="34" charset="-122"/>
                <a:cs typeface="Calibri" pitchFamily="34" charset="-120"/>
              </a:rPr>
              <a:t>The proof made a testable prediction. Re-running the live tool matched it exactly.</a:t>
            </a:r>
            <a:endParaRPr lang="en-US" sz="1000" dirty="0"/>
          </a:p>
        </p:txBody>
      </p:sp>
      <p:sp>
        <p:nvSpPr>
          <p:cNvPr id="35" name="Shape 33"/>
          <p:cNvSpPr/>
          <p:nvPr/>
        </p:nvSpPr>
        <p:spPr>
          <a:xfrm>
            <a:off x="3977640" y="5303520"/>
            <a:ext cx="457200" cy="457200"/>
          </a:xfrm>
          <a:prstGeom prst="rect">
            <a:avLst/>
          </a:prstGeom>
          <a:solidFill>
            <a:srgbClr val="FF3B30"/>
          </a:solidFill>
          <a:ln/>
        </p:spPr>
      </p:sp>
      <p:sp>
        <p:nvSpPr>
          <p:cNvPr id="36" name="Text 34"/>
          <p:cNvSpPr txBox="1"/>
          <p:nvPr/>
        </p:nvSpPr>
        <p:spPr>
          <a:xfrm>
            <a:off x="3977640" y="5303520"/>
            <a:ext cx="457200" cy="457200"/>
          </a:xfrm>
          <a:prstGeom prst="rect">
            <a:avLst/>
          </a:prstGeom>
          <a:noFill/>
          <a:ln/>
        </p:spPr>
        <p:txBody>
          <a:bodyPr wrap="square" lIns="0" tIns="0" rIns="0" bIns="0" rtlCol="0" anchor="ctr"/>
          <a:lstStyle/>
          <a:p>
            <a:pPr algn="ctr" indent="0" marL="0">
              <a:buNone/>
            </a:pPr>
            <a:r>
              <a:rPr lang="en-US" sz="1500" b="1" dirty="0">
                <a:solidFill>
                  <a:srgbClr val="0A0A0C"/>
                </a:solidFill>
                <a:latin typeface="Consolas" pitchFamily="34" charset="0"/>
                <a:ea typeface="Consolas" pitchFamily="34" charset="-122"/>
                <a:cs typeface="Consolas" pitchFamily="34" charset="-120"/>
              </a:rPr>
              <a:t>6</a:t>
            </a:r>
            <a:endParaRPr lang="en-US" sz="1500" dirty="0"/>
          </a:p>
        </p:txBody>
      </p:sp>
      <p:sp>
        <p:nvSpPr>
          <p:cNvPr id="37" name="Text 35"/>
          <p:cNvSpPr txBox="1"/>
          <p:nvPr/>
        </p:nvSpPr>
        <p:spPr>
          <a:xfrm>
            <a:off x="4617720" y="5276088"/>
            <a:ext cx="2743200" cy="274320"/>
          </a:xfrm>
          <a:prstGeom prst="rect">
            <a:avLst/>
          </a:prstGeom>
          <a:noFill/>
          <a:ln/>
        </p:spPr>
        <p:txBody>
          <a:bodyPr wrap="square" lIns="0" tIns="0" rIns="0" bIns="0" rtlCol="0" anchor="ctr"/>
          <a:lstStyle/>
          <a:p>
            <a:pPr indent="0" marL="0">
              <a:buNone/>
            </a:pPr>
            <a:r>
              <a:rPr lang="en-US" sz="1150" b="1" spc="50" kern="0" dirty="0">
                <a:solidFill>
                  <a:srgbClr val="00D97E"/>
                </a:solidFill>
                <a:latin typeface="Consolas" pitchFamily="34" charset="0"/>
                <a:ea typeface="Consolas" pitchFamily="34" charset="-122"/>
                <a:cs typeface="Consolas" pitchFamily="34" charset="-120"/>
              </a:rPr>
              <a:t>DISCLOSE LIMITS</a:t>
            </a:r>
            <a:endParaRPr lang="en-US" sz="1150" dirty="0"/>
          </a:p>
        </p:txBody>
      </p:sp>
      <p:sp>
        <p:nvSpPr>
          <p:cNvPr id="38" name="Text 36"/>
          <p:cNvSpPr txBox="1"/>
          <p:nvPr/>
        </p:nvSpPr>
        <p:spPr>
          <a:xfrm>
            <a:off x="4617720" y="5550408"/>
            <a:ext cx="6766560" cy="384048"/>
          </a:xfrm>
          <a:prstGeom prst="rect">
            <a:avLst/>
          </a:prstGeom>
          <a:noFill/>
          <a:ln/>
        </p:spPr>
        <p:txBody>
          <a:bodyPr wrap="square" lIns="0" tIns="0" rIns="0" bIns="0" rtlCol="0" anchor="ctr"/>
          <a:lstStyle/>
          <a:p>
            <a:pPr indent="0" marL="0">
              <a:lnSpc>
                <a:spcPct val="118000"/>
              </a:lnSpc>
              <a:buNone/>
            </a:pPr>
            <a:r>
              <a:rPr lang="en-US" sz="1000" dirty="0">
                <a:solidFill>
                  <a:srgbClr val="9AA0A6"/>
                </a:solidFill>
                <a:latin typeface="Calibri" pitchFamily="34" charset="0"/>
                <a:ea typeface="Calibri" pitchFamily="34" charset="-122"/>
                <a:cs typeface="Calibri" pitchFamily="34" charset="-120"/>
              </a:rPr>
              <a:t>What the method provably cannot detect is stated as precisely as what it can.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0" y="896112"/>
            <a:ext cx="12188952" cy="0"/>
          </a:xfrm>
          <a:prstGeom prst="line">
            <a:avLst/>
          </a:prstGeom>
          <a:noFill/>
          <a:ln w="12700">
            <a:solidFill>
              <a:srgbClr val="2A2A30"/>
            </a:solidFill>
            <a:prstDash val="solid"/>
          </a:ln>
        </p:spPr>
      </p:sp>
      <p:sp>
        <p:nvSpPr>
          <p:cNvPr id="3" name="Text 1"/>
          <p:cNvSpPr txBox="1"/>
          <p:nvPr/>
        </p:nvSpPr>
        <p:spPr>
          <a:xfrm>
            <a:off x="8778240" y="256032"/>
            <a:ext cx="2834640" cy="274320"/>
          </a:xfrm>
          <a:prstGeom prst="rect">
            <a:avLst/>
          </a:prstGeom>
          <a:noFill/>
          <a:ln/>
        </p:spPr>
        <p:txBody>
          <a:bodyPr wrap="square" lIns="0" tIns="0" rIns="0" bIns="0" rtlCol="0" anchor="ctr"/>
          <a:lstStyle/>
          <a:p>
            <a:pPr algn="r" indent="0" marL="0">
              <a:buNone/>
            </a:pPr>
            <a:r>
              <a:rPr lang="en-US" sz="900" spc="100" kern="0" dirty="0">
                <a:solidFill>
                  <a:srgbClr val="5C6066"/>
                </a:solidFill>
                <a:latin typeface="Consolas" pitchFamily="34" charset="0"/>
                <a:ea typeface="Consolas" pitchFamily="34" charset="-122"/>
                <a:cs typeface="Consolas" pitchFamily="34" charset="-120"/>
              </a:rPr>
              <a:t>TRUSTING_TRUST.EXE</a:t>
            </a:r>
            <a:endParaRPr lang="en-US" sz="900" dirty="0"/>
          </a:p>
        </p:txBody>
      </p:sp>
      <p:sp>
        <p:nvSpPr>
          <p:cNvPr id="4" name="Shape 2"/>
          <p:cNvSpPr/>
          <p:nvPr/>
        </p:nvSpPr>
        <p:spPr>
          <a:xfrm>
            <a:off x="0" y="6419088"/>
            <a:ext cx="12188952" cy="0"/>
          </a:xfrm>
          <a:prstGeom prst="line">
            <a:avLst/>
          </a:prstGeom>
          <a:noFill/>
          <a:ln w="12700">
            <a:solidFill>
              <a:srgbClr val="2A2A30"/>
            </a:solidFill>
            <a:prstDash val="solid"/>
          </a:ln>
        </p:spPr>
      </p:sp>
      <p:sp>
        <p:nvSpPr>
          <p:cNvPr id="5" name="Text 3"/>
          <p:cNvSpPr txBox="1"/>
          <p:nvPr/>
        </p:nvSpPr>
        <p:spPr>
          <a:xfrm>
            <a:off x="457200" y="6492240"/>
            <a:ext cx="3657600" cy="256032"/>
          </a:xfrm>
          <a:prstGeom prst="rect">
            <a:avLst/>
          </a:prstGeom>
          <a:noFill/>
          <a:ln/>
        </p:spPr>
        <p:txBody>
          <a:bodyPr wrap="square" lIns="0" tIns="0" rIns="0" bIns="0" rtlCol="0" anchor="ctr"/>
          <a:lstStyle/>
          <a:p>
            <a:pPr indent="0" marL="0">
              <a:buNone/>
            </a:pPr>
            <a:r>
              <a:rPr lang="en-US" sz="850" dirty="0">
                <a:solidFill>
                  <a:srgbClr val="5C6066"/>
                </a:solidFill>
                <a:latin typeface="Consolas" pitchFamily="34" charset="0"/>
                <a:ea typeface="Consolas" pitchFamily="34" charset="-122"/>
                <a:cs typeface="Consolas" pitchFamily="34" charset="-120"/>
              </a:rPr>
              <a:t>root@ttrevisited:~$</a:t>
            </a:r>
            <a:endParaRPr lang="en-US" sz="850" dirty="0"/>
          </a:p>
        </p:txBody>
      </p:sp>
      <p:sp>
        <p:nvSpPr>
          <p:cNvPr id="6" name="Text 4"/>
          <p:cNvSpPr txBox="1"/>
          <p:nvPr/>
        </p:nvSpPr>
        <p:spPr>
          <a:xfrm>
            <a:off x="10424160" y="6492240"/>
            <a:ext cx="1371600" cy="256032"/>
          </a:xfrm>
          <a:prstGeom prst="rect">
            <a:avLst/>
          </a:prstGeom>
          <a:noFill/>
          <a:ln/>
        </p:spPr>
        <p:txBody>
          <a:bodyPr wrap="square" lIns="0" tIns="0" rIns="0" bIns="0" rtlCol="0" anchor="ctr"/>
          <a:lstStyle/>
          <a:p>
            <a:pPr algn="r" indent="0" marL="0">
              <a:buNone/>
            </a:pPr>
            <a:r>
              <a:rPr lang="en-US" sz="900" b="1" dirty="0">
                <a:solidFill>
                  <a:srgbClr val="9AA0A6"/>
                </a:solidFill>
                <a:latin typeface="Consolas" pitchFamily="34" charset="0"/>
                <a:ea typeface="Consolas" pitchFamily="34" charset="-122"/>
                <a:cs typeface="Consolas" pitchFamily="34" charset="-120"/>
              </a:rPr>
              <a:t>[ 09 / 11 ]</a:t>
            </a:r>
            <a:endParaRPr lang="en-US" sz="900" dirty="0"/>
          </a:p>
        </p:txBody>
      </p:sp>
      <p:sp>
        <p:nvSpPr>
          <p:cNvPr id="7" name="Text 5"/>
          <p:cNvSpPr txBox="1"/>
          <p:nvPr/>
        </p:nvSpPr>
        <p:spPr>
          <a:xfrm>
            <a:off x="502920" y="1060704"/>
            <a:ext cx="10058400" cy="292608"/>
          </a:xfrm>
          <a:prstGeom prst="rect">
            <a:avLst/>
          </a:prstGeom>
          <a:noFill/>
          <a:ln/>
        </p:spPr>
        <p:txBody>
          <a:bodyPr wrap="square" lIns="0" tIns="0" rIns="0" bIns="0" rtlCol="0" anchor="ctr"/>
          <a:lstStyle/>
          <a:p>
            <a:pPr indent="0" marL="0">
              <a:buNone/>
            </a:pPr>
            <a:r>
              <a:rPr lang="en-US" sz="1250" b="1" spc="50" kern="0" dirty="0">
                <a:solidFill>
                  <a:srgbClr val="FF3B30"/>
                </a:solidFill>
                <a:latin typeface="Consolas" pitchFamily="34" charset="0"/>
                <a:ea typeface="Consolas" pitchFamily="34" charset="-122"/>
                <a:cs typeface="Consolas" pitchFamily="34" charset="-120"/>
              </a:rPr>
              <a:t>&gt;_ </a:t>
            </a:r>
            <a:pPr indent="0" marL="0">
              <a:buNone/>
            </a:pPr>
            <a:r>
              <a:rPr lang="en-US" sz="1250" b="1" spc="50" kern="0" dirty="0">
                <a:solidFill>
                  <a:srgbClr val="9AA0A6"/>
                </a:solidFill>
                <a:latin typeface="Consolas" pitchFamily="34" charset="0"/>
                <a:ea typeface="Consolas" pitchFamily="34" charset="-122"/>
                <a:cs typeface="Consolas" pitchFamily="34" charset="-120"/>
              </a:rPr>
              <a:t>09 // NOVELTY // II OF II - THE RECEIPTS</a:t>
            </a:r>
            <a:endParaRPr lang="en-US" sz="1250" dirty="0"/>
          </a:p>
        </p:txBody>
      </p:sp>
      <p:sp>
        <p:nvSpPr>
          <p:cNvPr id="8" name="Text 6"/>
          <p:cNvSpPr txBox="1"/>
          <p:nvPr/>
        </p:nvSpPr>
        <p:spPr>
          <a:xfrm>
            <a:off x="502920" y="1408176"/>
            <a:ext cx="11155680" cy="868680"/>
          </a:xfrm>
          <a:prstGeom prst="rect">
            <a:avLst/>
          </a:prstGeom>
          <a:noFill/>
          <a:ln/>
        </p:spPr>
        <p:txBody>
          <a:bodyPr wrap="square" lIns="0" tIns="0" rIns="0" bIns="0" rtlCol="0" anchor="t"/>
          <a:lstStyle/>
          <a:p>
            <a:pPr indent="0" marL="0">
              <a:lnSpc>
                <a:spcPct val="102000"/>
              </a:lnSpc>
              <a:buNone/>
            </a:pPr>
            <a:r>
              <a:rPr lang="en-US" sz="2600" b="1" dirty="0">
                <a:solidFill>
                  <a:srgbClr val="F5F5F2"/>
                </a:solidFill>
                <a:latin typeface="Calibri" pitchFamily="34" charset="0"/>
                <a:ea typeface="Calibri" pitchFamily="34" charset="-122"/>
                <a:cs typeface="Calibri" pitchFamily="34" charset="-120"/>
              </a:rPr>
              <a:t>What we actually built,</a:t>
            </a:r>
            <a:endParaRPr lang="en-US" sz="2600" dirty="0"/>
          </a:p>
          <a:p>
            <a:pPr indent="0" marL="0">
              <a:lnSpc>
                <a:spcPct val="102000"/>
              </a:lnSpc>
              <a:buNone/>
            </a:pPr>
            <a:r>
              <a:rPr lang="en-US" sz="2600" b="1" dirty="0">
                <a:solidFill>
                  <a:srgbClr val="F5F5F2"/>
                </a:solidFill>
                <a:latin typeface="Calibri" pitchFamily="34" charset="0"/>
                <a:ea typeface="Calibri" pitchFamily="34" charset="-122"/>
                <a:cs typeface="Calibri" pitchFamily="34" charset="-120"/>
              </a:rPr>
              <a:t>and how it's defended</a:t>
            </a:r>
            <a:endParaRPr lang="en-US" sz="2600" dirty="0"/>
          </a:p>
        </p:txBody>
      </p:sp>
      <p:sp>
        <p:nvSpPr>
          <p:cNvPr id="9" name="Shape 7"/>
          <p:cNvSpPr/>
          <p:nvPr/>
        </p:nvSpPr>
        <p:spPr>
          <a:xfrm>
            <a:off x="502920" y="2441448"/>
            <a:ext cx="54864" cy="777240"/>
          </a:xfrm>
          <a:prstGeom prst="rect">
            <a:avLst/>
          </a:prstGeom>
          <a:solidFill>
            <a:srgbClr val="FF3B30"/>
          </a:solidFill>
          <a:ln/>
        </p:spPr>
      </p:sp>
      <p:sp>
        <p:nvSpPr>
          <p:cNvPr id="10" name="Text 8"/>
          <p:cNvSpPr txBox="1"/>
          <p:nvPr/>
        </p:nvSpPr>
        <p:spPr>
          <a:xfrm>
            <a:off x="685800" y="2423160"/>
            <a:ext cx="5669280" cy="274320"/>
          </a:xfrm>
          <a:prstGeom prst="rect">
            <a:avLst/>
          </a:prstGeom>
          <a:noFill/>
          <a:ln/>
        </p:spPr>
        <p:txBody>
          <a:bodyPr wrap="square" lIns="0" tIns="0" rIns="0" bIns="0" rtlCol="0" anchor="ctr"/>
          <a:lstStyle/>
          <a:p>
            <a:pPr indent="0" marL="0">
              <a:buNone/>
            </a:pPr>
            <a:r>
              <a:rPr lang="en-US" sz="1250" b="1" dirty="0">
                <a:solidFill>
                  <a:srgbClr val="F5F5F2"/>
                </a:solidFill>
                <a:latin typeface="Calibri" pitchFamily="34" charset="0"/>
                <a:ea typeface="Calibri" pitchFamily="34" charset="-122"/>
                <a:cs typeface="Calibri" pitchFamily="34" charset="-120"/>
              </a:rPr>
              <a:t>The synthesis</a:t>
            </a:r>
            <a:endParaRPr lang="en-US" sz="1250" dirty="0"/>
          </a:p>
        </p:txBody>
      </p:sp>
      <p:sp>
        <p:nvSpPr>
          <p:cNvPr id="11" name="Text 9"/>
          <p:cNvSpPr txBox="1"/>
          <p:nvPr/>
        </p:nvSpPr>
        <p:spPr>
          <a:xfrm>
            <a:off x="685800" y="2697480"/>
            <a:ext cx="5669280" cy="713232"/>
          </a:xfrm>
          <a:prstGeom prst="rect">
            <a:avLst/>
          </a:prstGeom>
          <a:noFill/>
          <a:ln/>
        </p:spPr>
        <p:txBody>
          <a:bodyPr wrap="square" lIns="0" tIns="0" rIns="0" bIns="0" rtlCol="0" anchor="ctr"/>
          <a:lstStyle/>
          <a:p>
            <a:pPr indent="0" marL="0">
              <a:lnSpc>
                <a:spcPct val="124000"/>
              </a:lnSpc>
              <a:buNone/>
            </a:pPr>
            <a:r>
              <a:rPr lang="en-US" sz="960" dirty="0">
                <a:solidFill>
                  <a:srgbClr val="9AA0A6"/>
                </a:solidFill>
                <a:latin typeface="Calibri" pitchFamily="34" charset="0"/>
                <a:ea typeface="Calibri" pitchFamily="34" charset="-122"/>
                <a:cs typeface="Calibri" pitchFamily="34" charset="-120"/>
              </a:rPr>
              <a:t>Two Metamorphic Relations, built from TinyLang's own grammar: MR1 (comment insertion is provably AST-null) and MR2 (an unrelated decoy must not change a sibling function's output). Neither needs a trusted reference compiler.</a:t>
            </a:r>
            <a:endParaRPr lang="en-US" sz="960" dirty="0"/>
          </a:p>
        </p:txBody>
      </p:sp>
      <p:sp>
        <p:nvSpPr>
          <p:cNvPr id="12" name="Shape 10"/>
          <p:cNvSpPr/>
          <p:nvPr/>
        </p:nvSpPr>
        <p:spPr>
          <a:xfrm>
            <a:off x="502920" y="3429000"/>
            <a:ext cx="54864" cy="777240"/>
          </a:xfrm>
          <a:prstGeom prst="rect">
            <a:avLst/>
          </a:prstGeom>
          <a:solidFill>
            <a:srgbClr val="FF3B30"/>
          </a:solidFill>
          <a:ln/>
        </p:spPr>
      </p:sp>
      <p:sp>
        <p:nvSpPr>
          <p:cNvPr id="13" name="Text 11"/>
          <p:cNvSpPr txBox="1"/>
          <p:nvPr/>
        </p:nvSpPr>
        <p:spPr>
          <a:xfrm>
            <a:off x="685800" y="3410712"/>
            <a:ext cx="5669280" cy="274320"/>
          </a:xfrm>
          <a:prstGeom prst="rect">
            <a:avLst/>
          </a:prstGeom>
          <a:noFill/>
          <a:ln/>
        </p:spPr>
        <p:txBody>
          <a:bodyPr wrap="square" lIns="0" tIns="0" rIns="0" bIns="0" rtlCol="0" anchor="ctr"/>
          <a:lstStyle/>
          <a:p>
            <a:pPr indent="0" marL="0">
              <a:buNone/>
            </a:pPr>
            <a:r>
              <a:rPr lang="en-US" sz="1250" b="1" dirty="0">
                <a:solidFill>
                  <a:srgbClr val="F5F5F2"/>
                </a:solidFill>
                <a:latin typeface="Calibri" pitchFamily="34" charset="0"/>
                <a:ea typeface="Calibri" pitchFamily="34" charset="-122"/>
                <a:cs typeface="Calibri" pitchFamily="34" charset="-120"/>
              </a:rPr>
              <a:t>The proof</a:t>
            </a:r>
            <a:endParaRPr lang="en-US" sz="1250" dirty="0"/>
          </a:p>
        </p:txBody>
      </p:sp>
      <p:sp>
        <p:nvSpPr>
          <p:cNvPr id="14" name="Text 12"/>
          <p:cNvSpPr txBox="1"/>
          <p:nvPr/>
        </p:nvSpPr>
        <p:spPr>
          <a:xfrm>
            <a:off x="685800" y="3685032"/>
            <a:ext cx="5669280" cy="713232"/>
          </a:xfrm>
          <a:prstGeom prst="rect">
            <a:avLst/>
          </a:prstGeom>
          <a:noFill/>
          <a:ln/>
        </p:spPr>
        <p:txBody>
          <a:bodyPr wrap="square" lIns="0" tIns="0" rIns="0" bIns="0" rtlCol="0" anchor="ctr"/>
          <a:lstStyle/>
          <a:p>
            <a:pPr indent="0" marL="0">
              <a:lnSpc>
                <a:spcPct val="124000"/>
              </a:lnSpc>
              <a:buNone/>
            </a:pPr>
            <a:r>
              <a:rPr lang="en-US" sz="960" dirty="0">
                <a:solidFill>
                  <a:srgbClr val="9AA0A6"/>
                </a:solidFill>
                <a:latin typeface="Calibri" pitchFamily="34" charset="0"/>
                <a:ea typeface="Calibri" pitchFamily="34" charset="-122"/>
                <a:cs typeface="Calibri" pitchFamily="34" charset="-120"/>
              </a:rPr>
              <a:t>Theorem: if compiler C is AST-faithful and T is grammar-null, C(T(S)) = C(S). Contrapositive: a violation PROVES C consults something outside the AST. Grounded directly in this project's own lexer.cpp and codegen.cpp.</a:t>
            </a:r>
            <a:endParaRPr lang="en-US" sz="960" dirty="0"/>
          </a:p>
        </p:txBody>
      </p:sp>
      <p:sp>
        <p:nvSpPr>
          <p:cNvPr id="15" name="Shape 13"/>
          <p:cNvSpPr/>
          <p:nvPr/>
        </p:nvSpPr>
        <p:spPr>
          <a:xfrm>
            <a:off x="502920" y="4416552"/>
            <a:ext cx="54864" cy="777240"/>
          </a:xfrm>
          <a:prstGeom prst="rect">
            <a:avLst/>
          </a:prstGeom>
          <a:solidFill>
            <a:srgbClr val="FF3B30"/>
          </a:solidFill>
          <a:ln/>
        </p:spPr>
      </p:sp>
      <p:sp>
        <p:nvSpPr>
          <p:cNvPr id="16" name="Text 14"/>
          <p:cNvSpPr txBox="1"/>
          <p:nvPr/>
        </p:nvSpPr>
        <p:spPr>
          <a:xfrm>
            <a:off x="685800" y="4398264"/>
            <a:ext cx="5669280" cy="274320"/>
          </a:xfrm>
          <a:prstGeom prst="rect">
            <a:avLst/>
          </a:prstGeom>
          <a:noFill/>
          <a:ln/>
        </p:spPr>
        <p:txBody>
          <a:bodyPr wrap="square" lIns="0" tIns="0" rIns="0" bIns="0" rtlCol="0" anchor="ctr"/>
          <a:lstStyle/>
          <a:p>
            <a:pPr indent="0" marL="0">
              <a:buNone/>
            </a:pPr>
            <a:r>
              <a:rPr lang="en-US" sz="1250" b="1" dirty="0">
                <a:solidFill>
                  <a:srgbClr val="F5F5F2"/>
                </a:solidFill>
                <a:latin typeface="Calibri" pitchFamily="34" charset="0"/>
                <a:ea typeface="Calibri" pitchFamily="34" charset="-122"/>
                <a:cs typeface="Calibri" pitchFamily="34" charset="-120"/>
              </a:rPr>
              <a:t>The classification</a:t>
            </a:r>
            <a:endParaRPr lang="en-US" sz="1250" dirty="0"/>
          </a:p>
        </p:txBody>
      </p:sp>
      <p:sp>
        <p:nvSpPr>
          <p:cNvPr id="17" name="Text 15"/>
          <p:cNvSpPr txBox="1"/>
          <p:nvPr/>
        </p:nvSpPr>
        <p:spPr>
          <a:xfrm>
            <a:off x="685800" y="4672584"/>
            <a:ext cx="5669280" cy="713232"/>
          </a:xfrm>
          <a:prstGeom prst="rect">
            <a:avLst/>
          </a:prstGeom>
          <a:noFill/>
          <a:ln/>
        </p:spPr>
        <p:txBody>
          <a:bodyPr wrap="square" lIns="0" tIns="0" rIns="0" bIns="0" rtlCol="0" anchor="ctr"/>
          <a:lstStyle/>
          <a:p>
            <a:pPr indent="0" marL="0">
              <a:lnSpc>
                <a:spcPct val="124000"/>
              </a:lnSpc>
              <a:buNone/>
            </a:pPr>
            <a:r>
              <a:rPr lang="en-US" sz="960" dirty="0">
                <a:solidFill>
                  <a:srgbClr val="9AA0A6"/>
                </a:solidFill>
                <a:latin typeface="Calibri" pitchFamily="34" charset="0"/>
                <a:ea typeface="Calibri" pitchFamily="34" charset="-122"/>
                <a:cs typeface="Calibri" pitchFamily="34" charset="-120"/>
              </a:rPr>
              <a:t>The proof splits backdoors into two provably distinct classes - Class A (AST-external, MR-detectable) and Class B (AST-internal but illegitimate, MR-blind). This is WHY an ensemble is structurally required, not just useful.</a:t>
            </a:r>
            <a:endParaRPr lang="en-US" sz="960" dirty="0"/>
          </a:p>
        </p:txBody>
      </p:sp>
      <p:sp>
        <p:nvSpPr>
          <p:cNvPr id="18" name="Shape 16"/>
          <p:cNvSpPr/>
          <p:nvPr/>
        </p:nvSpPr>
        <p:spPr>
          <a:xfrm>
            <a:off x="502920" y="5404104"/>
            <a:ext cx="54864" cy="777240"/>
          </a:xfrm>
          <a:prstGeom prst="rect">
            <a:avLst/>
          </a:prstGeom>
          <a:solidFill>
            <a:srgbClr val="FF3B30"/>
          </a:solidFill>
          <a:ln/>
        </p:spPr>
      </p:sp>
      <p:sp>
        <p:nvSpPr>
          <p:cNvPr id="19" name="Text 17"/>
          <p:cNvSpPr txBox="1"/>
          <p:nvPr/>
        </p:nvSpPr>
        <p:spPr>
          <a:xfrm>
            <a:off x="685800" y="5385816"/>
            <a:ext cx="5669280" cy="274320"/>
          </a:xfrm>
          <a:prstGeom prst="rect">
            <a:avLst/>
          </a:prstGeom>
          <a:noFill/>
          <a:ln/>
        </p:spPr>
        <p:txBody>
          <a:bodyPr wrap="square" lIns="0" tIns="0" rIns="0" bIns="0" rtlCol="0" anchor="ctr"/>
          <a:lstStyle/>
          <a:p>
            <a:pPr indent="0" marL="0">
              <a:buNone/>
            </a:pPr>
            <a:r>
              <a:rPr lang="en-US" sz="1250" b="1" dirty="0">
                <a:solidFill>
                  <a:srgbClr val="F5F5F2"/>
                </a:solidFill>
                <a:latin typeface="Calibri" pitchFamily="34" charset="0"/>
                <a:ea typeface="Calibri" pitchFamily="34" charset="-122"/>
                <a:cs typeface="Calibri" pitchFamily="34" charset="-120"/>
              </a:rPr>
              <a:t>The receipts</a:t>
            </a:r>
            <a:endParaRPr lang="en-US" sz="1250" dirty="0"/>
          </a:p>
        </p:txBody>
      </p:sp>
      <p:sp>
        <p:nvSpPr>
          <p:cNvPr id="20" name="Text 18"/>
          <p:cNvSpPr txBox="1"/>
          <p:nvPr/>
        </p:nvSpPr>
        <p:spPr>
          <a:xfrm>
            <a:off x="685800" y="5660136"/>
            <a:ext cx="5669280" cy="713232"/>
          </a:xfrm>
          <a:prstGeom prst="rect">
            <a:avLst/>
          </a:prstGeom>
          <a:noFill/>
          <a:ln/>
        </p:spPr>
        <p:txBody>
          <a:bodyPr wrap="square" lIns="0" tIns="0" rIns="0" bIns="0" rtlCol="0" anchor="ctr"/>
          <a:lstStyle/>
          <a:p>
            <a:pPr indent="0" marL="0">
              <a:lnSpc>
                <a:spcPct val="124000"/>
              </a:lnSpc>
              <a:buNone/>
            </a:pPr>
            <a:r>
              <a:rPr lang="en-US" sz="960" dirty="0">
                <a:solidFill>
                  <a:srgbClr val="9AA0A6"/>
                </a:solidFill>
                <a:latin typeface="Calibri" pitchFamily="34" charset="0"/>
                <a:ea typeface="Calibri" pitchFamily="34" charset="-122"/>
                <a:cs typeface="Calibri" pitchFamily="34" charset="-120"/>
              </a:rPr>
              <a:t>The classification's prediction was tested live: the metamorphic detector fired on the evasive compiler (Class A) and stayed silent on the plain/obfuscated ones (Class B) - exactly as the proof said it must.</a:t>
            </a:r>
            <a:endParaRPr lang="en-US" sz="960" dirty="0"/>
          </a:p>
        </p:txBody>
      </p:sp>
      <p:sp>
        <p:nvSpPr>
          <p:cNvPr id="21" name="Shape 19"/>
          <p:cNvSpPr/>
          <p:nvPr/>
        </p:nvSpPr>
        <p:spPr>
          <a:xfrm>
            <a:off x="6537960" y="2423160"/>
            <a:ext cx="5120640" cy="2331720"/>
          </a:xfrm>
          <a:prstGeom prst="rect">
            <a:avLst/>
          </a:prstGeom>
          <a:solidFill>
            <a:srgbClr val="000000"/>
          </a:solidFill>
          <a:ln w="12700">
            <a:solidFill>
              <a:srgbClr val="2A2A30"/>
            </a:solidFill>
            <a:prstDash val="solid"/>
          </a:ln>
        </p:spPr>
      </p:sp>
      <p:sp>
        <p:nvSpPr>
          <p:cNvPr id="22" name="Shape 20"/>
          <p:cNvSpPr/>
          <p:nvPr/>
        </p:nvSpPr>
        <p:spPr>
          <a:xfrm>
            <a:off x="6537960" y="2423160"/>
            <a:ext cx="5120640" cy="292608"/>
          </a:xfrm>
          <a:prstGeom prst="rect">
            <a:avLst/>
          </a:prstGeom>
          <a:solidFill>
            <a:srgbClr val="17171B"/>
          </a:solidFill>
          <a:ln/>
        </p:spPr>
      </p:sp>
      <p:sp>
        <p:nvSpPr>
          <p:cNvPr id="23" name="Shape 21"/>
          <p:cNvSpPr/>
          <p:nvPr/>
        </p:nvSpPr>
        <p:spPr>
          <a:xfrm>
            <a:off x="6665976" y="2523744"/>
            <a:ext cx="91440" cy="91440"/>
          </a:xfrm>
          <a:prstGeom prst="ellipse">
            <a:avLst/>
          </a:prstGeom>
          <a:solidFill>
            <a:srgbClr val="FF3B30"/>
          </a:solidFill>
          <a:ln/>
        </p:spPr>
      </p:sp>
      <p:sp>
        <p:nvSpPr>
          <p:cNvPr id="24" name="Shape 22"/>
          <p:cNvSpPr/>
          <p:nvPr/>
        </p:nvSpPr>
        <p:spPr>
          <a:xfrm>
            <a:off x="6848856" y="2523744"/>
            <a:ext cx="91440" cy="91440"/>
          </a:xfrm>
          <a:prstGeom prst="ellipse">
            <a:avLst/>
          </a:prstGeom>
          <a:solidFill>
            <a:srgbClr val="FFB020"/>
          </a:solidFill>
          <a:ln/>
        </p:spPr>
      </p:sp>
      <p:sp>
        <p:nvSpPr>
          <p:cNvPr id="25" name="Shape 23"/>
          <p:cNvSpPr/>
          <p:nvPr/>
        </p:nvSpPr>
        <p:spPr>
          <a:xfrm>
            <a:off x="7031736" y="2523744"/>
            <a:ext cx="91440" cy="91440"/>
          </a:xfrm>
          <a:prstGeom prst="ellipse">
            <a:avLst/>
          </a:prstGeom>
          <a:solidFill>
            <a:srgbClr val="00D97E"/>
          </a:solidFill>
          <a:ln/>
        </p:spPr>
      </p:sp>
      <p:sp>
        <p:nvSpPr>
          <p:cNvPr id="26" name="Text 24"/>
          <p:cNvSpPr txBox="1"/>
          <p:nvPr/>
        </p:nvSpPr>
        <p:spPr>
          <a:xfrm>
            <a:off x="7360920" y="2450592"/>
            <a:ext cx="4114800" cy="237744"/>
          </a:xfrm>
          <a:prstGeom prst="rect">
            <a:avLst/>
          </a:prstGeom>
          <a:noFill/>
          <a:ln/>
        </p:spPr>
        <p:txBody>
          <a:bodyPr wrap="square" lIns="0" tIns="0" rIns="0" bIns="0" rtlCol="0" anchor="ctr"/>
          <a:lstStyle/>
          <a:p>
            <a:pPr indent="0" marL="0">
              <a:buNone/>
            </a:pPr>
            <a:r>
              <a:rPr lang="en-US" sz="850" dirty="0">
                <a:solidFill>
                  <a:srgbClr val="5C6066"/>
                </a:solidFill>
                <a:latin typeface="Consolas" pitchFamily="34" charset="0"/>
                <a:ea typeface="Consolas" pitchFamily="34" charset="-122"/>
                <a:cs typeface="Consolas" pitchFamily="34" charset="-120"/>
              </a:rPr>
              <a:t>shell - theory vs practice (actual output)</a:t>
            </a:r>
            <a:endParaRPr lang="en-US" sz="850" dirty="0"/>
          </a:p>
        </p:txBody>
      </p:sp>
      <p:sp>
        <p:nvSpPr>
          <p:cNvPr id="27" name="Text 25"/>
          <p:cNvSpPr txBox="1"/>
          <p:nvPr/>
        </p:nvSpPr>
        <p:spPr>
          <a:xfrm>
            <a:off x="6757416" y="2825496"/>
            <a:ext cx="4681728" cy="1783080"/>
          </a:xfrm>
          <a:prstGeom prst="rect">
            <a:avLst/>
          </a:prstGeom>
          <a:noFill/>
          <a:ln/>
        </p:spPr>
        <p:txBody>
          <a:bodyPr wrap="square" lIns="0" tIns="0" rIns="0" bIns="0" rtlCol="0" anchor="t"/>
          <a:lstStyle/>
          <a:p>
            <a:pPr indent="0" marL="0">
              <a:lnSpc>
                <a:spcPct val="128000"/>
              </a:lnSpc>
              <a:buNone/>
            </a:pPr>
            <a:r>
              <a:rPr lang="en-US" sz="1030" dirty="0">
                <a:solidFill>
                  <a:srgbClr val="5C6066"/>
                </a:solidFill>
                <a:latin typeface="Consolas" pitchFamily="34" charset="0"/>
                <a:ea typeface="Consolas" pitchFamily="34" charset="-122"/>
                <a:cs typeface="Consolas" pitchFamily="34" charset="-120"/>
              </a:rPr>
              <a:t>$ # Class B target (name-keyed only)</a:t>
            </a:r>
            <a:endParaRPr lang="en-US" sz="1030" dirty="0"/>
          </a:p>
          <a:p>
            <a:pPr indent="0" marL="0">
              <a:lnSpc>
                <a:spcPct val="128000"/>
              </a:lnSpc>
              <a:buNone/>
            </a:pPr>
            <a:r>
              <a:rPr lang="en-US" sz="1030" dirty="0">
                <a:solidFill>
                  <a:srgbClr val="00D97E"/>
                </a:solidFill>
                <a:latin typeface="Consolas" pitchFamily="34" charset="0"/>
                <a:ea typeface="Consolas" pitchFamily="34" charset="-122"/>
                <a:cs typeface="Consolas" pitchFamily="34" charset="-120"/>
              </a:rPr>
              <a:t>$ metamorphic_tester plain_tlc</a:t>
            </a:r>
            <a:endParaRPr lang="en-US" sz="1030" dirty="0"/>
          </a:p>
          <a:p>
            <a:pPr indent="0" marL="0">
              <a:lnSpc>
                <a:spcPct val="128000"/>
              </a:lnSpc>
              <a:buNone/>
            </a:pPr>
            <a:r>
              <a:rPr lang="en-US" sz="1030" dirty="0">
                <a:solidFill>
                  <a:srgbClr val="00D97E"/>
                </a:solidFill>
                <a:latin typeface="Consolas" pitchFamily="34" charset="0"/>
                <a:ea typeface="Consolas" pitchFamily="34" charset="-122"/>
                <a:cs typeface="Consolas" pitchFamily="34" charset="-120"/>
              </a:rPr>
              <a:t>[SELF-CONSISTENT] no MR violated.</a:t>
            </a:r>
            <a:endParaRPr lang="en-US" sz="1030" dirty="0"/>
          </a:p>
          <a:p>
            <a:pPr indent="0" marL="0">
              <a:lnSpc>
                <a:spcPct val="128000"/>
              </a:lnSpc>
              <a:buNone/>
            </a:pPr>
            <a:r>
              <a:rPr lang="en-US" sz="1030" dirty="0">
                <a:solidFill>
                  <a:srgbClr val="5C6066"/>
                </a:solidFill>
                <a:latin typeface="Consolas" pitchFamily="34" charset="0"/>
                <a:ea typeface="Consolas" pitchFamily="34" charset="-122"/>
                <a:cs typeface="Consolas" pitchFamily="34" charset="-120"/>
              </a:rPr>
              <a:t># proof predicted this: MR-blind.</a:t>
            </a:r>
            <a:endParaRPr lang="en-US" sz="1030" dirty="0"/>
          </a:p>
          <a:p>
            <a:pPr indent="0" marL="0">
              <a:lnSpc>
                <a:spcPct val="128000"/>
              </a:lnSpc>
              <a:buNone/>
            </a:pPr>
            <a:endParaRPr lang="en-US" sz="1030" dirty="0"/>
          </a:p>
          <a:p>
            <a:pPr indent="0" marL="0">
              <a:lnSpc>
                <a:spcPct val="128000"/>
              </a:lnSpc>
              <a:buNone/>
            </a:pPr>
            <a:r>
              <a:rPr lang="en-US" sz="1030" dirty="0">
                <a:solidFill>
                  <a:srgbClr val="5C6066"/>
                </a:solidFill>
                <a:latin typeface="Consolas" pitchFamily="34" charset="0"/>
                <a:ea typeface="Consolas" pitchFamily="34" charset="-122"/>
                <a:cs typeface="Consolas" pitchFamily="34" charset="-120"/>
              </a:rPr>
              <a:t>$ # Class A target (fixture-keyed)</a:t>
            </a:r>
            <a:endParaRPr lang="en-US" sz="1030" dirty="0"/>
          </a:p>
          <a:p>
            <a:pPr indent="0" marL="0">
              <a:lnSpc>
                <a:spcPct val="128000"/>
              </a:lnSpc>
              <a:buNone/>
            </a:pPr>
            <a:r>
              <a:rPr lang="en-US" sz="1030" dirty="0">
                <a:solidFill>
                  <a:srgbClr val="00D97E"/>
                </a:solidFill>
                <a:latin typeface="Consolas" pitchFamily="34" charset="0"/>
                <a:ea typeface="Consolas" pitchFamily="34" charset="-122"/>
                <a:cs typeface="Consolas" pitchFamily="34" charset="-120"/>
              </a:rPr>
              <a:t>$ metamorphic_tester evasive_tlc</a:t>
            </a:r>
            <a:endParaRPr lang="en-US" sz="1030" dirty="0"/>
          </a:p>
          <a:p>
            <a:pPr indent="0" marL="0">
              <a:lnSpc>
                <a:spcPct val="128000"/>
              </a:lnSpc>
              <a:buNone/>
            </a:pPr>
            <a:r>
              <a:rPr lang="en-US" sz="1030" dirty="0">
                <a:solidFill>
                  <a:srgbClr val="FF3B30"/>
                </a:solidFill>
                <a:latin typeface="Consolas" pitchFamily="34" charset="0"/>
                <a:ea typeface="Consolas" pitchFamily="34" charset="-122"/>
                <a:cs typeface="Consolas" pitchFamily="34" charset="-120"/>
              </a:rPr>
              <a:t>[VIOLATION] MR1 failed. MR2 failed.</a:t>
            </a:r>
            <a:endParaRPr lang="en-US" sz="1030" dirty="0"/>
          </a:p>
          <a:p>
            <a:pPr indent="0" marL="0">
              <a:lnSpc>
                <a:spcPct val="128000"/>
              </a:lnSpc>
              <a:buNone/>
            </a:pPr>
            <a:r>
              <a:rPr lang="en-US" sz="1030" dirty="0">
                <a:solidFill>
                  <a:srgbClr val="5C6066"/>
                </a:solidFill>
                <a:latin typeface="Consolas" pitchFamily="34" charset="0"/>
                <a:ea typeface="Consolas" pitchFamily="34" charset="-122"/>
                <a:cs typeface="Consolas" pitchFamily="34" charset="-120"/>
              </a:rPr>
              <a:t># proof predicted this too. Confirmed.</a:t>
            </a:r>
            <a:endParaRPr lang="en-US" sz="1030" dirty="0"/>
          </a:p>
        </p:txBody>
      </p:sp>
      <p:sp>
        <p:nvSpPr>
          <p:cNvPr id="28" name="Shape 26"/>
          <p:cNvSpPr/>
          <p:nvPr/>
        </p:nvSpPr>
        <p:spPr>
          <a:xfrm rot="-480000">
            <a:off x="6949440" y="5029200"/>
            <a:ext cx="2468880" cy="566928"/>
          </a:xfrm>
          <a:prstGeom prst="rect">
            <a:avLst/>
          </a:prstGeom>
          <a:ln w="28575">
            <a:solidFill>
              <a:srgbClr val="00D97E"/>
            </a:solidFill>
            <a:prstDash val="solid"/>
          </a:ln>
        </p:spPr>
      </p:sp>
      <p:sp>
        <p:nvSpPr>
          <p:cNvPr id="29" name="Text 27"/>
          <p:cNvSpPr txBox="1"/>
          <p:nvPr/>
        </p:nvSpPr>
        <p:spPr>
          <a:xfrm rot="-480000">
            <a:off x="6812280" y="5074920"/>
            <a:ext cx="2743200" cy="457200"/>
          </a:xfrm>
          <a:prstGeom prst="rect">
            <a:avLst/>
          </a:prstGeom>
          <a:noFill/>
          <a:ln/>
        </p:spPr>
        <p:txBody>
          <a:bodyPr wrap="square" lIns="0" tIns="0" rIns="0" bIns="0" rtlCol="0" anchor="ctr"/>
          <a:lstStyle/>
          <a:p>
            <a:pPr algn="ctr" indent="0" marL="0">
              <a:buNone/>
            </a:pPr>
            <a:r>
              <a:rPr lang="en-US" sz="1300" b="1" spc="100" kern="0" dirty="0">
                <a:solidFill>
                  <a:srgbClr val="00D97E"/>
                </a:solidFill>
                <a:latin typeface="Consolas" pitchFamily="34" charset="0"/>
                <a:ea typeface="Consolas" pitchFamily="34" charset="-122"/>
                <a:cs typeface="Consolas" pitchFamily="34" charset="-120"/>
              </a:rPr>
              <a:t>PREDICTION</a:t>
            </a:r>
            <a:endParaRPr lang="en-US" sz="1300" dirty="0"/>
          </a:p>
          <a:p>
            <a:pPr algn="ctr" indent="0" marL="0">
              <a:buNone/>
            </a:pPr>
            <a:r>
              <a:rPr lang="en-US" sz="1300" b="1" spc="100" kern="0" dirty="0">
                <a:solidFill>
                  <a:srgbClr val="00D97E"/>
                </a:solidFill>
                <a:latin typeface="Consolas" pitchFamily="34" charset="0"/>
                <a:ea typeface="Consolas" pitchFamily="34" charset="-122"/>
                <a:cs typeface="Consolas" pitchFamily="34" charset="-120"/>
              </a:rPr>
              <a:t>CONFIRMED</a:t>
            </a:r>
            <a:endParaRPr lang="en-US" sz="1300" dirty="0"/>
          </a:p>
        </p:txBody>
      </p:sp>
      <p:sp>
        <p:nvSpPr>
          <p:cNvPr id="30" name="Text 28"/>
          <p:cNvSpPr txBox="1"/>
          <p:nvPr/>
        </p:nvSpPr>
        <p:spPr>
          <a:xfrm>
            <a:off x="9509760" y="5074920"/>
            <a:ext cx="2194560" cy="1097280"/>
          </a:xfrm>
          <a:prstGeom prst="rect">
            <a:avLst/>
          </a:prstGeom>
          <a:noFill/>
          <a:ln/>
        </p:spPr>
        <p:txBody>
          <a:bodyPr wrap="square" lIns="0" tIns="0" rIns="0" bIns="0" rtlCol="0" anchor="ctr"/>
          <a:lstStyle/>
          <a:p>
            <a:pPr indent="0" marL="0">
              <a:lnSpc>
                <a:spcPct val="125000"/>
              </a:lnSpc>
              <a:buNone/>
            </a:pPr>
            <a:r>
              <a:rPr lang="en-US" sz="880" i="1" dirty="0">
                <a:solidFill>
                  <a:srgbClr val="9AA0A6"/>
                </a:solidFill>
                <a:latin typeface="Calibri" pitchFamily="34" charset="0"/>
                <a:ea typeface="Calibri" pitchFamily="34" charset="-122"/>
                <a:cs typeface="Calibri" pitchFamily="34" charset="-120"/>
              </a:rPr>
              <a:t>Two genuine implementation bugs were found and fixed while building this - documented in the written report as evidence the results are real, not staged.</a:t>
            </a:r>
            <a:endParaRPr lang="en-US" sz="8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0" y="896112"/>
            <a:ext cx="12188952" cy="0"/>
          </a:xfrm>
          <a:prstGeom prst="line">
            <a:avLst/>
          </a:prstGeom>
          <a:noFill/>
          <a:ln w="12700">
            <a:solidFill>
              <a:srgbClr val="2A2A30"/>
            </a:solidFill>
            <a:prstDash val="solid"/>
          </a:ln>
        </p:spPr>
      </p:sp>
      <p:sp>
        <p:nvSpPr>
          <p:cNvPr id="3" name="Text 1"/>
          <p:cNvSpPr txBox="1"/>
          <p:nvPr/>
        </p:nvSpPr>
        <p:spPr>
          <a:xfrm>
            <a:off x="8778240" y="256032"/>
            <a:ext cx="2834640" cy="274320"/>
          </a:xfrm>
          <a:prstGeom prst="rect">
            <a:avLst/>
          </a:prstGeom>
          <a:noFill/>
          <a:ln/>
        </p:spPr>
        <p:txBody>
          <a:bodyPr wrap="square" lIns="0" tIns="0" rIns="0" bIns="0" rtlCol="0" anchor="ctr"/>
          <a:lstStyle/>
          <a:p>
            <a:pPr algn="r" indent="0" marL="0">
              <a:buNone/>
            </a:pPr>
            <a:r>
              <a:rPr lang="en-US" sz="900" spc="100" kern="0" dirty="0">
                <a:solidFill>
                  <a:srgbClr val="5C6066"/>
                </a:solidFill>
                <a:latin typeface="Consolas" pitchFamily="34" charset="0"/>
                <a:ea typeface="Consolas" pitchFamily="34" charset="-122"/>
                <a:cs typeface="Consolas" pitchFamily="34" charset="-120"/>
              </a:rPr>
              <a:t>TRUSTING_TRUST.EXE</a:t>
            </a:r>
            <a:endParaRPr lang="en-US" sz="900" dirty="0"/>
          </a:p>
        </p:txBody>
      </p:sp>
      <p:sp>
        <p:nvSpPr>
          <p:cNvPr id="4" name="Shape 2"/>
          <p:cNvSpPr/>
          <p:nvPr/>
        </p:nvSpPr>
        <p:spPr>
          <a:xfrm>
            <a:off x="0" y="6419088"/>
            <a:ext cx="12188952" cy="0"/>
          </a:xfrm>
          <a:prstGeom prst="line">
            <a:avLst/>
          </a:prstGeom>
          <a:noFill/>
          <a:ln w="12700">
            <a:solidFill>
              <a:srgbClr val="2A2A30"/>
            </a:solidFill>
            <a:prstDash val="solid"/>
          </a:ln>
        </p:spPr>
      </p:sp>
      <p:sp>
        <p:nvSpPr>
          <p:cNvPr id="5" name="Text 3"/>
          <p:cNvSpPr txBox="1"/>
          <p:nvPr/>
        </p:nvSpPr>
        <p:spPr>
          <a:xfrm>
            <a:off x="457200" y="6492240"/>
            <a:ext cx="3657600" cy="256032"/>
          </a:xfrm>
          <a:prstGeom prst="rect">
            <a:avLst/>
          </a:prstGeom>
          <a:noFill/>
          <a:ln/>
        </p:spPr>
        <p:txBody>
          <a:bodyPr wrap="square" lIns="0" tIns="0" rIns="0" bIns="0" rtlCol="0" anchor="ctr"/>
          <a:lstStyle/>
          <a:p>
            <a:pPr indent="0" marL="0">
              <a:buNone/>
            </a:pPr>
            <a:r>
              <a:rPr lang="en-US" sz="850" dirty="0">
                <a:solidFill>
                  <a:srgbClr val="5C6066"/>
                </a:solidFill>
                <a:latin typeface="Consolas" pitchFamily="34" charset="0"/>
                <a:ea typeface="Consolas" pitchFamily="34" charset="-122"/>
                <a:cs typeface="Consolas" pitchFamily="34" charset="-120"/>
              </a:rPr>
              <a:t>root@ttrevisited:~$</a:t>
            </a:r>
            <a:endParaRPr lang="en-US" sz="850" dirty="0"/>
          </a:p>
        </p:txBody>
      </p:sp>
      <p:sp>
        <p:nvSpPr>
          <p:cNvPr id="6" name="Text 4"/>
          <p:cNvSpPr txBox="1"/>
          <p:nvPr/>
        </p:nvSpPr>
        <p:spPr>
          <a:xfrm>
            <a:off x="10424160" y="6492240"/>
            <a:ext cx="1371600" cy="256032"/>
          </a:xfrm>
          <a:prstGeom prst="rect">
            <a:avLst/>
          </a:prstGeom>
          <a:noFill/>
          <a:ln/>
        </p:spPr>
        <p:txBody>
          <a:bodyPr wrap="square" lIns="0" tIns="0" rIns="0" bIns="0" rtlCol="0" anchor="ctr"/>
          <a:lstStyle/>
          <a:p>
            <a:pPr algn="r" indent="0" marL="0">
              <a:buNone/>
            </a:pPr>
            <a:r>
              <a:rPr lang="en-US" sz="900" b="1" dirty="0">
                <a:solidFill>
                  <a:srgbClr val="9AA0A6"/>
                </a:solidFill>
                <a:latin typeface="Consolas" pitchFamily="34" charset="0"/>
                <a:ea typeface="Consolas" pitchFamily="34" charset="-122"/>
                <a:cs typeface="Consolas" pitchFamily="34" charset="-120"/>
              </a:rPr>
              <a:t>[ 10 / 11 ]</a:t>
            </a:r>
            <a:endParaRPr lang="en-US" sz="900" dirty="0"/>
          </a:p>
        </p:txBody>
      </p:sp>
      <p:sp>
        <p:nvSpPr>
          <p:cNvPr id="7" name="Text 5"/>
          <p:cNvSpPr txBox="1"/>
          <p:nvPr/>
        </p:nvSpPr>
        <p:spPr>
          <a:xfrm>
            <a:off x="502920" y="1060704"/>
            <a:ext cx="10058400" cy="292608"/>
          </a:xfrm>
          <a:prstGeom prst="rect">
            <a:avLst/>
          </a:prstGeom>
          <a:noFill/>
          <a:ln/>
        </p:spPr>
        <p:txBody>
          <a:bodyPr wrap="square" lIns="0" tIns="0" rIns="0" bIns="0" rtlCol="0" anchor="ctr"/>
          <a:lstStyle/>
          <a:p>
            <a:pPr indent="0" marL="0">
              <a:buNone/>
            </a:pPr>
            <a:r>
              <a:rPr lang="en-US" sz="1250" b="1" spc="50" kern="0" dirty="0">
                <a:solidFill>
                  <a:srgbClr val="00D97E"/>
                </a:solidFill>
                <a:latin typeface="Consolas" pitchFamily="34" charset="0"/>
                <a:ea typeface="Consolas" pitchFamily="34" charset="-122"/>
                <a:cs typeface="Consolas" pitchFamily="34" charset="-120"/>
              </a:rPr>
              <a:t>&gt;_ </a:t>
            </a:r>
            <a:pPr indent="0" marL="0">
              <a:buNone/>
            </a:pPr>
            <a:r>
              <a:rPr lang="en-US" sz="1250" b="1" spc="50" kern="0" dirty="0">
                <a:solidFill>
                  <a:srgbClr val="9AA0A6"/>
                </a:solidFill>
                <a:latin typeface="Consolas" pitchFamily="34" charset="0"/>
                <a:ea typeface="Consolas" pitchFamily="34" charset="-122"/>
                <a:cs typeface="Consolas" pitchFamily="34" charset="-120"/>
              </a:rPr>
              <a:t>10 // ADVANTAGES &amp; DISADVANTAGES</a:t>
            </a:r>
            <a:endParaRPr lang="en-US" sz="1250" dirty="0"/>
          </a:p>
        </p:txBody>
      </p:sp>
      <p:sp>
        <p:nvSpPr>
          <p:cNvPr id="8" name="Text 6"/>
          <p:cNvSpPr txBox="1"/>
          <p:nvPr/>
        </p:nvSpPr>
        <p:spPr>
          <a:xfrm>
            <a:off x="502920" y="1408176"/>
            <a:ext cx="11155680" cy="868680"/>
          </a:xfrm>
          <a:prstGeom prst="rect">
            <a:avLst/>
          </a:prstGeom>
          <a:noFill/>
          <a:ln/>
        </p:spPr>
        <p:txBody>
          <a:bodyPr wrap="square" lIns="0" tIns="0" rIns="0" bIns="0" rtlCol="0" anchor="t"/>
          <a:lstStyle/>
          <a:p>
            <a:pPr indent="0" marL="0">
              <a:lnSpc>
                <a:spcPct val="102000"/>
              </a:lnSpc>
              <a:buNone/>
            </a:pPr>
            <a:r>
              <a:rPr lang="en-US" sz="2800" b="1" dirty="0">
                <a:solidFill>
                  <a:srgbClr val="F5F5F2"/>
                </a:solidFill>
                <a:latin typeface="Calibri" pitchFamily="34" charset="0"/>
                <a:ea typeface="Calibri" pitchFamily="34" charset="-122"/>
                <a:cs typeface="Calibri" pitchFamily="34" charset="-120"/>
              </a:rPr>
              <a:t>The honest balance sheet.</a:t>
            </a:r>
            <a:endParaRPr lang="en-US" sz="2800" dirty="0"/>
          </a:p>
          <a:p>
            <a:pPr indent="0" marL="0">
              <a:lnSpc>
                <a:spcPct val="102000"/>
              </a:lnSpc>
              <a:buNone/>
            </a:pPr>
            <a:r>
              <a:rPr lang="en-US" sz="2800" b="1" dirty="0">
                <a:solidFill>
                  <a:srgbClr val="F5F5F2"/>
                </a:solidFill>
                <a:latin typeface="Calibri" pitchFamily="34" charset="0"/>
                <a:ea typeface="Calibri" pitchFamily="34" charset="-122"/>
                <a:cs typeface="Calibri" pitchFamily="34" charset="-120"/>
              </a:rPr>
              <a:t>No sales pitch.</a:t>
            </a:r>
            <a:endParaRPr lang="en-US" sz="2800" dirty="0"/>
          </a:p>
        </p:txBody>
      </p:sp>
      <p:sp>
        <p:nvSpPr>
          <p:cNvPr id="9" name="Shape 7"/>
          <p:cNvSpPr/>
          <p:nvPr/>
        </p:nvSpPr>
        <p:spPr>
          <a:xfrm>
            <a:off x="502920" y="2423160"/>
            <a:ext cx="5349240" cy="3794760"/>
          </a:xfrm>
          <a:prstGeom prst="rect">
            <a:avLst/>
          </a:prstGeom>
          <a:solidFill>
            <a:srgbClr val="0D1F17"/>
          </a:solidFill>
          <a:ln w="19050">
            <a:solidFill>
              <a:srgbClr val="00D97E"/>
            </a:solidFill>
            <a:prstDash val="solid"/>
          </a:ln>
        </p:spPr>
      </p:sp>
      <p:sp>
        <p:nvSpPr>
          <p:cNvPr id="10" name="Shape 8"/>
          <p:cNvSpPr/>
          <p:nvPr/>
        </p:nvSpPr>
        <p:spPr>
          <a:xfrm>
            <a:off x="502920" y="2423160"/>
            <a:ext cx="54864" cy="3794760"/>
          </a:xfrm>
          <a:prstGeom prst="rect">
            <a:avLst/>
          </a:prstGeom>
          <a:solidFill>
            <a:srgbClr val="00D97E"/>
          </a:solidFill>
          <a:ln/>
        </p:spPr>
      </p:sp>
      <p:pic>
        <p:nvPicPr>
          <p:cNvPr id="11" name="Image 0" descr="icons/check_00D97E.png">    </p:cNvPr>
          <p:cNvPicPr>
            <a:picLocks noChangeAspect="1"/>
          </p:cNvPicPr>
          <p:nvPr/>
        </p:nvPicPr>
        <p:blipFill>
          <a:blip r:embed="rId1"/>
          <a:stretch>
            <a:fillRect/>
          </a:stretch>
        </p:blipFill>
        <p:spPr>
          <a:xfrm>
            <a:off x="749808" y="2660904"/>
            <a:ext cx="365760" cy="365760"/>
          </a:xfrm>
          <a:prstGeom prst="rect">
            <a:avLst/>
          </a:prstGeom>
        </p:spPr>
      </p:pic>
      <p:sp>
        <p:nvSpPr>
          <p:cNvPr id="12" name="Text 9"/>
          <p:cNvSpPr txBox="1"/>
          <p:nvPr/>
        </p:nvSpPr>
        <p:spPr>
          <a:xfrm>
            <a:off x="1234440" y="2660904"/>
            <a:ext cx="3657600" cy="384048"/>
          </a:xfrm>
          <a:prstGeom prst="rect">
            <a:avLst/>
          </a:prstGeom>
          <a:noFill/>
          <a:ln/>
        </p:spPr>
        <p:txBody>
          <a:bodyPr wrap="square" lIns="0" tIns="0" rIns="0" bIns="0" rtlCol="0" anchor="ctr"/>
          <a:lstStyle/>
          <a:p>
            <a:pPr indent="0" marL="0">
              <a:buNone/>
            </a:pPr>
            <a:r>
              <a:rPr lang="en-US" sz="1500" b="1" spc="100" kern="0" dirty="0">
                <a:solidFill>
                  <a:srgbClr val="00D97E"/>
                </a:solidFill>
                <a:latin typeface="Consolas" pitchFamily="34" charset="0"/>
                <a:ea typeface="Consolas" pitchFamily="34" charset="-122"/>
                <a:cs typeface="Consolas" pitchFamily="34" charset="-120"/>
              </a:rPr>
              <a:t>ADVANTAGES</a:t>
            </a:r>
            <a:endParaRPr lang="en-US" sz="1500" dirty="0"/>
          </a:p>
        </p:txBody>
      </p:sp>
      <p:sp>
        <p:nvSpPr>
          <p:cNvPr id="13" name="Shape 10"/>
          <p:cNvSpPr/>
          <p:nvPr/>
        </p:nvSpPr>
        <p:spPr>
          <a:xfrm>
            <a:off x="749808" y="3264408"/>
            <a:ext cx="73152" cy="73152"/>
          </a:xfrm>
          <a:prstGeom prst="rect">
            <a:avLst/>
          </a:prstGeom>
          <a:solidFill>
            <a:srgbClr val="00D97E"/>
          </a:solidFill>
          <a:ln/>
        </p:spPr>
      </p:sp>
      <p:sp>
        <p:nvSpPr>
          <p:cNvPr id="14" name="Text 11"/>
          <p:cNvSpPr txBox="1"/>
          <p:nvPr/>
        </p:nvSpPr>
        <p:spPr>
          <a:xfrm>
            <a:off x="950976" y="3145536"/>
            <a:ext cx="4663440" cy="566928"/>
          </a:xfrm>
          <a:prstGeom prst="rect">
            <a:avLst/>
          </a:prstGeom>
          <a:noFill/>
          <a:ln/>
        </p:spPr>
        <p:txBody>
          <a:bodyPr wrap="square" lIns="0" tIns="0" rIns="0" bIns="0" rtlCol="0" anchor="ctr"/>
          <a:lstStyle/>
          <a:p>
            <a:pPr indent="0" marL="0">
              <a:lnSpc>
                <a:spcPct val="122000"/>
              </a:lnSpc>
              <a:buNone/>
            </a:pPr>
            <a:r>
              <a:rPr lang="en-US" sz="1020" dirty="0">
                <a:solidFill>
                  <a:srgbClr val="F5F5F2"/>
                </a:solidFill>
                <a:latin typeface="Calibri" pitchFamily="34" charset="0"/>
                <a:ea typeface="Calibri" pitchFamily="34" charset="-122"/>
                <a:cs typeface="Calibri" pitchFamily="34" charset="-120"/>
              </a:rPr>
              <a:t>Every payload is safety-scoped - always inert, never a real credential bypass.</a:t>
            </a:r>
            <a:endParaRPr lang="en-US" sz="1020" dirty="0"/>
          </a:p>
        </p:txBody>
      </p:sp>
      <p:sp>
        <p:nvSpPr>
          <p:cNvPr id="15" name="Shape 12"/>
          <p:cNvSpPr/>
          <p:nvPr/>
        </p:nvSpPr>
        <p:spPr>
          <a:xfrm>
            <a:off x="749808" y="3867912"/>
            <a:ext cx="73152" cy="73152"/>
          </a:xfrm>
          <a:prstGeom prst="rect">
            <a:avLst/>
          </a:prstGeom>
          <a:solidFill>
            <a:srgbClr val="00D97E"/>
          </a:solidFill>
          <a:ln/>
        </p:spPr>
      </p:sp>
      <p:sp>
        <p:nvSpPr>
          <p:cNvPr id="16" name="Text 13"/>
          <p:cNvSpPr txBox="1"/>
          <p:nvPr/>
        </p:nvSpPr>
        <p:spPr>
          <a:xfrm>
            <a:off x="950976" y="3749040"/>
            <a:ext cx="4663440" cy="566928"/>
          </a:xfrm>
          <a:prstGeom prst="rect">
            <a:avLst/>
          </a:prstGeom>
          <a:noFill/>
          <a:ln/>
        </p:spPr>
        <p:txBody>
          <a:bodyPr wrap="square" lIns="0" tIns="0" rIns="0" bIns="0" rtlCol="0" anchor="ctr"/>
          <a:lstStyle/>
          <a:p>
            <a:pPr indent="0" marL="0">
              <a:lnSpc>
                <a:spcPct val="122000"/>
              </a:lnSpc>
              <a:buNone/>
            </a:pPr>
            <a:r>
              <a:rPr lang="en-US" sz="1020" dirty="0">
                <a:solidFill>
                  <a:srgbClr val="F5F5F2"/>
                </a:solidFill>
                <a:latin typeface="Calibri" pitchFamily="34" charset="0"/>
                <a:ea typeface="Calibri" pitchFamily="34" charset="-122"/>
                <a:cs typeface="Calibri" pitchFamily="34" charset="-120"/>
              </a:rPr>
              <a:t>Every claim is independently verified: hashes, generation counts, logs - not narrated.</a:t>
            </a:r>
            <a:endParaRPr lang="en-US" sz="1020" dirty="0"/>
          </a:p>
        </p:txBody>
      </p:sp>
      <p:sp>
        <p:nvSpPr>
          <p:cNvPr id="17" name="Shape 14"/>
          <p:cNvSpPr/>
          <p:nvPr/>
        </p:nvSpPr>
        <p:spPr>
          <a:xfrm>
            <a:off x="749808" y="4471416"/>
            <a:ext cx="73152" cy="73152"/>
          </a:xfrm>
          <a:prstGeom prst="rect">
            <a:avLst/>
          </a:prstGeom>
          <a:solidFill>
            <a:srgbClr val="00D97E"/>
          </a:solidFill>
          <a:ln/>
        </p:spPr>
      </p:sp>
      <p:sp>
        <p:nvSpPr>
          <p:cNvPr id="18" name="Text 15"/>
          <p:cNvSpPr txBox="1"/>
          <p:nvPr/>
        </p:nvSpPr>
        <p:spPr>
          <a:xfrm>
            <a:off x="950976" y="4352544"/>
            <a:ext cx="4663440" cy="566928"/>
          </a:xfrm>
          <a:prstGeom prst="rect">
            <a:avLst/>
          </a:prstGeom>
          <a:noFill/>
          <a:ln/>
        </p:spPr>
        <p:txBody>
          <a:bodyPr wrap="square" lIns="0" tIns="0" rIns="0" bIns="0" rtlCol="0" anchor="ctr"/>
          <a:lstStyle/>
          <a:p>
            <a:pPr indent="0" marL="0">
              <a:lnSpc>
                <a:spcPct val="122000"/>
              </a:lnSpc>
              <a:buNone/>
            </a:pPr>
            <a:r>
              <a:rPr lang="en-US" sz="1020" dirty="0">
                <a:solidFill>
                  <a:srgbClr val="F5F5F2"/>
                </a:solidFill>
                <a:latin typeface="Calibri" pitchFamily="34" charset="0"/>
                <a:ea typeface="Calibri" pitchFamily="34" charset="-122"/>
                <a:cs typeface="Calibri" pitchFamily="34" charset="-120"/>
              </a:rPr>
              <a:t>Two real bugs found mid-build are disclosed openly, strengthening credibility.</a:t>
            </a:r>
            <a:endParaRPr lang="en-US" sz="1020" dirty="0"/>
          </a:p>
        </p:txBody>
      </p:sp>
      <p:sp>
        <p:nvSpPr>
          <p:cNvPr id="19" name="Shape 16"/>
          <p:cNvSpPr/>
          <p:nvPr/>
        </p:nvSpPr>
        <p:spPr>
          <a:xfrm>
            <a:off x="749808" y="5074920"/>
            <a:ext cx="73152" cy="73152"/>
          </a:xfrm>
          <a:prstGeom prst="rect">
            <a:avLst/>
          </a:prstGeom>
          <a:solidFill>
            <a:srgbClr val="00D97E"/>
          </a:solidFill>
          <a:ln/>
        </p:spPr>
      </p:sp>
      <p:sp>
        <p:nvSpPr>
          <p:cNvPr id="20" name="Text 17"/>
          <p:cNvSpPr txBox="1"/>
          <p:nvPr/>
        </p:nvSpPr>
        <p:spPr>
          <a:xfrm>
            <a:off x="950976" y="4956048"/>
            <a:ext cx="4663440" cy="566928"/>
          </a:xfrm>
          <a:prstGeom prst="rect">
            <a:avLst/>
          </a:prstGeom>
          <a:noFill/>
          <a:ln/>
        </p:spPr>
        <p:txBody>
          <a:bodyPr wrap="square" lIns="0" tIns="0" rIns="0" bIns="0" rtlCol="0" anchor="ctr"/>
          <a:lstStyle/>
          <a:p>
            <a:pPr indent="0" marL="0">
              <a:lnSpc>
                <a:spcPct val="122000"/>
              </a:lnSpc>
              <a:buNone/>
            </a:pPr>
            <a:r>
              <a:rPr lang="en-US" sz="1020" dirty="0">
                <a:solidFill>
                  <a:srgbClr val="F5F5F2"/>
                </a:solidFill>
                <a:latin typeface="Calibri" pitchFamily="34" charset="0"/>
                <a:ea typeface="Calibri" pitchFamily="34" charset="-122"/>
                <a:cs typeface="Calibri" pitchFamily="34" charset="-120"/>
              </a:rPr>
              <a:t>The metamorphic method needs zero trusted reference compilers to work.</a:t>
            </a:r>
            <a:endParaRPr lang="en-US" sz="1020" dirty="0"/>
          </a:p>
        </p:txBody>
      </p:sp>
      <p:sp>
        <p:nvSpPr>
          <p:cNvPr id="21" name="Shape 18"/>
          <p:cNvSpPr/>
          <p:nvPr/>
        </p:nvSpPr>
        <p:spPr>
          <a:xfrm>
            <a:off x="749808" y="5678424"/>
            <a:ext cx="73152" cy="73152"/>
          </a:xfrm>
          <a:prstGeom prst="rect">
            <a:avLst/>
          </a:prstGeom>
          <a:solidFill>
            <a:srgbClr val="00D97E"/>
          </a:solidFill>
          <a:ln/>
        </p:spPr>
      </p:sp>
      <p:sp>
        <p:nvSpPr>
          <p:cNvPr id="22" name="Text 19"/>
          <p:cNvSpPr txBox="1"/>
          <p:nvPr/>
        </p:nvSpPr>
        <p:spPr>
          <a:xfrm>
            <a:off x="950976" y="5559552"/>
            <a:ext cx="4663440" cy="566928"/>
          </a:xfrm>
          <a:prstGeom prst="rect">
            <a:avLst/>
          </a:prstGeom>
          <a:noFill/>
          <a:ln/>
        </p:spPr>
        <p:txBody>
          <a:bodyPr wrap="square" lIns="0" tIns="0" rIns="0" bIns="0" rtlCol="0" anchor="ctr"/>
          <a:lstStyle/>
          <a:p>
            <a:pPr indent="0" marL="0">
              <a:lnSpc>
                <a:spcPct val="122000"/>
              </a:lnSpc>
              <a:buNone/>
            </a:pPr>
            <a:r>
              <a:rPr lang="en-US" sz="1020" dirty="0">
                <a:solidFill>
                  <a:srgbClr val="F5F5F2"/>
                </a:solidFill>
                <a:latin typeface="Calibri" pitchFamily="34" charset="0"/>
                <a:ea typeface="Calibri" pitchFamily="34" charset="-122"/>
                <a:cs typeface="Calibri" pitchFamily="34" charset="-120"/>
              </a:rPr>
              <a:t>A formal proof backs the strongest claim, checkable against the real source.</a:t>
            </a:r>
            <a:endParaRPr lang="en-US" sz="1020" dirty="0"/>
          </a:p>
        </p:txBody>
      </p:sp>
      <p:sp>
        <p:nvSpPr>
          <p:cNvPr id="23" name="Shape 20"/>
          <p:cNvSpPr/>
          <p:nvPr/>
        </p:nvSpPr>
        <p:spPr>
          <a:xfrm>
            <a:off x="6126480" y="2423160"/>
            <a:ext cx="5349240" cy="3794760"/>
          </a:xfrm>
          <a:prstGeom prst="rect">
            <a:avLst/>
          </a:prstGeom>
          <a:solidFill>
            <a:srgbClr val="1A1013"/>
          </a:solidFill>
          <a:ln w="19050">
            <a:solidFill>
              <a:srgbClr val="FF3B30"/>
            </a:solidFill>
            <a:prstDash val="solid"/>
          </a:ln>
        </p:spPr>
      </p:sp>
      <p:sp>
        <p:nvSpPr>
          <p:cNvPr id="24" name="Shape 21"/>
          <p:cNvSpPr/>
          <p:nvPr/>
        </p:nvSpPr>
        <p:spPr>
          <a:xfrm>
            <a:off x="6126480" y="2423160"/>
            <a:ext cx="54864" cy="3794760"/>
          </a:xfrm>
          <a:prstGeom prst="rect">
            <a:avLst/>
          </a:prstGeom>
          <a:solidFill>
            <a:srgbClr val="FF3B30"/>
          </a:solidFill>
          <a:ln/>
        </p:spPr>
      </p:sp>
      <p:pic>
        <p:nvPicPr>
          <p:cNvPr id="25" name="Image 1" descr="icons/cross_FF3B30.png">    </p:cNvPr>
          <p:cNvPicPr>
            <a:picLocks noChangeAspect="1"/>
          </p:cNvPicPr>
          <p:nvPr/>
        </p:nvPicPr>
        <p:blipFill>
          <a:blip r:embed="rId2"/>
          <a:stretch>
            <a:fillRect/>
          </a:stretch>
        </p:blipFill>
        <p:spPr>
          <a:xfrm>
            <a:off x="6373368" y="2660904"/>
            <a:ext cx="365760" cy="365760"/>
          </a:xfrm>
          <a:prstGeom prst="rect">
            <a:avLst/>
          </a:prstGeom>
        </p:spPr>
      </p:pic>
      <p:sp>
        <p:nvSpPr>
          <p:cNvPr id="26" name="Text 22"/>
          <p:cNvSpPr txBox="1"/>
          <p:nvPr/>
        </p:nvSpPr>
        <p:spPr>
          <a:xfrm>
            <a:off x="6858000" y="2660904"/>
            <a:ext cx="3657600" cy="384048"/>
          </a:xfrm>
          <a:prstGeom prst="rect">
            <a:avLst/>
          </a:prstGeom>
          <a:noFill/>
          <a:ln/>
        </p:spPr>
        <p:txBody>
          <a:bodyPr wrap="square" lIns="0" tIns="0" rIns="0" bIns="0" rtlCol="0" anchor="ctr"/>
          <a:lstStyle/>
          <a:p>
            <a:pPr indent="0" marL="0">
              <a:buNone/>
            </a:pPr>
            <a:r>
              <a:rPr lang="en-US" sz="1500" b="1" spc="100" kern="0" dirty="0">
                <a:solidFill>
                  <a:srgbClr val="FF3B30"/>
                </a:solidFill>
                <a:latin typeface="Consolas" pitchFamily="34" charset="0"/>
                <a:ea typeface="Consolas" pitchFamily="34" charset="-122"/>
                <a:cs typeface="Consolas" pitchFamily="34" charset="-120"/>
              </a:rPr>
              <a:t>DISADVANTAGES</a:t>
            </a:r>
            <a:endParaRPr lang="en-US" sz="1500" dirty="0"/>
          </a:p>
        </p:txBody>
      </p:sp>
      <p:sp>
        <p:nvSpPr>
          <p:cNvPr id="27" name="Shape 23"/>
          <p:cNvSpPr/>
          <p:nvPr/>
        </p:nvSpPr>
        <p:spPr>
          <a:xfrm>
            <a:off x="6373368" y="3264408"/>
            <a:ext cx="73152" cy="73152"/>
          </a:xfrm>
          <a:prstGeom prst="rect">
            <a:avLst/>
          </a:prstGeom>
          <a:solidFill>
            <a:srgbClr val="FF3B30"/>
          </a:solidFill>
          <a:ln/>
        </p:spPr>
      </p:sp>
      <p:sp>
        <p:nvSpPr>
          <p:cNvPr id="28" name="Text 24"/>
          <p:cNvSpPr txBox="1"/>
          <p:nvPr/>
        </p:nvSpPr>
        <p:spPr>
          <a:xfrm>
            <a:off x="6574536" y="3145536"/>
            <a:ext cx="4663440" cy="566928"/>
          </a:xfrm>
          <a:prstGeom prst="rect">
            <a:avLst/>
          </a:prstGeom>
          <a:noFill/>
          <a:ln/>
        </p:spPr>
        <p:txBody>
          <a:bodyPr wrap="square" lIns="0" tIns="0" rIns="0" bIns="0" rtlCol="0" anchor="ctr"/>
          <a:lstStyle/>
          <a:p>
            <a:pPr indent="0" marL="0">
              <a:lnSpc>
                <a:spcPct val="122000"/>
              </a:lnSpc>
              <a:buNone/>
            </a:pPr>
            <a:r>
              <a:rPr lang="en-US" sz="1020" dirty="0">
                <a:solidFill>
                  <a:srgbClr val="F5F5F2"/>
                </a:solidFill>
                <a:latin typeface="Calibri" pitchFamily="34" charset="0"/>
                <a:ea typeface="Calibri" pitchFamily="34" charset="-122"/>
                <a:cs typeface="Calibri" pitchFamily="34" charset="-120"/>
              </a:rPr>
              <a:t>Base attack and defense are not novel - Thompson (1984), Wheeler (2005).</a:t>
            </a:r>
            <a:endParaRPr lang="en-US" sz="1020" dirty="0"/>
          </a:p>
        </p:txBody>
      </p:sp>
      <p:sp>
        <p:nvSpPr>
          <p:cNvPr id="29" name="Shape 25"/>
          <p:cNvSpPr/>
          <p:nvPr/>
        </p:nvSpPr>
        <p:spPr>
          <a:xfrm>
            <a:off x="6373368" y="3867912"/>
            <a:ext cx="73152" cy="73152"/>
          </a:xfrm>
          <a:prstGeom prst="rect">
            <a:avLst/>
          </a:prstGeom>
          <a:solidFill>
            <a:srgbClr val="FF3B30"/>
          </a:solidFill>
          <a:ln/>
        </p:spPr>
      </p:sp>
      <p:sp>
        <p:nvSpPr>
          <p:cNvPr id="30" name="Text 26"/>
          <p:cNvSpPr txBox="1"/>
          <p:nvPr/>
        </p:nvSpPr>
        <p:spPr>
          <a:xfrm>
            <a:off x="6574536" y="3749040"/>
            <a:ext cx="4663440" cy="566928"/>
          </a:xfrm>
          <a:prstGeom prst="rect">
            <a:avLst/>
          </a:prstGeom>
          <a:noFill/>
          <a:ln/>
        </p:spPr>
        <p:txBody>
          <a:bodyPr wrap="square" lIns="0" tIns="0" rIns="0" bIns="0" rtlCol="0" anchor="ctr"/>
          <a:lstStyle/>
          <a:p>
            <a:pPr indent="0" marL="0">
              <a:lnSpc>
                <a:spcPct val="122000"/>
              </a:lnSpc>
              <a:buNone/>
            </a:pPr>
            <a:r>
              <a:rPr lang="en-US" sz="1020" dirty="0">
                <a:solidFill>
                  <a:srgbClr val="F5F5F2"/>
                </a:solidFill>
                <a:latin typeface="Calibri" pitchFamily="34" charset="0"/>
                <a:ea typeface="Calibri" pitchFamily="34" charset="-122"/>
                <a:cs typeface="Calibri" pitchFamily="34" charset="-120"/>
              </a:rPr>
              <a:t>The metamorphic method is sound, but provably blind to Class B logic.</a:t>
            </a:r>
            <a:endParaRPr lang="en-US" sz="1020" dirty="0"/>
          </a:p>
        </p:txBody>
      </p:sp>
      <p:sp>
        <p:nvSpPr>
          <p:cNvPr id="31" name="Shape 27"/>
          <p:cNvSpPr/>
          <p:nvPr/>
        </p:nvSpPr>
        <p:spPr>
          <a:xfrm>
            <a:off x="6373368" y="4471416"/>
            <a:ext cx="73152" cy="73152"/>
          </a:xfrm>
          <a:prstGeom prst="rect">
            <a:avLst/>
          </a:prstGeom>
          <a:solidFill>
            <a:srgbClr val="FF3B30"/>
          </a:solidFill>
          <a:ln/>
        </p:spPr>
      </p:sp>
      <p:sp>
        <p:nvSpPr>
          <p:cNvPr id="32" name="Text 28"/>
          <p:cNvSpPr txBox="1"/>
          <p:nvPr/>
        </p:nvSpPr>
        <p:spPr>
          <a:xfrm>
            <a:off x="6574536" y="4352544"/>
            <a:ext cx="4663440" cy="566928"/>
          </a:xfrm>
          <a:prstGeom prst="rect">
            <a:avLst/>
          </a:prstGeom>
          <a:noFill/>
          <a:ln/>
        </p:spPr>
        <p:txBody>
          <a:bodyPr wrap="square" lIns="0" tIns="0" rIns="0" bIns="0" rtlCol="0" anchor="ctr"/>
          <a:lstStyle/>
          <a:p>
            <a:pPr indent="0" marL="0">
              <a:lnSpc>
                <a:spcPct val="122000"/>
              </a:lnSpc>
              <a:buNone/>
            </a:pPr>
            <a:r>
              <a:rPr lang="en-US" sz="1020" dirty="0">
                <a:solidFill>
                  <a:srgbClr val="F5F5F2"/>
                </a:solidFill>
                <a:latin typeface="Calibri" pitchFamily="34" charset="0"/>
                <a:ea typeface="Calibri" pitchFamily="34" charset="-122"/>
                <a:cs typeface="Calibri" pitchFamily="34" charset="-120"/>
              </a:rPr>
              <a:t>TinyLang is a toy language; compositional codegen may not generalise.</a:t>
            </a:r>
            <a:endParaRPr lang="en-US" sz="1020" dirty="0"/>
          </a:p>
        </p:txBody>
      </p:sp>
      <p:sp>
        <p:nvSpPr>
          <p:cNvPr id="33" name="Shape 29"/>
          <p:cNvSpPr/>
          <p:nvPr/>
        </p:nvSpPr>
        <p:spPr>
          <a:xfrm>
            <a:off x="6373368" y="5074920"/>
            <a:ext cx="73152" cy="73152"/>
          </a:xfrm>
          <a:prstGeom prst="rect">
            <a:avLst/>
          </a:prstGeom>
          <a:solidFill>
            <a:srgbClr val="FF3B30"/>
          </a:solidFill>
          <a:ln/>
        </p:spPr>
      </p:sp>
      <p:sp>
        <p:nvSpPr>
          <p:cNvPr id="34" name="Text 30"/>
          <p:cNvSpPr txBox="1"/>
          <p:nvPr/>
        </p:nvSpPr>
        <p:spPr>
          <a:xfrm>
            <a:off x="6574536" y="4956048"/>
            <a:ext cx="4663440" cy="566928"/>
          </a:xfrm>
          <a:prstGeom prst="rect">
            <a:avLst/>
          </a:prstGeom>
          <a:noFill/>
          <a:ln/>
        </p:spPr>
        <p:txBody>
          <a:bodyPr wrap="square" lIns="0" tIns="0" rIns="0" bIns="0" rtlCol="0" anchor="ctr"/>
          <a:lstStyle/>
          <a:p>
            <a:pPr indent="0" marL="0">
              <a:lnSpc>
                <a:spcPct val="122000"/>
              </a:lnSpc>
              <a:buNone/>
            </a:pPr>
            <a:r>
              <a:rPr lang="en-US" sz="1020" dirty="0">
                <a:solidFill>
                  <a:srgbClr val="F5F5F2"/>
                </a:solidFill>
                <a:latin typeface="Calibri" pitchFamily="34" charset="0"/>
                <a:ea typeface="Calibri" pitchFamily="34" charset="-122"/>
                <a:cs typeface="Calibri" pitchFamily="34" charset="-120"/>
              </a:rPr>
              <a:t>The arms race models only two rounds, not an open-ended adversary.</a:t>
            </a:r>
            <a:endParaRPr lang="en-US" sz="1020" dirty="0"/>
          </a:p>
        </p:txBody>
      </p:sp>
      <p:sp>
        <p:nvSpPr>
          <p:cNvPr id="35" name="Shape 31"/>
          <p:cNvSpPr/>
          <p:nvPr/>
        </p:nvSpPr>
        <p:spPr>
          <a:xfrm>
            <a:off x="6373368" y="5678424"/>
            <a:ext cx="73152" cy="73152"/>
          </a:xfrm>
          <a:prstGeom prst="rect">
            <a:avLst/>
          </a:prstGeom>
          <a:solidFill>
            <a:srgbClr val="FF3B30"/>
          </a:solidFill>
          <a:ln/>
        </p:spPr>
      </p:sp>
      <p:sp>
        <p:nvSpPr>
          <p:cNvPr id="36" name="Text 32"/>
          <p:cNvSpPr txBox="1"/>
          <p:nvPr/>
        </p:nvSpPr>
        <p:spPr>
          <a:xfrm>
            <a:off x="6574536" y="5559552"/>
            <a:ext cx="4663440" cy="566928"/>
          </a:xfrm>
          <a:prstGeom prst="rect">
            <a:avLst/>
          </a:prstGeom>
          <a:noFill/>
          <a:ln/>
        </p:spPr>
        <p:txBody>
          <a:bodyPr wrap="square" lIns="0" tIns="0" rIns="0" bIns="0" rtlCol="0" anchor="ctr"/>
          <a:lstStyle/>
          <a:p>
            <a:pPr indent="0" marL="0">
              <a:lnSpc>
                <a:spcPct val="122000"/>
              </a:lnSpc>
              <a:buNone/>
            </a:pPr>
            <a:r>
              <a:rPr lang="en-US" sz="1020" dirty="0">
                <a:solidFill>
                  <a:srgbClr val="F5F5F2"/>
                </a:solidFill>
                <a:latin typeface="Calibri" pitchFamily="34" charset="0"/>
                <a:ea typeface="Calibri" pitchFamily="34" charset="-122"/>
                <a:cs typeface="Calibri" pitchFamily="34" charset="-120"/>
              </a:rPr>
              <a:t>Detector timing at small N is dominated by process overhead, not scaling.</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0" y="6419088"/>
            <a:ext cx="12188952" cy="0"/>
          </a:xfrm>
          <a:prstGeom prst="line">
            <a:avLst/>
          </a:prstGeom>
          <a:noFill/>
          <a:ln w="12700">
            <a:solidFill>
              <a:srgbClr val="2A2A30"/>
            </a:solidFill>
            <a:prstDash val="solid"/>
          </a:ln>
        </p:spPr>
      </p:sp>
      <p:sp>
        <p:nvSpPr>
          <p:cNvPr id="3" name="Text 1"/>
          <p:cNvSpPr txBox="1"/>
          <p:nvPr/>
        </p:nvSpPr>
        <p:spPr>
          <a:xfrm>
            <a:off x="457200" y="6492240"/>
            <a:ext cx="3657600" cy="256032"/>
          </a:xfrm>
          <a:prstGeom prst="rect">
            <a:avLst/>
          </a:prstGeom>
          <a:noFill/>
          <a:ln/>
        </p:spPr>
        <p:txBody>
          <a:bodyPr wrap="square" lIns="0" tIns="0" rIns="0" bIns="0" rtlCol="0" anchor="ctr"/>
          <a:lstStyle/>
          <a:p>
            <a:pPr indent="0" marL="0">
              <a:buNone/>
            </a:pPr>
            <a:r>
              <a:rPr lang="en-US" sz="850" dirty="0">
                <a:solidFill>
                  <a:srgbClr val="5C6066"/>
                </a:solidFill>
                <a:latin typeface="Consolas" pitchFamily="34" charset="0"/>
                <a:ea typeface="Consolas" pitchFamily="34" charset="-122"/>
                <a:cs typeface="Consolas" pitchFamily="34" charset="-120"/>
              </a:rPr>
              <a:t>root@ttrevisited:~$</a:t>
            </a:r>
            <a:endParaRPr lang="en-US" sz="850" dirty="0"/>
          </a:p>
        </p:txBody>
      </p:sp>
      <p:sp>
        <p:nvSpPr>
          <p:cNvPr id="4" name="Text 2"/>
          <p:cNvSpPr txBox="1"/>
          <p:nvPr/>
        </p:nvSpPr>
        <p:spPr>
          <a:xfrm>
            <a:off x="10424160" y="6492240"/>
            <a:ext cx="1371600" cy="256032"/>
          </a:xfrm>
          <a:prstGeom prst="rect">
            <a:avLst/>
          </a:prstGeom>
          <a:noFill/>
          <a:ln/>
        </p:spPr>
        <p:txBody>
          <a:bodyPr wrap="square" lIns="0" tIns="0" rIns="0" bIns="0" rtlCol="0" anchor="ctr"/>
          <a:lstStyle/>
          <a:p>
            <a:pPr algn="r" indent="0" marL="0">
              <a:buNone/>
            </a:pPr>
            <a:r>
              <a:rPr lang="en-US" sz="900" b="1" dirty="0">
                <a:solidFill>
                  <a:srgbClr val="9AA0A6"/>
                </a:solidFill>
                <a:latin typeface="Consolas" pitchFamily="34" charset="0"/>
                <a:ea typeface="Consolas" pitchFamily="34" charset="-122"/>
                <a:cs typeface="Consolas" pitchFamily="34" charset="-120"/>
              </a:rPr>
              <a:t>[ 11 / 11 ]</a:t>
            </a:r>
            <a:endParaRPr lang="en-US" sz="900" dirty="0"/>
          </a:p>
        </p:txBody>
      </p:sp>
      <p:pic>
        <p:nvPicPr>
          <p:cNvPr id="5" name="Image 0" descr="icons/shield_F5F5F2.png">    </p:cNvPr>
          <p:cNvPicPr>
            <a:picLocks noChangeAspect="1"/>
          </p:cNvPicPr>
          <p:nvPr/>
        </p:nvPicPr>
        <p:blipFill>
          <a:blip r:embed="rId1"/>
          <a:stretch>
            <a:fillRect/>
          </a:stretch>
        </p:blipFill>
        <p:spPr>
          <a:xfrm>
            <a:off x="502920" y="1234440"/>
            <a:ext cx="594360" cy="594360"/>
          </a:xfrm>
          <a:prstGeom prst="rect">
            <a:avLst/>
          </a:prstGeom>
        </p:spPr>
      </p:pic>
      <p:sp>
        <p:nvSpPr>
          <p:cNvPr id="6" name="Text 3"/>
          <p:cNvSpPr txBox="1"/>
          <p:nvPr/>
        </p:nvSpPr>
        <p:spPr>
          <a:xfrm>
            <a:off x="502920" y="1965960"/>
            <a:ext cx="7315200" cy="548640"/>
          </a:xfrm>
          <a:prstGeom prst="rect">
            <a:avLst/>
          </a:prstGeom>
          <a:noFill/>
          <a:ln/>
        </p:spPr>
        <p:txBody>
          <a:bodyPr wrap="square" lIns="0" tIns="0" rIns="0" bIns="0" rtlCol="0" anchor="ctr"/>
          <a:lstStyle/>
          <a:p>
            <a:pPr indent="0" marL="0">
              <a:buNone/>
            </a:pPr>
            <a:r>
              <a:rPr lang="en-US" sz="3400" b="1" dirty="0">
                <a:solidFill>
                  <a:srgbClr val="F5F5F2"/>
                </a:solidFill>
                <a:latin typeface="Calibri" pitchFamily="34" charset="0"/>
                <a:ea typeface="Calibri" pitchFamily="34" charset="-122"/>
                <a:cs typeface="Calibri" pitchFamily="34" charset="-120"/>
              </a:rPr>
              <a:t>IN CLOSING</a:t>
            </a:r>
            <a:endParaRPr lang="en-US" sz="3400" dirty="0"/>
          </a:p>
        </p:txBody>
      </p:sp>
      <p:sp>
        <p:nvSpPr>
          <p:cNvPr id="7" name="Text 4"/>
          <p:cNvSpPr txBox="1"/>
          <p:nvPr/>
        </p:nvSpPr>
        <p:spPr>
          <a:xfrm>
            <a:off x="502920" y="2697480"/>
            <a:ext cx="7589520" cy="1234440"/>
          </a:xfrm>
          <a:prstGeom prst="rect">
            <a:avLst/>
          </a:prstGeom>
          <a:noFill/>
          <a:ln/>
        </p:spPr>
        <p:txBody>
          <a:bodyPr wrap="square" lIns="0" tIns="0" rIns="0" bIns="0" rtlCol="0" anchor="ctr"/>
          <a:lstStyle/>
          <a:p>
            <a:pPr indent="0" marL="0">
              <a:lnSpc>
                <a:spcPct val="135000"/>
              </a:lnSpc>
              <a:buNone/>
            </a:pPr>
            <a:r>
              <a:rPr lang="en-US" sz="1450" dirty="0">
                <a:solidFill>
                  <a:srgbClr val="9AA0A6"/>
                </a:solidFill>
                <a:latin typeface="Calibri" pitchFamily="34" charset="0"/>
                <a:ea typeface="Calibri" pitchFamily="34" charset="-122"/>
                <a:cs typeface="Calibri" pitchFamily="34" charset="-120"/>
              </a:rPr>
              <a:t>A compiler can lie in a way source review will never catch. This project builds that lie for real, builds the accepted defense for real, breaks it on purpose, repairs it, and adds an original, formally-proven detection method on top. Every figure shown today was measured. None were asserted.</a:t>
            </a:r>
            <a:endParaRPr lang="en-US" sz="1450" dirty="0"/>
          </a:p>
        </p:txBody>
      </p:sp>
      <p:sp>
        <p:nvSpPr>
          <p:cNvPr id="8" name="Shape 5"/>
          <p:cNvSpPr/>
          <p:nvPr/>
        </p:nvSpPr>
        <p:spPr>
          <a:xfrm>
            <a:off x="502920" y="4160520"/>
            <a:ext cx="7589520" cy="1371600"/>
          </a:xfrm>
          <a:prstGeom prst="rect">
            <a:avLst/>
          </a:prstGeom>
          <a:solidFill>
            <a:srgbClr val="000000"/>
          </a:solidFill>
          <a:ln w="12700">
            <a:solidFill>
              <a:srgbClr val="2A2A30"/>
            </a:solidFill>
            <a:prstDash val="solid"/>
          </a:ln>
        </p:spPr>
      </p:sp>
      <p:sp>
        <p:nvSpPr>
          <p:cNvPr id="9" name="Shape 6"/>
          <p:cNvSpPr/>
          <p:nvPr/>
        </p:nvSpPr>
        <p:spPr>
          <a:xfrm>
            <a:off x="502920" y="4160520"/>
            <a:ext cx="7589520" cy="292608"/>
          </a:xfrm>
          <a:prstGeom prst="rect">
            <a:avLst/>
          </a:prstGeom>
          <a:solidFill>
            <a:srgbClr val="17171B"/>
          </a:solidFill>
          <a:ln/>
        </p:spPr>
      </p:sp>
      <p:sp>
        <p:nvSpPr>
          <p:cNvPr id="10" name="Shape 7"/>
          <p:cNvSpPr/>
          <p:nvPr/>
        </p:nvSpPr>
        <p:spPr>
          <a:xfrm>
            <a:off x="630936" y="4261104"/>
            <a:ext cx="91440" cy="91440"/>
          </a:xfrm>
          <a:prstGeom prst="ellipse">
            <a:avLst/>
          </a:prstGeom>
          <a:solidFill>
            <a:srgbClr val="FF3B30"/>
          </a:solidFill>
          <a:ln/>
        </p:spPr>
      </p:sp>
      <p:sp>
        <p:nvSpPr>
          <p:cNvPr id="11" name="Shape 8"/>
          <p:cNvSpPr/>
          <p:nvPr/>
        </p:nvSpPr>
        <p:spPr>
          <a:xfrm>
            <a:off x="813816" y="4261104"/>
            <a:ext cx="91440" cy="91440"/>
          </a:xfrm>
          <a:prstGeom prst="ellipse">
            <a:avLst/>
          </a:prstGeom>
          <a:solidFill>
            <a:srgbClr val="FFB020"/>
          </a:solidFill>
          <a:ln/>
        </p:spPr>
      </p:sp>
      <p:sp>
        <p:nvSpPr>
          <p:cNvPr id="12" name="Shape 9"/>
          <p:cNvSpPr/>
          <p:nvPr/>
        </p:nvSpPr>
        <p:spPr>
          <a:xfrm>
            <a:off x="996696" y="4261104"/>
            <a:ext cx="91440" cy="91440"/>
          </a:xfrm>
          <a:prstGeom prst="ellipse">
            <a:avLst/>
          </a:prstGeom>
          <a:solidFill>
            <a:srgbClr val="00D97E"/>
          </a:solidFill>
          <a:ln/>
        </p:spPr>
      </p:sp>
      <p:sp>
        <p:nvSpPr>
          <p:cNvPr id="13" name="Text 10"/>
          <p:cNvSpPr txBox="1"/>
          <p:nvPr/>
        </p:nvSpPr>
        <p:spPr>
          <a:xfrm>
            <a:off x="1325880" y="4187952"/>
            <a:ext cx="6583680" cy="237744"/>
          </a:xfrm>
          <a:prstGeom prst="rect">
            <a:avLst/>
          </a:prstGeom>
          <a:noFill/>
          <a:ln/>
        </p:spPr>
        <p:txBody>
          <a:bodyPr wrap="square" lIns="0" tIns="0" rIns="0" bIns="0" rtlCol="0" anchor="ctr"/>
          <a:lstStyle/>
          <a:p>
            <a:pPr indent="0" marL="0">
              <a:buNone/>
            </a:pPr>
            <a:r>
              <a:rPr lang="en-US" sz="850" dirty="0">
                <a:solidFill>
                  <a:srgbClr val="5C6066"/>
                </a:solidFill>
                <a:latin typeface="Consolas" pitchFamily="34" charset="0"/>
                <a:ea typeface="Consolas" pitchFamily="34" charset="-122"/>
                <a:cs typeface="Consolas" pitchFamily="34" charset="-120"/>
              </a:rPr>
              <a:t>bash</a:t>
            </a:r>
            <a:endParaRPr lang="en-US" sz="850" dirty="0"/>
          </a:p>
        </p:txBody>
      </p:sp>
      <p:sp>
        <p:nvSpPr>
          <p:cNvPr id="14" name="Text 11"/>
          <p:cNvSpPr txBox="1"/>
          <p:nvPr/>
        </p:nvSpPr>
        <p:spPr>
          <a:xfrm>
            <a:off x="722376" y="4562856"/>
            <a:ext cx="7150608" cy="822960"/>
          </a:xfrm>
          <a:prstGeom prst="rect">
            <a:avLst/>
          </a:prstGeom>
          <a:noFill/>
          <a:ln/>
        </p:spPr>
        <p:txBody>
          <a:bodyPr wrap="square" lIns="0" tIns="0" rIns="0" bIns="0" rtlCol="0" anchor="t"/>
          <a:lstStyle/>
          <a:p>
            <a:pPr indent="0" marL="0">
              <a:lnSpc>
                <a:spcPct val="128000"/>
              </a:lnSpc>
              <a:buNone/>
            </a:pPr>
            <a:r>
              <a:rPr lang="en-US" sz="1030" dirty="0">
                <a:solidFill>
                  <a:srgbClr val="00D97E"/>
                </a:solidFill>
                <a:latin typeface="Consolas" pitchFamily="34" charset="0"/>
                <a:ea typeface="Consolas" pitchFamily="34" charset="-122"/>
                <a:cs typeface="Consolas" pitchFamily="34" charset="-120"/>
              </a:rPr>
              <a:t>$ echo "Thank you."</a:t>
            </a:r>
            <a:endParaRPr lang="en-US" sz="1030" dirty="0"/>
          </a:p>
          <a:p>
            <a:pPr indent="0" marL="0">
              <a:lnSpc>
                <a:spcPct val="128000"/>
              </a:lnSpc>
              <a:buNone/>
            </a:pPr>
            <a:r>
              <a:rPr lang="en-US" sz="1030" dirty="0">
                <a:solidFill>
                  <a:srgbClr val="F5F5F2"/>
                </a:solidFill>
                <a:latin typeface="Consolas" pitchFamily="34" charset="0"/>
                <a:ea typeface="Consolas" pitchFamily="34" charset="-122"/>
                <a:cs typeface="Consolas" pitchFamily="34" charset="-120"/>
              </a:rPr>
              <a:t>Thank you.</a:t>
            </a:r>
            <a:endParaRPr lang="en-US" sz="1030" dirty="0"/>
          </a:p>
          <a:p>
            <a:pPr indent="0" marL="0">
              <a:lnSpc>
                <a:spcPct val="128000"/>
              </a:lnSpc>
              <a:buNone/>
            </a:pPr>
            <a:r>
              <a:rPr lang="en-US" sz="1030" dirty="0">
                <a:solidFill>
                  <a:srgbClr val="00D97E"/>
                </a:solidFill>
                <a:latin typeface="Consolas" pitchFamily="34" charset="0"/>
                <a:ea typeface="Consolas" pitchFamily="34" charset="-122"/>
                <a:cs typeface="Consolas" pitchFamily="34" charset="-120"/>
              </a:rPr>
              <a:t>$ _</a:t>
            </a:r>
            <a:endParaRPr lang="en-US" sz="1030" dirty="0"/>
          </a:p>
        </p:txBody>
      </p:sp>
      <p:sp>
        <p:nvSpPr>
          <p:cNvPr id="15" name="Shape 12"/>
          <p:cNvSpPr/>
          <p:nvPr/>
        </p:nvSpPr>
        <p:spPr>
          <a:xfrm rot="-480000">
            <a:off x="8778240" y="4297680"/>
            <a:ext cx="2468880" cy="566928"/>
          </a:xfrm>
          <a:prstGeom prst="rect">
            <a:avLst/>
          </a:prstGeom>
          <a:ln w="28575">
            <a:solidFill>
              <a:srgbClr val="FF3B30"/>
            </a:solidFill>
            <a:prstDash val="solid"/>
          </a:ln>
        </p:spPr>
      </p:sp>
      <p:sp>
        <p:nvSpPr>
          <p:cNvPr id="16" name="Text 13"/>
          <p:cNvSpPr txBox="1"/>
          <p:nvPr/>
        </p:nvSpPr>
        <p:spPr>
          <a:xfrm rot="-480000">
            <a:off x="8641080" y="4343400"/>
            <a:ext cx="2743200" cy="457200"/>
          </a:xfrm>
          <a:prstGeom prst="rect">
            <a:avLst/>
          </a:prstGeom>
          <a:noFill/>
          <a:ln/>
        </p:spPr>
        <p:txBody>
          <a:bodyPr wrap="square" lIns="0" tIns="0" rIns="0" bIns="0" rtlCol="0" anchor="ctr"/>
          <a:lstStyle/>
          <a:p>
            <a:pPr algn="ctr" indent="0" marL="0">
              <a:buNone/>
            </a:pPr>
            <a:r>
              <a:rPr lang="en-US" sz="1300" b="1" spc="100" kern="0" dirty="0">
                <a:solidFill>
                  <a:srgbClr val="FF3B30"/>
                </a:solidFill>
                <a:latin typeface="Consolas" pitchFamily="34" charset="0"/>
                <a:ea typeface="Consolas" pitchFamily="34" charset="-122"/>
                <a:cs typeface="Consolas" pitchFamily="34" charset="-120"/>
              </a:rPr>
              <a:t>QUESTIONS</a:t>
            </a:r>
            <a:endParaRPr lang="en-US" sz="1300" dirty="0"/>
          </a:p>
          <a:p>
            <a:pPr algn="ctr" indent="0" marL="0">
              <a:buNone/>
            </a:pPr>
            <a:r>
              <a:rPr lang="en-US" sz="1300" b="1" spc="100" kern="0" dirty="0">
                <a:solidFill>
                  <a:srgbClr val="FF3B30"/>
                </a:solidFill>
                <a:latin typeface="Consolas" pitchFamily="34" charset="0"/>
                <a:ea typeface="Consolas" pitchFamily="34" charset="-122"/>
                <a:cs typeface="Consolas" pitchFamily="34" charset="-120"/>
              </a:rPr>
              <a:t>WELCOME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2026-09-22T08:26:09Z</dcterms:created>
  <dcterms:modified xsi:type="dcterms:W3CDTF">2026-09-22T08:26:09Z</dcterms:modified>
</cp:coreProperties>
</file>